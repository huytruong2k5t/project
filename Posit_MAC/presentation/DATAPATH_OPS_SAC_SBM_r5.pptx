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00a051a3c74893" /><Relationship Type="http://schemas.openxmlformats.org/officeDocument/2006/relationships/extended-properties" Target="/docProps/app.xml" Id="R9089a3ff28b1425e" /><Relationship Type="http://schemas.openxmlformats.org/officeDocument/2006/relationships/officeDocument" Target="/ppt/presentation.xml" Id="R5b33b6c8d8e44129" /></Relationships>
</file>

<file path=ppt/presentation.xml><?xml version="1.0" encoding="utf-8"?>
<p:presentation xmlns:p="http://schemas.openxmlformats.org/presentationml/2006/main">
  <p:sldMasterIdLst>
    <p:sldMasterId xmlns:r="http://schemas.openxmlformats.org/officeDocument/2006/relationships" id="2147483648" r:id="Rc1934aac6a7d47ec"/>
  </p:sldMasterIdLst>
  <p:notesMasterIdLst>
    <p:notesMasterId xmlns:r="http://schemas.openxmlformats.org/officeDocument/2006/relationships" r:id="Red1e1dddb18a4899"/>
  </p:notesMasterIdLst>
  <p:sldIdLst>
    <p:sldId xmlns:r="http://schemas.openxmlformats.org/officeDocument/2006/relationships" id="256" r:id="R6958d3a7160245a5"/>
    <p:sldId xmlns:r="http://schemas.openxmlformats.org/officeDocument/2006/relationships" id="257" r:id="Rfa67c44c32eb4fd1"/>
    <p:sldId xmlns:r="http://schemas.openxmlformats.org/officeDocument/2006/relationships" id="258" r:id="R7306fabd1e304f79"/>
    <p:sldId xmlns:r="http://schemas.openxmlformats.org/officeDocument/2006/relationships" id="259" r:id="Red8a2051df354560"/>
    <p:sldId xmlns:r="http://schemas.openxmlformats.org/officeDocument/2006/relationships" id="260" r:id="R27f11360afad4649"/>
    <p:sldId xmlns:r="http://schemas.openxmlformats.org/officeDocument/2006/relationships" id="261" r:id="R7abc49915794495e"/>
    <p:sldId xmlns:r="http://schemas.openxmlformats.org/officeDocument/2006/relationships" id="262" r:id="R1fdab9787e7946fd"/>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0e6a9f507a1540ce" /><Relationship Type="http://schemas.openxmlformats.org/officeDocument/2006/relationships/slideMaster" Target="/ppt/slideMasters/slideMaster1.xml" Id="Rc1934aac6a7d47ec" /><Relationship Type="http://schemas.openxmlformats.org/officeDocument/2006/relationships/notesMaster" Target="/ppt/notesMasters/notesMaster1.xml" Id="Red1e1dddb18a4899" /><Relationship Type="http://schemas.openxmlformats.org/officeDocument/2006/relationships/presProps" Target="/ppt/presProps.xml" Id="Recea91755a2542bc" /><Relationship Type="http://schemas.openxmlformats.org/officeDocument/2006/relationships/viewProps" Target="/ppt/viewProps.xml" Id="R7e3c9e4604d0469e" /><Relationship Type="http://schemas.openxmlformats.org/officeDocument/2006/relationships/tableStyles" Target="/ppt/tableStyles.xml" Id="R15691ddc2a3b46fd" /><Relationship Type="http://schemas.openxmlformats.org/officeDocument/2006/relationships/slide" Target="/ppt/slides/slide1.xml" Id="R6958d3a7160245a5" /><Relationship Type="http://schemas.openxmlformats.org/officeDocument/2006/relationships/slide" Target="/ppt/slides/slide2.xml" Id="Rfa67c44c32eb4fd1" /><Relationship Type="http://schemas.openxmlformats.org/officeDocument/2006/relationships/slide" Target="/ppt/slides/slide3.xml" Id="R7306fabd1e304f79" /><Relationship Type="http://schemas.openxmlformats.org/officeDocument/2006/relationships/slide" Target="/ppt/slides/slide4.xml" Id="Red8a2051df354560" /><Relationship Type="http://schemas.openxmlformats.org/officeDocument/2006/relationships/slide" Target="/ppt/slides/slide5.xml" Id="R27f11360afad4649" /><Relationship Type="http://schemas.openxmlformats.org/officeDocument/2006/relationships/slide" Target="/ppt/slides/slide6.xml" Id="R7abc49915794495e" /><Relationship Type="http://schemas.openxmlformats.org/officeDocument/2006/relationships/slide" Target="/ppt/slides/slide7.xml" Id="R1fdab9787e7946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9bd63e69024d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2ec3a4d2894b74" /><Relationship Type="http://schemas.openxmlformats.org/officeDocument/2006/relationships/notesMaster" Target="/ppt/notesMasters/notesMaster1.xml" Id="R50c5db6a84f244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715260c0a04f11" /><Relationship Type="http://schemas.openxmlformats.org/officeDocument/2006/relationships/notesMaster" Target="/ppt/notesMasters/notesMaster1.xml" Id="Rc73e263d234947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b532b8fea041a9" /><Relationship Type="http://schemas.openxmlformats.org/officeDocument/2006/relationships/notesMaster" Target="/ppt/notesMasters/notesMaster1.xml" Id="R2d1b0a1da73844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ea562a7a514503" /><Relationship Type="http://schemas.openxmlformats.org/officeDocument/2006/relationships/notesMaster" Target="/ppt/notesMasters/notesMaster1.xml" Id="R0ed1433e2d2c4a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68175941944d91" /><Relationship Type="http://schemas.openxmlformats.org/officeDocument/2006/relationships/notesMaster" Target="/ppt/notesMasters/notesMaster1.xml" Id="R7c6470807a1446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749658fc154078" /><Relationship Type="http://schemas.openxmlformats.org/officeDocument/2006/relationships/notesMaster" Target="/ppt/notesMasters/notesMaster1.xml" Id="Rc6b3e57b04d74f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1d452a7f73f42ec" /><Relationship Type="http://schemas.openxmlformats.org/officeDocument/2006/relationships/notesMaster" Target="/ppt/notesMasters/notesMaster1.xml" Id="R0667f1ecf13349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OPS là Operand Selector. Hai nhánh tổ hợp masked popcount và chuẩn bị ứng viên X/Y chạy song song, rồi choose_b điều khiển một tầng swap gồm hai MUX bus. Bit ẩn chỉ chèn trong các ứng viên Y trước swap. SAC là Shift Amount Calculator. SBM là Shift-Based Multiplier. S là lượng dịch tích lũy, khác scale factor sf của Posit. Sơ đồ tổng rút gọn R0 thành bank context gồm y_q, mode/sign/sf và state SAC. R0 nằm sau toàn bộ OPS, không thêm một tầng pipeline. R1 nằm trong iter_ctrl, R2 là t2_term và token trong mul_iter_core, L3 là acc trong sbm_accum. Các thanh ghi cùng clock. Y đi thẳng tới shifter và giữ ổn định cho toàn giao dịch. Core xử lý một giao dịch và giải phóng khi release_result. Công thức là trên mantissa/lưới FLOOR, dấu và sf được ghép sau core. ACC_W32/3=54 với EXACT_EN=1, dù payload approx chỉ16 bit.</a:t>
            </a:r>
          </a:p>
          <a:p xmlns:a="http://schemas.openxmlformats.org/drawingml/2006/main">
            <a:r>
              <a:t/>
            </a:r>
            <a:endParaRPr/>
          </a:p>
          <a:p xmlns:a="http://schemas.openxmlformats.org/drawingml/2006/main">
            <a:r>
              <a:t>Nguồn RTL và hợp đồng:</a:t>
            </a:r>
          </a:p>
          <a:p xmlns:a="http://schemas.openxmlformats.org/drawingml/2006/main">
            <a:r>
              <a:t>C:\HCMUT\HK261\Do an 2\Posit_MAC\rtl\ops_sel_comb.sv</a:t>
            </a:r>
          </a:p>
          <a:p xmlns:a="http://schemas.openxmlformats.org/drawingml/2006/main">
            <a:r>
              <a:t>C:\HCMUT\HK261\Do an 2\Posit_MAC\rtl\iter_ctrl.sv</a:t>
            </a:r>
          </a:p>
          <a:p xmlns:a="http://schemas.openxmlformats.org/drawingml/2006/main">
            <a:r>
              <a:t>C:\HCMUT\HK261\Do an 2\Posit_MAC\rtl\mul_iter_core.sv</a:t>
            </a:r>
          </a:p>
          <a:p xmlns:a="http://schemas.openxmlformats.org/drawingml/2006/main">
            <a:r>
              <a:t>C:\HCMUT\HK261\Do an 2\Posit_MAC\rtl\sbm_shift_comb.sv</a:t>
            </a:r>
          </a:p>
          <a:p xmlns:a="http://schemas.openxmlformats.org/drawingml/2006/main">
            <a:r>
              <a:t>C:\HCMUT\HK261\Do an 2\Posit_MAC\rtl\sbm_accum.sv</a:t>
            </a:r>
          </a:p>
          <a:p xmlns:a="http://schemas.openxmlformats.org/drawingml/2006/main">
            <a:r>
              <a:t>C:\HCMUT\HK261\Do an 2\Posit_MAC\SPEC_Posit_MAC_IP.md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Profile: FRAC_MAX=26, FRAC_W=12, CUT_W=14, SF_W=11, WIDTH_W=5.</a:t>
            </a:r>
          </a:p>
          <a:p xmlns:a="http://schemas.openxmlformats.org/drawingml/2006/main">
            <a:r>
              <a:t/>
            </a:r>
            <a:endParaRPr/>
          </a:p>
          <a:p xmlns:a="http://schemas.openxmlformats.org/drawingml/2006/main">
            <a:r>
              <a:t>Hai nhánh chạy song song từ cùng frac_A/B. Nhánh điều khiển giữ nguyên 12 bit cao [25:14], AND từng bit thấp [13:0] với !cfg_mode rồi đếm bằng hai cây cộng cân bằng. Không căn phải trước popcount. PAD_N=32 gồm 26 lá dữ liệu và 6 lá zero. Hai count 5 bit. choose_b = OPS_EN &amp;&amp; (cfg_ops == 2'd1) &amp;&amp; (count_B &lt; count_A). cfg_ops=0 giữ A. cfg_ops=1 chọn B chỉ khi B ít bit 1 hơn. Hòa giữ A.</a:t>
            </a:r>
          </a:p>
          <a:p xmlns:a="http://schemas.openxmlformats.org/drawingml/2006/main">
            <a:r>
              <a:t/>
            </a:r>
          </a:p>
          <a:p xmlns:a="http://schemas.openxmlformats.org/drawingml/2006/main">
            <a:r>
              <a:t>Nhánh dữ liệu độc lập choose_b. Exact: X_A=frac_A, X_B=frac_B, Y_A={1'b1,frac_A}, Y_B={1'b1,frac_B}. Approx: X_i={14'b0,frac_i[25:14]}, Y_i={14'b0,1'b1,frac_i[25:14]}. Chèn hidden trong Y trước swap, ở bit12 trong approx và bit26 trong exact. X có 26 bit, không hidden. Y có 27 bit.</a:t>
            </a:r>
          </a:p>
          <a:p xmlns:a="http://schemas.openxmlformats.org/drawingml/2006/main">
            <a:r>
              <a:t/>
            </a:r>
          </a:p>
          <a:p xmlns:a="http://schemas.openxmlformats.org/drawingml/2006/main">
            <a:r>
              <a:t>Swap là một tầng gồm hai MUX song song: x_frac=choose_b?X_B:X_A; y_mant=choose_b?Y_A:Y_B. Nhãn 0/1 trên dây là giá trị choose_b chọn ứng viên đó. Hai MUX không mắc nối tiếp. Dây xanh lá liên tục là dữ liệu, dây xanh lam đứt là điều khiển chọn. Điểm chấm là nối nhánh. Đầu ra OPS được bank R0 chốt ở L0 như slide tổng, không thêm FF bên trong OPS.</a:t>
            </a:r>
          </a:p>
          <a:p xmlns:a="http://schemas.openxmlformats.org/drawingml/2006/main">
            <a:r>
              <a:t/>
            </a:r>
          </a:p>
          <a:p xmlns:a="http://schemas.openxmlformats.org/drawingml/2006/main">
            <a:r>
              <a:t>Metadata cũng tính song song: sign_o=s_A^s_B; sf_o=sf_A+sf_B trên 11 bit signed; active_width=cfg_mode?12:26; input_cut=cfg_mode &amp; (|(frac_A[13:0]|frac_B[13:0])). Trường hợp FRAC_W==FRAC_MAX dùng generate no-cut: input_cut=0. cfg_error=(cfg_ops&gt;1)||(!OPS_EN&amp;&amp;cfg_ops!=0)||(!EXACT_EN&amp;&amp;!cfg_mode). Khi lỗi, bốn ứng viên và metadata được zero trước swap, swapped=0. Mạng cfg_error/zero-gating được gộp trong khối chuẩn bị để giữ sơ đồ rõ. cfg_mode và cfg_ops là các ngõ cấu hình dùng chung cho những khối được ghi nhãn. Chỉ áp dụng datapath finite đã parse, wrapper xử lý Zero/NaR.</a:t>
            </a:r>
          </a:p>
          <a:p xmlns:a="http://schemas.openxmlformats.org/drawingml/2006/main">
            <a:r>
              <a:t/>
            </a:r>
          </a:p>
          <a:p xmlns:a="http://schemas.openxmlformats.org/drawingml/2006/main">
            <a:r>
              <a:t>Nguồn RTL và hợp đồng:</a:t>
            </a:r>
          </a:p>
          <a:p xmlns:a="http://schemas.openxmlformats.org/drawingml/2006/main">
            <a:r>
              <a:t>C:\HCMUT\HK261\Do an 2\Posit_MAC\rtl\ops_sel_comb.sv</a:t>
            </a:r>
          </a:p>
          <a:p xmlns:a="http://schemas.openxmlformats.org/drawingml/2006/main">
            <a:r>
              <a:t>C:\HCMUT\HK261\Do an 2\Posit_MAC\rtl\mac_nf_wrapper.sv</a:t>
            </a:r>
          </a:p>
          <a:p xmlns:a="http://schemas.openxmlformats.org/drawingml/2006/main">
            <a:r>
              <a:t>C:\HCMUT\HK261\Do an 2\Posit_MAC\SPEC_Posit_MAC_IP.md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LOD MODE0 tìm bit1 đầu tiên từ MSB, trả số leading zeros K và leading_valid. Nếu vld=0, không tạo term, sa0, scale_next giữ scale, fx_next giữ fx và exhausted1. Với vld1, step=K+1, scale_sum tính rộngS_W+1 và kiểm không vượtW_X. state_error nếu scale&gt;W hoặc scale_sum&gt;W. Chỉ term_valid khi vld&amp;&amp;!error. Dịch trái sa loại leading zeros và bit1 vừa xử lý. Khoanh các bank fx_q,scale_q là state bên ngoài sac_step_comb trong iter_ctrl. R1 là token xuấtscale đã chốt, không phải bank feedback dùng lại để đếm vòng. ApproxW12, exactW26, S_W5 ở32/3. iter_ctrl có hai instance SAC và mux mode; hình vẽ một đường active để dễ đọc.</a:t>
            </a:r>
          </a:p>
          <a:p xmlns:a="http://schemas.openxmlformats.org/drawingml/2006/main">
            <a:endParaRPr/>
          </a:p>
          <a:p xmlns:a="http://schemas.openxmlformats.org/drawingml/2006/main">
            <a:r>
              <a:t>Nguồn RTL và hợp đồng:</a:t>
            </a:r>
          </a:p>
          <a:p xmlns:a="http://schemas.openxmlformats.org/drawingml/2006/main">
            <a:r>
              <a:t>C:\HCMUT\HK261\Do an 2\Posit_MAC\rtl\sac_step_comb.sv</a:t>
            </a:r>
          </a:p>
          <a:p xmlns:a="http://schemas.openxmlformats.org/drawingml/2006/main">
            <a:r>
              <a:t>C:\HCMUT\HK261\Do an 2\Posit_MAC\rtl\lod_lzd_core.sv</a:t>
            </a:r>
          </a:p>
          <a:p xmlns:a="http://schemas.openxmlformats.org/drawingml/2006/main">
            <a:r>
              <a:t>C:\HCMUT\HK261\Do an 2\Posit_MAC\rtl\iter_ctrl.sv</a:t>
            </a:r>
          </a:p>
          <a:p xmlns:a="http://schemas.openxmlformats.org/drawingml/2006/main">
            <a:r>
              <a:t>C:\HCMUT\HK261\Do an 2\Posit_MAC\SPEC_Posit_MAC_IP.md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sbm_shift_comb nhận y_mant right-aligned từ OPS: approximatehidden ởbit12, exacthidden ởbit26. Approx &lt;&lt;2 tạo Q14 trong bank vật lý54 bit. FLOORmask2LSB sau shift tạo term là bội4, nên chiaacc&gt;&gt;2 lấy Q12. Exact &lt;&lt;F tạo gridQ52. shift_discard=S+2 trongapproxFLOOR, hoặcS các modekhác; term_tail ORy_base bits thấp dưới shift_discard. init_only buộcterm0 vàtail0. VớiFLOOR, numerical_tail giữORterm_tail nhưng numerical_sticky cho R(P_hat) bằng0; không dùng metadata cut khôi phục giá trị. Có thể chọn JAM ởstandalonelegacy, NFtop hardwireFLOOR. R2 lưu term vàtail trongmul_iter_core, y_base vẫn là dây tổ hợp từ y_q ổn định. Slide không vẽ muxexact/approx vàinit đầy đủ; ghi rõ trongnotes.</a:t>
            </a:r>
          </a:p>
          <a:p xmlns:a="http://schemas.openxmlformats.org/drawingml/2006/main">
            <a:endParaRPr/>
          </a:p>
          <a:p xmlns:a="http://schemas.openxmlformats.org/drawingml/2006/main">
            <a:r>
              <a:t>Nguồn RTL và hợp đồng:</a:t>
            </a:r>
          </a:p>
          <a:p xmlns:a="http://schemas.openxmlformats.org/drawingml/2006/main">
            <a:r>
              <a:t>C:\HCMUT\HK261\Do an 2\Posit_MAC\rtl\sbm_shift_comb.sv</a:t>
            </a:r>
          </a:p>
          <a:p xmlns:a="http://schemas.openxmlformats.org/drawingml/2006/main">
            <a:r>
              <a:t>C:\HCMUT\HK261\Do an 2\Posit_MAC\rtl\mul_iter_core.sv</a:t>
            </a:r>
          </a:p>
          <a:p xmlns:a="http://schemas.openxmlformats.org/drawingml/2006/main">
            <a:r>
              <a:t>C:\HCMUT\HK261\Do an 2\Posit_MAC\rtl\sbm_accum_comb.sv</a:t>
            </a:r>
          </a:p>
          <a:p xmlns:a="http://schemas.openxmlformats.org/drawingml/2006/main">
            <a:r>
              <a:t>C:\HCMUT\HK261\Do an 2\Posit_MAC\rtl\mul_prepack_norm_comb.sv</a:t>
            </a:r>
          </a:p>
          <a:p xmlns:a="http://schemas.openxmlformats.org/drawingml/2006/main">
            <a:r>
              <a:t>C:\HCMUT\HK261\Do an 2\Posit_MAC\SPEC_Posit_MAC_IP.md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sbm_accum_comb sum rộng55bit đểkiểm carryerror bit54. first1 mux chọny_base thayacc; normalfirst cộngtermfraction đầu cùnghidden. init_only bỏphépcộngterm, khôngY+Y. first reset numericaltail/sticky. numericaltail ORtermtail; sticky chỉOR khi exact hoặcROUND_SCHEME1, NFapproxFLOORgiữ0. sbm_accum chốt acc, iterations_done, approx_cut_o vàtails khi commit_valid. done &lt;=commit_valid&amp;&amp;last, khôngphảiđoánkhibitfxhết ởSAC. Córesetleaf asyncassert/syncrelease2FF vàrun_ready; khôngvẽmạngresetđểgiữdatapathdễđọc. Diagram first control arrows representboolean first, labelsnearport. Bankacc giữ output khi khôngcommit. Kếtquả cầnnormalize vàRNE bênngoàicore; khôngpacktrongaccumulator.</a:t>
            </a:r>
          </a:p>
          <a:p xmlns:a="http://schemas.openxmlformats.org/drawingml/2006/main">
            <a:endParaRPr/>
          </a:p>
          <a:p xmlns:a="http://schemas.openxmlformats.org/drawingml/2006/main">
            <a:r>
              <a:t>Nguồn RTL và hợp đồng:</a:t>
            </a:r>
          </a:p>
          <a:p xmlns:a="http://schemas.openxmlformats.org/drawingml/2006/main">
            <a:r>
              <a:t>C:\HCMUT\HK261\Do an 2\Posit_MAC\rtl\sbm_accum_comb.sv</a:t>
            </a:r>
          </a:p>
          <a:p xmlns:a="http://schemas.openxmlformats.org/drawingml/2006/main">
            <a:r>
              <a:t>C:\HCMUT\HK261\Do an 2\Posit_MAC\rtl\sbm_accum.sv</a:t>
            </a:r>
          </a:p>
          <a:p xmlns:a="http://schemas.openxmlformats.org/drawingml/2006/main">
            <a:r>
              <a:t>C:\HCMUT\HK261\Do an 2\Posit_MAC\rtl\mul_iter_core.sv</a:t>
            </a:r>
          </a:p>
          <a:p xmlns:a="http://schemas.openxmlformats.org/drawingml/2006/main">
            <a:r>
              <a:t>C:\HCMUT\HK261\Do an 2\Posit_MAC\SPEC_Posit_MAC_IP.md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L0khácE0inputhandshake củaMAC. iter_ctrl nạpstate tạiL0, phát token1sauL1. mul_iter_core R2 chốt shift/token1L2. sbm_accum commit1L3. Token2 phátL2, R2L3, commitlastL4. t=2,q2doneL4=t+2. t0init vẫnR1L1,R2L2,accL3 nênq1done3. token_valid/first/last/init_only/iteration/cut phải đi quaR2đồngbộterm. count/n giới hạn số termfraction, hidden nằmtrongfirstkhôngđếmthêm. core vẫnbusyđếnrelease_resultdo wrapperoutputretire. Các stage khác giao dịchkhôngchồnglấptrongbaseline hiện tại. Khônggánlịchcorecho latencycảMAC. Resetflushcảvalid/datacontexttheoguideline.</a:t>
            </a:r>
          </a:p>
          <a:p xmlns:a="http://schemas.openxmlformats.org/drawingml/2006/main">
            <a:endParaRPr/>
          </a:p>
          <a:p xmlns:a="http://schemas.openxmlformats.org/drawingml/2006/main">
            <a:r>
              <a:t>Nguồn RTL và hợp đồng:</a:t>
            </a:r>
          </a:p>
          <a:p xmlns:a="http://schemas.openxmlformats.org/drawingml/2006/main">
            <a:r>
              <a:t>C:\HCMUT\HK261\Do an 2\Posit_MAC\rtl\iter_ctrl.sv</a:t>
            </a:r>
          </a:p>
          <a:p xmlns:a="http://schemas.openxmlformats.org/drawingml/2006/main">
            <a:r>
              <a:t>C:\HCMUT\HK261\Do an 2\Posit_MAC\rtl\mul_iter_core.sv</a:t>
            </a:r>
          </a:p>
          <a:p xmlns:a="http://schemas.openxmlformats.org/drawingml/2006/main">
            <a:r>
              <a:t>C:\HCMUT\HK261\Do an 2\Posit_MAC\rtl\sbm_accum.sv</a:t>
            </a:r>
          </a:p>
          <a:p xmlns:a="http://schemas.openxmlformats.org/drawingml/2006/main">
            <a:r>
              <a:t>C:\HCMUT\HK261\Do an 2\Posit_MAC\SPEC_Posit_MAC_IP.md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ví dụmantissa12bitvớisf_base0,dấudương. Cắtinputkhôngmấtbitvìphầnbỏ0. Xa=1.28125,Yb=1.126953125,y_baseQ12=4616. Vòng1fx010010000000,clz1,sa2,S2,fx_next001000000000;term4616&gt;&gt;2=1154,first cộng4616+1154=5770. Vòng2clz2,sa3,S5,fx_next0;termFLOOR4616&gt;&gt;5=144,đuôi8/32=.25Q12units,numericaltail1,acc5914. PayloadvậtlýQ14 ybase18464,term1=4616,term2=576,acc23656;divide4raQ12giátrị5914. Tíchmantissathật=1.44390869140625,khácprepackmộtquarterQ12LSBdoFLOOR. numerical_stickyFLOOR0,metadata inexact1. Khônggọi ví dụnàylàbằngchứngtáihiệnbaselinepaper; chỉminhhọarecurrence đãchốt. last nhậnởR1vòng2,doneởR3commitvòng2.</a:t>
            </a:r>
          </a:p>
          <a:p xmlns:a="http://schemas.openxmlformats.org/drawingml/2006/main">
            <a:endParaRPr/>
          </a:p>
          <a:p xmlns:a="http://schemas.openxmlformats.org/drawingml/2006/main">
            <a:r>
              <a:t>Nguồn RTL và hợp đồng:</a:t>
            </a:r>
          </a:p>
          <a:p xmlns:a="http://schemas.openxmlformats.org/drawingml/2006/main">
            <a:r>
              <a:t>C:\HCMUT\HK261\Do an 2\Posit_MAC\rtl\ops_sel_comb.sv</a:t>
            </a:r>
          </a:p>
          <a:p xmlns:a="http://schemas.openxmlformats.org/drawingml/2006/main">
            <a:r>
              <a:t>C:\HCMUT\HK261\Do an 2\Posit_MAC\rtl\sac_step_comb.sv</a:t>
            </a:r>
          </a:p>
          <a:p xmlns:a="http://schemas.openxmlformats.org/drawingml/2006/main">
            <a:r>
              <a:t>C:\HCMUT\HK261\Do an 2\Posit_MAC\rtl\sbm_shift_comb.sv</a:t>
            </a:r>
          </a:p>
          <a:p xmlns:a="http://schemas.openxmlformats.org/drawingml/2006/main">
            <a:r>
              <a:t>C:\HCMUT\HK261\Do an 2\Posit_MAC\rtl\sbm_accum_comb.sv</a:t>
            </a:r>
          </a:p>
          <a:p xmlns:a="http://schemas.openxmlformats.org/drawingml/2006/main">
            <a:r>
              <a:t>C:\HCMUT\HK261\Do an 2\Posit_MAC\SPEC_Posit_MAC_IP.md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89f78c666b46b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43389e434e7436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de3284797164f5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43feb600425465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a13329bd32f41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9441227019f4b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B6E9A8-9EC9-463B-BC8B-5EFEC4016AB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B44168EE-18EE-40E9-AC04-0F9A7998AED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9549386-2384-43EC-BB5A-1F0BDCDD49B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D54B7F-CC7D-405E-90DD-0D4FB0CFF2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86492C91-78F7-4614-8FE0-B3D9DA131D5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BEFC1BE-E299-41CD-B015-7B1EEFE5B05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3172EC18-F334-4627-9AB9-AF1C0E6BBC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7B418D05-CF9D-47D6-B6EE-2DEA45319DD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A9E4CE-F520-4213-A634-0F016EDE7E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3154552B-5D48-4783-B704-5E377A64CB5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cdc538dc8c48ad" /><Relationship Type="http://schemas.openxmlformats.org/officeDocument/2006/relationships/slideLayout" Target="/ppt/slideLayouts/slideLayout1.xml" Id="R522019061e894630" /><Relationship Type="http://schemas.openxmlformats.org/officeDocument/2006/relationships/slideLayout" Target="/ppt/slideLayouts/slideLayout2.xml" Id="R848f9420d1fc401e" /><Relationship Type="http://schemas.openxmlformats.org/officeDocument/2006/relationships/slideLayout" Target="/ppt/slideLayouts/slideLayout3.xml" Id="Raf64d35406704515" /><Relationship Type="http://schemas.openxmlformats.org/officeDocument/2006/relationships/slideLayout" Target="/ppt/slideLayouts/slideLayout4.xml" Id="R19589fbccab54aff" /><Relationship Type="http://schemas.openxmlformats.org/officeDocument/2006/relationships/slideLayout" Target="/ppt/slideLayouts/slideLayout5.xml" Id="R9b85815ccc2c4cf5" /><Relationship Type="http://schemas.openxmlformats.org/officeDocument/2006/relationships/slideLayout" Target="/ppt/slideLayouts/slideLayout6.xml" Id="R0e5dc125d49744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2019061e894630"/>
    <p:sldLayoutId xmlns:r="http://schemas.openxmlformats.org/officeDocument/2006/relationships" id="2147483650" r:id="R848f9420d1fc401e"/>
    <p:sldLayoutId xmlns:r="http://schemas.openxmlformats.org/officeDocument/2006/relationships" id="2147483651" r:id="Raf64d35406704515"/>
    <p:sldLayoutId xmlns:r="http://schemas.openxmlformats.org/officeDocument/2006/relationships" id="2147483652" r:id="R19589fbccab54aff"/>
    <p:sldLayoutId xmlns:r="http://schemas.openxmlformats.org/officeDocument/2006/relationships" id="2147483653" r:id="R9b85815ccc2c4cf5"/>
    <p:sldLayoutId xmlns:r="http://schemas.openxmlformats.org/officeDocument/2006/relationships" id="2147483654" r:id="R0e5dc125d49744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7faaa9ff2f144aa" /><Relationship Type="http://schemas.openxmlformats.org/officeDocument/2006/relationships/notesSlide" Target="/ppt/notesSlides/notesSlide1.xml" Id="Rf72c5638bdd744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5752f5e1cc4424f" /><Relationship Type="http://schemas.openxmlformats.org/officeDocument/2006/relationships/notesSlide" Target="/ppt/notesSlides/notesSlide2.xml" Id="R37f6e7aff8af46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b7985c8934a44e6" /><Relationship Type="http://schemas.openxmlformats.org/officeDocument/2006/relationships/notesSlide" Target="/ppt/notesSlides/notesSlide3.xml" Id="Rf5991ea62e2b4d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d8a937ec0064041" /><Relationship Type="http://schemas.openxmlformats.org/officeDocument/2006/relationships/notesSlide" Target="/ppt/notesSlides/notesSlide4.xml" Id="Rfb711a6c2c2a47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3861875a3a94b43" /><Relationship Type="http://schemas.openxmlformats.org/officeDocument/2006/relationships/notesSlide" Target="/ppt/notesSlides/notesSlide5.xml" Id="Rdd1a30ea4aff44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de643f1dfac4cdf" /><Relationship Type="http://schemas.openxmlformats.org/officeDocument/2006/relationships/notesSlide" Target="/ppt/notesSlides/notesSlide6.xml" Id="R4e6e034f1c1344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ee9974a216042c2" /><Relationship Type="http://schemas.openxmlformats.org/officeDocument/2006/relationships/notesSlide" Target="/ppt/notesSlides/notesSlide7.xml" Id="Rcaf474ce81b444b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50" name="wire-50">
            <a:extLst xmlns:a="http://schemas.openxmlformats.org/drawingml/2006/main">
              <a:ext uri="{FF2B5EF4-FFF2-40B4-BE49-F238E27FC236}">
                <a16:creationId xmlns:a16="http://schemas.microsoft.com/office/drawing/2014/main" id="{3895E9CE-8880-4C66-A62D-73E188A50514}"/>
              </a:ext>
            </a:extLst>
          </p:cNvPr>
          <p:cNvCxnSpPr/>
          <p:nvPr/>
        </p:nvCxnSpPr>
        <p:spPr>
          <a:xfrm xmlns:a="http://schemas.openxmlformats.org/drawingml/2006/main" flipH="0" flipV="1">
            <a:off x="5143500" y="3781425"/>
            <a:ext cx="0" cy="390525"/>
          </a:xfrm>
          <a:prstGeom xmlns:a="http://schemas.openxmlformats.org/drawingml/2006/main" prst="straightConnector1">
            <a:avLst/>
          </a:prstGeom>
          <a:ln xmlns:a="http://schemas.openxmlformats.org/drawingml/2006/main" w="23813">
            <a:solidFill>
              <a:srgbClr val="A76807"/>
            </a:solidFill>
            <a:prstDash val="solid"/>
            <a:tailEnd type="triangle" w="sm" len="sm"/>
          </a:ln>
        </p:spPr>
      </p:cxnSp>
      <p:cxnSp>
        <p:nvCxnSpPr>
          <p:cNvPr id="49" name="wire-49">
            <a:extLst xmlns:a="http://schemas.openxmlformats.org/drawingml/2006/main">
              <a:ext uri="{FF2B5EF4-FFF2-40B4-BE49-F238E27FC236}">
                <a16:creationId xmlns:a16="http://schemas.microsoft.com/office/drawing/2014/main" id="{6368F057-3AFF-4D5E-95E0-DE780278C591}"/>
              </a:ext>
            </a:extLst>
          </p:cNvPr>
          <p:cNvCxnSpPr/>
          <p:nvPr/>
        </p:nvCxnSpPr>
        <p:spPr>
          <a:xfrm xmlns:a="http://schemas.openxmlformats.org/drawingml/2006/main" flipH="0" flipV="0">
            <a:off x="4648200" y="4171950"/>
            <a:ext cx="495300" cy="0"/>
          </a:xfrm>
          <a:prstGeom xmlns:a="http://schemas.openxmlformats.org/drawingml/2006/main" prst="straightConnector1">
            <a:avLst/>
          </a:prstGeom>
          <a:ln xmlns:a="http://schemas.openxmlformats.org/drawingml/2006/main" w="23813">
            <a:solidFill>
              <a:srgbClr val="A76807"/>
            </a:solidFill>
            <a:prstDash val="solid"/>
            <a:tailEnd type="none" w="sm" len="sm"/>
          </a:ln>
        </p:spPr>
      </p:cxnSp>
      <p:cxnSp>
        <p:nvCxnSpPr>
          <p:cNvPr id="48" name="wire-48">
            <a:extLst xmlns:a="http://schemas.openxmlformats.org/drawingml/2006/main">
              <a:ext uri="{FF2B5EF4-FFF2-40B4-BE49-F238E27FC236}">
                <a16:creationId xmlns:a16="http://schemas.microsoft.com/office/drawing/2014/main" id="{3177309D-ABD2-4A05-8468-56A7745F0E25}"/>
              </a:ext>
            </a:extLst>
          </p:cNvPr>
          <p:cNvCxnSpPr/>
          <p:nvPr/>
        </p:nvCxnSpPr>
        <p:spPr>
          <a:xfrm xmlns:a="http://schemas.openxmlformats.org/drawingml/2006/main" flipH="0" flipV="0">
            <a:off x="4648200" y="3781425"/>
            <a:ext cx="0" cy="390525"/>
          </a:xfrm>
          <a:prstGeom xmlns:a="http://schemas.openxmlformats.org/drawingml/2006/main" prst="straightConnector1">
            <a:avLst/>
          </a:prstGeom>
          <a:ln xmlns:a="http://schemas.openxmlformats.org/drawingml/2006/main" w="23813">
            <a:solidFill>
              <a:srgbClr val="A76807"/>
            </a:solidFill>
            <a:prstDash val="solid"/>
            <a:tailEnd type="none" w="sm" len="sm"/>
          </a:ln>
        </p:spPr>
      </p:cxnSp>
      <p:cxnSp>
        <p:nvCxnSpPr>
          <p:cNvPr id="46" name="wire-46">
            <a:extLst xmlns:a="http://schemas.openxmlformats.org/drawingml/2006/main">
              <a:ext uri="{FF2B5EF4-FFF2-40B4-BE49-F238E27FC236}">
                <a16:creationId xmlns:a16="http://schemas.microsoft.com/office/drawing/2014/main" id="{A542341D-2EB5-49E7-AEEF-D10832CD24CE}"/>
              </a:ext>
            </a:extLst>
          </p:cNvPr>
          <p:cNvCxnSpPr/>
          <p:nvPr/>
        </p:nvCxnSpPr>
        <p:spPr>
          <a:xfrm xmlns:a="http://schemas.openxmlformats.org/drawingml/2006/main" flipH="0" flipV="1">
            <a:off x="11096625" y="3781425"/>
            <a:ext cx="0" cy="390525"/>
          </a:xfrm>
          <a:prstGeom xmlns:a="http://schemas.openxmlformats.org/drawingml/2006/main" prst="straightConnector1">
            <a:avLst/>
          </a:prstGeom>
          <a:ln xmlns:a="http://schemas.openxmlformats.org/drawingml/2006/main" w="23813">
            <a:solidFill>
              <a:srgbClr val="6943B9"/>
            </a:solidFill>
            <a:prstDash val="solid"/>
            <a:tailEnd type="triangle" w="sm" len="sm"/>
          </a:ln>
        </p:spPr>
      </p:cxnSp>
      <p:cxnSp>
        <p:nvCxnSpPr>
          <p:cNvPr id="45" name="wire-45">
            <a:extLst xmlns:a="http://schemas.openxmlformats.org/drawingml/2006/main">
              <a:ext uri="{FF2B5EF4-FFF2-40B4-BE49-F238E27FC236}">
                <a16:creationId xmlns:a16="http://schemas.microsoft.com/office/drawing/2014/main" id="{8AF0F76B-7A01-4D2D-AE17-898956437145}"/>
              </a:ext>
            </a:extLst>
          </p:cNvPr>
          <p:cNvCxnSpPr/>
          <p:nvPr/>
        </p:nvCxnSpPr>
        <p:spPr>
          <a:xfrm xmlns:a="http://schemas.openxmlformats.org/drawingml/2006/main" flipH="0" flipV="0">
            <a:off x="10639425" y="4171950"/>
            <a:ext cx="457200" cy="0"/>
          </a:xfrm>
          <a:prstGeom xmlns:a="http://schemas.openxmlformats.org/drawingml/2006/main" prst="straightConnector1">
            <a:avLst/>
          </a:prstGeom>
          <a:ln xmlns:a="http://schemas.openxmlformats.org/drawingml/2006/main" w="23813">
            <a:solidFill>
              <a:srgbClr val="6943B9"/>
            </a:solidFill>
            <a:prstDash val="solid"/>
            <a:tailEnd type="none" w="sm" len="sm"/>
          </a:ln>
        </p:spPr>
      </p:cxnSp>
      <p:cxnSp>
        <p:nvCxnSpPr>
          <p:cNvPr id="44" name="wire-44">
            <a:extLst xmlns:a="http://schemas.openxmlformats.org/drawingml/2006/main">
              <a:ext uri="{FF2B5EF4-FFF2-40B4-BE49-F238E27FC236}">
                <a16:creationId xmlns:a16="http://schemas.microsoft.com/office/drawing/2014/main" id="{2AF210F4-660E-4A29-8171-BD1C45E576D3}"/>
              </a:ext>
            </a:extLst>
          </p:cNvPr>
          <p:cNvCxnSpPr/>
          <p:nvPr/>
        </p:nvCxnSpPr>
        <p:spPr>
          <a:xfrm xmlns:a="http://schemas.openxmlformats.org/drawingml/2006/main" flipH="0" flipV="0">
            <a:off x="10639425" y="3781425"/>
            <a:ext cx="0" cy="390525"/>
          </a:xfrm>
          <a:prstGeom xmlns:a="http://schemas.openxmlformats.org/drawingml/2006/main" prst="straightConnector1">
            <a:avLst/>
          </a:prstGeom>
          <a:ln xmlns:a="http://schemas.openxmlformats.org/drawingml/2006/main" w="23813">
            <a:solidFill>
              <a:srgbClr val="6943B9"/>
            </a:solidFill>
            <a:prstDash val="solid"/>
            <a:tailEnd type="none" w="sm" len="sm"/>
          </a:ln>
        </p:spPr>
      </p:cxnSp>
      <p:cxnSp>
        <p:nvCxnSpPr>
          <p:cNvPr id="42" name="wire-42">
            <a:extLst xmlns:a="http://schemas.openxmlformats.org/drawingml/2006/main">
              <a:ext uri="{FF2B5EF4-FFF2-40B4-BE49-F238E27FC236}">
                <a16:creationId xmlns:a16="http://schemas.microsoft.com/office/drawing/2014/main" id="{CBCB43E7-3CCB-4F18-99D3-ACCE12A13602}"/>
              </a:ext>
            </a:extLst>
          </p:cNvPr>
          <p:cNvCxnSpPr/>
          <p:nvPr/>
        </p:nvCxnSpPr>
        <p:spPr>
          <a:xfrm xmlns:a="http://schemas.openxmlformats.org/drawingml/2006/main" flipH="0" flipV="0">
            <a:off x="7791450" y="2238375"/>
            <a:ext cx="0" cy="400050"/>
          </a:xfrm>
          <a:prstGeom xmlns:a="http://schemas.openxmlformats.org/drawingml/2006/main" prst="straightConnector1">
            <a:avLst/>
          </a:prstGeom>
          <a:ln xmlns:a="http://schemas.openxmlformats.org/drawingml/2006/main" w="23813">
            <a:solidFill>
              <a:srgbClr val="147D92"/>
            </a:solidFill>
            <a:prstDash val="solid"/>
            <a:tailEnd type="triangle" w="sm" len="sm"/>
          </a:ln>
        </p:spPr>
      </p:cxnSp>
      <p:cxnSp>
        <p:nvCxnSpPr>
          <p:cNvPr id="41" name="wire-41">
            <a:extLst xmlns:a="http://schemas.openxmlformats.org/drawingml/2006/main">
              <a:ext uri="{FF2B5EF4-FFF2-40B4-BE49-F238E27FC236}">
                <a16:creationId xmlns:a16="http://schemas.microsoft.com/office/drawing/2014/main" id="{750BECFD-AFD8-4767-80AE-293AA6A51029}"/>
              </a:ext>
            </a:extLst>
          </p:cNvPr>
          <p:cNvCxnSpPr/>
          <p:nvPr/>
        </p:nvCxnSpPr>
        <p:spPr>
          <a:xfrm xmlns:a="http://schemas.openxmlformats.org/drawingml/2006/main" flipH="0" flipV="0">
            <a:off x="3086100" y="2238375"/>
            <a:ext cx="4705350" cy="0"/>
          </a:xfrm>
          <a:prstGeom xmlns:a="http://schemas.openxmlformats.org/drawingml/2006/main" prst="straightConnector1">
            <a:avLst/>
          </a:prstGeom>
          <a:ln xmlns:a="http://schemas.openxmlformats.org/drawingml/2006/main" w="23813">
            <a:solidFill>
              <a:srgbClr val="147D92"/>
            </a:solidFill>
            <a:prstDash val="solid"/>
            <a:tailEnd type="none" w="sm" len="sm"/>
          </a:ln>
        </p:spPr>
      </p:cxnSp>
      <p:cxnSp>
        <p:nvCxnSpPr>
          <p:cNvPr id="40" name="wire-40">
            <a:extLst xmlns:a="http://schemas.openxmlformats.org/drawingml/2006/main">
              <a:ext uri="{FF2B5EF4-FFF2-40B4-BE49-F238E27FC236}">
                <a16:creationId xmlns:a16="http://schemas.microsoft.com/office/drawing/2014/main" id="{86156D23-B544-4855-B031-C1D007B6E88F}"/>
              </a:ext>
            </a:extLst>
          </p:cNvPr>
          <p:cNvCxnSpPr/>
          <p:nvPr/>
        </p:nvCxnSpPr>
        <p:spPr>
          <a:xfrm xmlns:a="http://schemas.openxmlformats.org/drawingml/2006/main" flipH="0" flipV="1">
            <a:off x="3086100" y="2238375"/>
            <a:ext cx="0" cy="400050"/>
          </a:xfrm>
          <a:prstGeom xmlns:a="http://schemas.openxmlformats.org/drawingml/2006/main" prst="straightConnector1">
            <a:avLst/>
          </a:prstGeom>
          <a:ln xmlns:a="http://schemas.openxmlformats.org/drawingml/2006/main" w="23813">
            <a:solidFill>
              <a:srgbClr val="147D92"/>
            </a:solidFill>
            <a:prstDash val="solid"/>
            <a:tailEnd type="none" w="sm" len="sm"/>
          </a:ln>
        </p:spPr>
      </p:cxnSp>
      <p:cxnSp>
        <p:nvCxnSpPr>
          <p:cNvPr id="36" name="wire-36">
            <a:extLst xmlns:a="http://schemas.openxmlformats.org/drawingml/2006/main">
              <a:ext uri="{FF2B5EF4-FFF2-40B4-BE49-F238E27FC236}">
                <a16:creationId xmlns:a16="http://schemas.microsoft.com/office/drawing/2014/main" id="{3B9181CB-F2EF-44FD-94AE-0694143F0AFE}"/>
              </a:ext>
            </a:extLst>
          </p:cNvPr>
          <p:cNvCxnSpPr/>
          <p:nvPr/>
        </p:nvCxnSpPr>
        <p:spPr>
          <a:xfrm xmlns:a="http://schemas.openxmlformats.org/drawingml/2006/main" flipH="0" flipV="0">
            <a:off x="9629775" y="3209925"/>
            <a:ext cx="428625" cy="0"/>
          </a:xfrm>
          <a:prstGeom xmlns:a="http://schemas.openxmlformats.org/drawingml/2006/main" prst="straightConnector1">
            <a:avLst/>
          </a:prstGeom>
          <a:ln xmlns:a="http://schemas.openxmlformats.org/drawingml/2006/main" w="23813">
            <a:solidFill>
              <a:srgbClr val="425672"/>
            </a:solidFill>
            <a:prstDash val="solid"/>
            <a:tailEnd type="triangle" w="sm" len="sm"/>
          </a:ln>
        </p:spPr>
      </p:cxnSp>
      <p:cxnSp>
        <p:nvCxnSpPr>
          <p:cNvPr id="35" name="wire-35">
            <a:extLst xmlns:a="http://schemas.openxmlformats.org/drawingml/2006/main">
              <a:ext uri="{FF2B5EF4-FFF2-40B4-BE49-F238E27FC236}">
                <a16:creationId xmlns:a16="http://schemas.microsoft.com/office/drawing/2014/main" id="{D09222A9-E757-48EB-92C9-1050E44D4226}"/>
              </a:ext>
            </a:extLst>
          </p:cNvPr>
          <p:cNvCxnSpPr/>
          <p:nvPr/>
        </p:nvCxnSpPr>
        <p:spPr>
          <a:xfrm xmlns:a="http://schemas.openxmlformats.org/drawingml/2006/main" flipH="0" flipV="0">
            <a:off x="8534400" y="3209925"/>
            <a:ext cx="495300" cy="0"/>
          </a:xfrm>
          <a:prstGeom xmlns:a="http://schemas.openxmlformats.org/drawingml/2006/main" prst="straightConnector1">
            <a:avLst/>
          </a:prstGeom>
          <a:ln xmlns:a="http://schemas.openxmlformats.org/drawingml/2006/main" w="23813">
            <a:solidFill>
              <a:srgbClr val="425672"/>
            </a:solidFill>
            <a:prstDash val="solid"/>
            <a:tailEnd type="triangle" w="sm" len="sm"/>
          </a:ln>
        </p:spPr>
      </p:cxnSp>
      <p:cxnSp>
        <p:nvCxnSpPr>
          <p:cNvPr id="34" name="wire-34">
            <a:extLst xmlns:a="http://schemas.openxmlformats.org/drawingml/2006/main">
              <a:ext uri="{FF2B5EF4-FFF2-40B4-BE49-F238E27FC236}">
                <a16:creationId xmlns:a16="http://schemas.microsoft.com/office/drawing/2014/main" id="{EF6EBBE6-F13E-42BC-B920-97818DCF35F9}"/>
              </a:ext>
            </a:extLst>
          </p:cNvPr>
          <p:cNvCxnSpPr/>
          <p:nvPr/>
        </p:nvCxnSpPr>
        <p:spPr>
          <a:xfrm xmlns:a="http://schemas.openxmlformats.org/drawingml/2006/main" flipH="0" flipV="0">
            <a:off x="6524625" y="3209925"/>
            <a:ext cx="438150" cy="0"/>
          </a:xfrm>
          <a:prstGeom xmlns:a="http://schemas.openxmlformats.org/drawingml/2006/main" prst="straightConnector1">
            <a:avLst/>
          </a:prstGeom>
          <a:ln xmlns:a="http://schemas.openxmlformats.org/drawingml/2006/main" w="23813">
            <a:solidFill>
              <a:srgbClr val="425672"/>
            </a:solidFill>
            <a:prstDash val="solid"/>
            <a:tailEnd type="triangle" w="sm" len="sm"/>
          </a:ln>
        </p:spPr>
      </p:cxnSp>
      <p:cxnSp>
        <p:nvCxnSpPr>
          <p:cNvPr id="33" name="wire-33">
            <a:extLst xmlns:a="http://schemas.openxmlformats.org/drawingml/2006/main">
              <a:ext uri="{FF2B5EF4-FFF2-40B4-BE49-F238E27FC236}">
                <a16:creationId xmlns:a16="http://schemas.microsoft.com/office/drawing/2014/main" id="{800286D3-9978-4D8C-B834-2F15E20F135E}"/>
              </a:ext>
            </a:extLst>
          </p:cNvPr>
          <p:cNvCxnSpPr/>
          <p:nvPr/>
        </p:nvCxnSpPr>
        <p:spPr>
          <a:xfrm xmlns:a="http://schemas.openxmlformats.org/drawingml/2006/main" flipH="0" flipV="0">
            <a:off x="5562600" y="3209925"/>
            <a:ext cx="361950" cy="0"/>
          </a:xfrm>
          <a:prstGeom xmlns:a="http://schemas.openxmlformats.org/drawingml/2006/main" prst="straightConnector1">
            <a:avLst/>
          </a:prstGeom>
          <a:ln xmlns:a="http://schemas.openxmlformats.org/drawingml/2006/main" w="23813">
            <a:solidFill>
              <a:srgbClr val="425672"/>
            </a:solidFill>
            <a:prstDash val="solid"/>
            <a:tailEnd type="triangle" w="sm" len="sm"/>
          </a:ln>
        </p:spPr>
      </p:cxnSp>
      <p:cxnSp>
        <p:nvCxnSpPr>
          <p:cNvPr id="32" name="wire-32">
            <a:extLst xmlns:a="http://schemas.openxmlformats.org/drawingml/2006/main">
              <a:ext uri="{FF2B5EF4-FFF2-40B4-BE49-F238E27FC236}">
                <a16:creationId xmlns:a16="http://schemas.microsoft.com/office/drawing/2014/main" id="{6EC358BE-C80B-4E98-85CD-42E7175F140C}"/>
              </a:ext>
            </a:extLst>
          </p:cNvPr>
          <p:cNvCxnSpPr/>
          <p:nvPr/>
        </p:nvCxnSpPr>
        <p:spPr>
          <a:xfrm xmlns:a="http://schemas.openxmlformats.org/drawingml/2006/main" flipH="0" flipV="0">
            <a:off x="3400425" y="3209925"/>
            <a:ext cx="523875" cy="0"/>
          </a:xfrm>
          <a:prstGeom xmlns:a="http://schemas.openxmlformats.org/drawingml/2006/main" prst="straightConnector1">
            <a:avLst/>
          </a:prstGeom>
          <a:ln xmlns:a="http://schemas.openxmlformats.org/drawingml/2006/main" w="23813">
            <a:solidFill>
              <a:srgbClr val="425672"/>
            </a:solidFill>
            <a:prstDash val="solid"/>
            <a:tailEnd type="triangle" w="sm" len="sm"/>
          </a:ln>
        </p:spPr>
      </p:cxnSp>
      <p:cxnSp>
        <p:nvCxnSpPr>
          <p:cNvPr id="31" name="wire-31">
            <a:extLst xmlns:a="http://schemas.openxmlformats.org/drawingml/2006/main">
              <a:ext uri="{FF2B5EF4-FFF2-40B4-BE49-F238E27FC236}">
                <a16:creationId xmlns:a16="http://schemas.microsoft.com/office/drawing/2014/main" id="{8028EB81-08A8-412A-AA2C-C446FB29676C}"/>
              </a:ext>
            </a:extLst>
          </p:cNvPr>
          <p:cNvCxnSpPr/>
          <p:nvPr/>
        </p:nvCxnSpPr>
        <p:spPr>
          <a:xfrm xmlns:a="http://schemas.openxmlformats.org/drawingml/2006/main" flipH="0" flipV="0">
            <a:off x="2257425" y="3209925"/>
            <a:ext cx="523875" cy="0"/>
          </a:xfrm>
          <a:prstGeom xmlns:a="http://schemas.openxmlformats.org/drawingml/2006/main" prst="straightConnector1">
            <a:avLst/>
          </a:prstGeom>
          <a:ln xmlns:a="http://schemas.openxmlformats.org/drawingml/2006/main" w="23813">
            <a:solidFill>
              <a:srgbClr val="425672"/>
            </a:solidFill>
            <a:prstDash val="solid"/>
            <a:tailEnd type="triangle" w="sm" len="sm"/>
          </a:ln>
        </p:spPr>
      </p:cxnSp>
      <p:cxnSp>
        <p:nvCxnSpPr>
          <p:cNvPr id="3" name="wire-3">
            <a:extLst xmlns:a="http://schemas.openxmlformats.org/drawingml/2006/main">
              <a:ext uri="{FF2B5EF4-FFF2-40B4-BE49-F238E27FC236}">
                <a16:creationId xmlns:a16="http://schemas.microsoft.com/office/drawing/2014/main" id="{DB7C0F61-2D24-46C7-AFAB-41632C79FE35}"/>
              </a:ext>
            </a:extLst>
          </p:cNvPr>
          <p:cNvCxnSpPr/>
          <p:nvPr/>
        </p:nvCxnSpPr>
        <p:spPr>
          <a:xfrm xmlns:a="http://schemas.openxmlformats.org/drawingml/2006/main" flipH="0" flipV="0">
            <a:off x="457200" y="1476375"/>
            <a:ext cx="11277600" cy="0"/>
          </a:xfrm>
          <a:prstGeom xmlns:a="http://schemas.openxmlformats.org/drawingml/2006/main" prst="straightConnector1">
            <a:avLst/>
          </a:prstGeom>
          <a:ln xmlns:a="http://schemas.openxmlformats.org/drawingml/2006/main" w="9525">
            <a:solidFill>
              <a:srgbClr val="CCD6E2"/>
            </a:solidFill>
            <a:prstDash val="solid"/>
            <a:tailEnd type="none" w="sm" len="sm"/>
          </a:ln>
        </p:spPr>
      </p:cxnSp>
      <p:sp>
        <p:nvSpPr>
          <p:cNvPr id="54" name="text-1">
            <a:extLst xmlns:a="http://schemas.openxmlformats.org/drawingml/2006/main">
              <a:ext uri="{FF2B5EF4-FFF2-40B4-BE49-F238E27FC236}">
                <a16:creationId xmlns:a16="http://schemas.microsoft.com/office/drawing/2014/main" id="{B77FDD55-94ED-4BEF-920F-87F6023E5C5F}"/>
              </a:ext>
            </a:extLst>
          </p:cNvPr>
          <p:cNvSpPr>
            <a:spLocks xmlns:a="http://schemas.openxmlformats.org/drawingml/2006/main" noGrp="1"/>
          </p:cNvSpPr>
          <p:nvPr/>
        </p:nvSpPr>
        <p:spPr>
          <a:xfrm xmlns:a="http://schemas.openxmlformats.org/drawingml/2006/main">
            <a:off x="457200" y="304800"/>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2B4D"/>
                </a:solidFill>
                <a:latin typeface="Arial"/>
                <a:ea typeface="Arial"/>
                <a:cs typeface="Arial"/>
              </a:defRPr>
            </a:defPPr>
          </a:lstStyle>
          <a:p xmlns:a="http://schemas.openxmlformats.org/drawingml/2006/main">
            <a:pPr algn="l">
              <a:defRPr sz="3300" b="1">
                <a:solidFill>
                  <a:srgbClr val="172B4D"/>
                </a:solidFill>
                <a:latin typeface="Arial"/>
                <a:ea typeface="Arial"/>
                <a:cs typeface="Arial"/>
              </a:defRPr>
            </a:pPr>
            <a:r>
              <a:rPr sz="3300" b="1">
                <a:solidFill>
                  <a:srgbClr val="172B4D"/>
                </a:solidFill>
                <a:latin typeface="Arial"/>
                <a:ea typeface="Arial"/>
                <a:cs typeface="Arial"/>
              </a:rPr>
              <a:t>Datapath nhân lặp: OPS, SAC và SBM</a:t>
            </a:r>
          </a:p>
        </p:txBody>
      </p:sp>
      <p:sp>
        <p:nvSpPr>
          <p:cNvPr id="2" name="text-2">
            <a:extLst xmlns:a="http://schemas.openxmlformats.org/drawingml/2006/main">
              <a:ext uri="{FF2B5EF4-FFF2-40B4-BE49-F238E27FC236}">
                <a16:creationId xmlns:a16="http://schemas.microsoft.com/office/drawing/2014/main" id="{566044D2-6BA1-4A92-9F5D-3D9B81B7ADCF}"/>
              </a:ext>
            </a:extLst>
          </p:cNvPr>
          <p:cNvSpPr>
            <a:spLocks xmlns:a="http://schemas.openxmlformats.org/drawingml/2006/main" noGrp="1"/>
          </p:cNvSpPr>
          <p:nvPr/>
        </p:nvSpPr>
        <p:spPr>
          <a:xfrm xmlns:a="http://schemas.openxmlformats.org/drawingml/2006/main">
            <a:off x="457200" y="942975"/>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3657D"/>
                </a:solidFill>
                <a:latin typeface="Arial"/>
                <a:ea typeface="Arial"/>
                <a:cs typeface="Arial"/>
              </a:defRPr>
            </a:defPPr>
          </a:lstStyle>
          <a:p xmlns:a="http://schemas.openxmlformats.org/drawingml/2006/main">
            <a:pPr algn="l">
              <a:defRPr sz="1800" b="0">
                <a:solidFill>
                  <a:srgbClr val="53657D"/>
                </a:solidFill>
                <a:latin typeface="Arial"/>
                <a:ea typeface="Arial"/>
                <a:cs typeface="Arial"/>
              </a:defRPr>
            </a:pPr>
            <a:r>
              <a:rPr sz="1800" b="0">
                <a:solidFill>
                  <a:srgbClr val="53657D"/>
                </a:solidFill>
                <a:latin typeface="Arial"/>
                <a:ea typeface="Arial"/>
                <a:cs typeface="Arial"/>
              </a:rPr>
              <a:t>Profile minh họa: posit32/ES=3, FRAC_W=12, FLOOR, EXACT_EN=1</a:t>
            </a:r>
          </a:p>
        </p:txBody>
      </p:sp>
      <p:sp>
        <p:nvSpPr>
          <p:cNvPr id="4" name="text-4">
            <a:extLst xmlns:a="http://schemas.openxmlformats.org/drawingml/2006/main">
              <a:ext uri="{FF2B5EF4-FFF2-40B4-BE49-F238E27FC236}">
                <a16:creationId xmlns:a16="http://schemas.microsoft.com/office/drawing/2014/main" id="{C717575F-071D-4B24-91F5-C2F80A567494}"/>
              </a:ext>
            </a:extLst>
          </p:cNvPr>
          <p:cNvSpPr>
            <a:spLocks xmlns:a="http://schemas.openxmlformats.org/drawingml/2006/main" noGrp="1"/>
          </p:cNvSpPr>
          <p:nvPr/>
        </p:nvSpPr>
        <p:spPr>
          <a:xfrm xmlns:a="http://schemas.openxmlformats.org/drawingml/2006/main">
            <a:off x="11001375" y="6429375"/>
            <a:ext cx="723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57D"/>
                </a:solidFill>
                <a:latin typeface="Arial"/>
                <a:ea typeface="Arial"/>
                <a:cs typeface="Arial"/>
              </a:defRPr>
            </a:defPPr>
          </a:lstStyle>
          <a:p xmlns:a="http://schemas.openxmlformats.org/drawingml/2006/main">
            <a:pPr algn="r">
              <a:defRPr sz="1350" b="0">
                <a:solidFill>
                  <a:srgbClr val="53657D"/>
                </a:solidFill>
                <a:latin typeface="Arial"/>
                <a:ea typeface="Arial"/>
                <a:cs typeface="Arial"/>
              </a:defRPr>
            </a:pPr>
            <a:r>
              <a:rPr sz="1350" b="0">
                <a:solidFill>
                  <a:srgbClr val="53657D"/>
                </a:solidFill>
                <a:latin typeface="Arial"/>
                <a:ea typeface="Arial"/>
                <a:cs typeface="Arial"/>
              </a:rPr>
              <a:t>1 / 7</a:t>
            </a:r>
          </a:p>
        </p:txBody>
      </p:sp>
      <p:sp>
        <p:nvSpPr>
          <p:cNvPr id="5" name="text-5">
            <a:extLst xmlns:a="http://schemas.openxmlformats.org/drawingml/2006/main">
              <a:ext uri="{FF2B5EF4-FFF2-40B4-BE49-F238E27FC236}">
                <a16:creationId xmlns:a16="http://schemas.microsoft.com/office/drawing/2014/main" id="{34AC464D-BA70-4EA9-96B5-C1F977025F45}"/>
              </a:ext>
            </a:extLst>
          </p:cNvPr>
          <p:cNvSpPr>
            <a:spLocks xmlns:a="http://schemas.openxmlformats.org/drawingml/2006/main" noGrp="1"/>
          </p:cNvSpPr>
          <p:nvPr/>
        </p:nvSpPr>
        <p:spPr>
          <a:xfrm xmlns:a="http://schemas.openxmlformats.org/drawingml/2006/main">
            <a:off x="428625" y="18859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53657D"/>
                </a:solidFill>
                <a:latin typeface="Arial"/>
                <a:ea typeface="Arial"/>
                <a:cs typeface="Arial"/>
              </a:defRPr>
            </a:defPPr>
          </a:lstStyle>
          <a:p xmlns:a="http://schemas.openxmlformats.org/drawingml/2006/main">
            <a:pPr algn="ctr">
              <a:defRPr sz="1725" b="0">
                <a:solidFill>
                  <a:srgbClr val="53657D"/>
                </a:solidFill>
                <a:latin typeface="Arial"/>
                <a:ea typeface="Arial"/>
                <a:cs typeface="Arial"/>
              </a:defRPr>
            </a:pPr>
            <a:r>
              <a:rPr sz="1725" b="0">
                <a:solidFill>
                  <a:srgbClr val="53657D"/>
                </a:solidFill>
                <a:latin typeface="Arial"/>
                <a:ea typeface="Arial"/>
                <a:cs typeface="Arial"/>
              </a:rPr>
              <a:t>A/B đã parse</a:t>
            </a:r>
          </a:p>
        </p:txBody>
      </p:sp>
      <p:sp>
        <p:nvSpPr>
          <p:cNvPr id="6" name="text-6">
            <a:extLst xmlns:a="http://schemas.openxmlformats.org/drawingml/2006/main">
              <a:ext uri="{FF2B5EF4-FFF2-40B4-BE49-F238E27FC236}">
                <a16:creationId xmlns:a16="http://schemas.microsoft.com/office/drawing/2014/main" id="{428BAE40-20B0-4B15-9716-2E6FE841ECC5}"/>
              </a:ext>
            </a:extLst>
          </p:cNvPr>
          <p:cNvSpPr>
            <a:spLocks xmlns:a="http://schemas.openxmlformats.org/drawingml/2006/main" noGrp="1"/>
          </p:cNvSpPr>
          <p:nvPr/>
        </p:nvSpPr>
        <p:spPr>
          <a:xfrm xmlns:a="http://schemas.openxmlformats.org/drawingml/2006/main">
            <a:off x="3000375" y="188595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244B83"/>
                </a:solidFill>
                <a:latin typeface="Arial"/>
                <a:ea typeface="Arial"/>
                <a:cs typeface="Arial"/>
              </a:defRPr>
            </a:defPPr>
          </a:lstStyle>
          <a:p xmlns:a="http://schemas.openxmlformats.org/drawingml/2006/main">
            <a:pPr algn="ctr">
              <a:defRPr sz="1725" b="0">
                <a:solidFill>
                  <a:srgbClr val="244B83"/>
                </a:solidFill>
                <a:latin typeface="Arial"/>
                <a:ea typeface="Arial"/>
                <a:cs typeface="Arial"/>
              </a:defRPr>
            </a:pPr>
            <a:r>
              <a:rPr sz="1725" b="0">
                <a:solidFill>
                  <a:srgbClr val="244B83"/>
                </a:solidFill>
                <a:latin typeface="Arial"/>
                <a:ea typeface="Arial"/>
                <a:cs typeface="Arial"/>
              </a:rPr>
              <a:t>L0: launch</a:t>
            </a:r>
          </a:p>
        </p:txBody>
      </p:sp>
      <p:sp>
        <p:nvSpPr>
          <p:cNvPr id="7" name="text-7">
            <a:extLst xmlns:a="http://schemas.openxmlformats.org/drawingml/2006/main">
              <a:ext uri="{FF2B5EF4-FFF2-40B4-BE49-F238E27FC236}">
                <a16:creationId xmlns:a16="http://schemas.microsoft.com/office/drawing/2014/main" id="{7FE82EF5-DEDB-410C-BA76-023E0D09E5F1}"/>
              </a:ext>
            </a:extLst>
          </p:cNvPr>
          <p:cNvSpPr>
            <a:spLocks xmlns:a="http://schemas.openxmlformats.org/drawingml/2006/main" noGrp="1"/>
          </p:cNvSpPr>
          <p:nvPr/>
        </p:nvSpPr>
        <p:spPr>
          <a:xfrm xmlns:a="http://schemas.openxmlformats.org/drawingml/2006/main">
            <a:off x="5905500" y="18859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244B83"/>
                </a:solidFill>
                <a:latin typeface="Arial"/>
                <a:ea typeface="Arial"/>
                <a:cs typeface="Arial"/>
              </a:defRPr>
            </a:defPPr>
          </a:lstStyle>
          <a:p xmlns:a="http://schemas.openxmlformats.org/drawingml/2006/main">
            <a:pPr algn="ctr">
              <a:defRPr sz="1725" b="0">
                <a:solidFill>
                  <a:srgbClr val="244B83"/>
                </a:solidFill>
                <a:latin typeface="Arial"/>
                <a:ea typeface="Arial"/>
                <a:cs typeface="Arial"/>
              </a:defRPr>
            </a:pPr>
            <a:r>
              <a:rPr sz="1725" b="0">
                <a:solidFill>
                  <a:srgbClr val="244B83"/>
                </a:solidFill>
                <a:latin typeface="Arial"/>
                <a:ea typeface="Arial"/>
                <a:cs typeface="Arial"/>
              </a:rPr>
              <a:t>L1</a:t>
            </a:r>
          </a:p>
        </p:txBody>
      </p:sp>
      <p:sp>
        <p:nvSpPr>
          <p:cNvPr id="8" name="text-8">
            <a:extLst xmlns:a="http://schemas.openxmlformats.org/drawingml/2006/main">
              <a:ext uri="{FF2B5EF4-FFF2-40B4-BE49-F238E27FC236}">
                <a16:creationId xmlns:a16="http://schemas.microsoft.com/office/drawing/2014/main" id="{65CBC90E-286E-4810-8F52-FB20C248AE6A}"/>
              </a:ext>
            </a:extLst>
          </p:cNvPr>
          <p:cNvSpPr>
            <a:spLocks xmlns:a="http://schemas.openxmlformats.org/drawingml/2006/main" noGrp="1"/>
          </p:cNvSpPr>
          <p:nvPr/>
        </p:nvSpPr>
        <p:spPr>
          <a:xfrm xmlns:a="http://schemas.openxmlformats.org/drawingml/2006/main">
            <a:off x="9029700" y="1885950"/>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244B83"/>
                </a:solidFill>
                <a:latin typeface="Arial"/>
                <a:ea typeface="Arial"/>
                <a:cs typeface="Arial"/>
              </a:defRPr>
            </a:defPPr>
          </a:lstStyle>
          <a:p xmlns:a="http://schemas.openxmlformats.org/drawingml/2006/main">
            <a:pPr algn="ctr">
              <a:defRPr sz="1725" b="0">
                <a:solidFill>
                  <a:srgbClr val="244B83"/>
                </a:solidFill>
                <a:latin typeface="Arial"/>
                <a:ea typeface="Arial"/>
                <a:cs typeface="Arial"/>
              </a:defRPr>
            </a:pPr>
            <a:r>
              <a:rPr sz="1725" b="0">
                <a:solidFill>
                  <a:srgbClr val="244B83"/>
                </a:solidFill>
                <a:latin typeface="Arial"/>
                <a:ea typeface="Arial"/>
                <a:cs typeface="Arial"/>
              </a:rPr>
              <a:t>L2</a:t>
            </a:r>
          </a:p>
        </p:txBody>
      </p:sp>
      <p:sp>
        <p:nvSpPr>
          <p:cNvPr id="9" name="text-9">
            <a:extLst xmlns:a="http://schemas.openxmlformats.org/drawingml/2006/main">
              <a:ext uri="{FF2B5EF4-FFF2-40B4-BE49-F238E27FC236}">
                <a16:creationId xmlns:a16="http://schemas.microsoft.com/office/drawing/2014/main" id="{EEDFEAF8-297F-4C0A-BA59-10FF092ED3D1}"/>
              </a:ext>
            </a:extLst>
          </p:cNvPr>
          <p:cNvSpPr>
            <a:spLocks xmlns:a="http://schemas.openxmlformats.org/drawingml/2006/main" noGrp="1"/>
          </p:cNvSpPr>
          <p:nvPr/>
        </p:nvSpPr>
        <p:spPr>
          <a:xfrm xmlns:a="http://schemas.openxmlformats.org/drawingml/2006/main">
            <a:off x="9944100" y="1885950"/>
            <a:ext cx="1666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244B83"/>
                </a:solidFill>
                <a:latin typeface="Arial"/>
                <a:ea typeface="Arial"/>
                <a:cs typeface="Arial"/>
              </a:defRPr>
            </a:defPPr>
          </a:lstStyle>
          <a:p xmlns:a="http://schemas.openxmlformats.org/drawingml/2006/main">
            <a:pPr algn="ctr">
              <a:defRPr sz="1725" b="0">
                <a:solidFill>
                  <a:srgbClr val="244B83"/>
                </a:solidFill>
                <a:latin typeface="Arial"/>
                <a:ea typeface="Arial"/>
                <a:cs typeface="Arial"/>
              </a:defRPr>
            </a:pPr>
            <a:r>
              <a:rPr sz="1725" b="0">
                <a:solidFill>
                  <a:srgbClr val="244B83"/>
                </a:solidFill>
                <a:latin typeface="Arial"/>
                <a:ea typeface="Arial"/>
                <a:cs typeface="Arial"/>
              </a:rPr>
              <a:t>L3: commit</a:t>
            </a:r>
          </a:p>
        </p:txBody>
      </p:sp>
      <p:sp>
        <p:nvSpPr>
          <p:cNvPr id="10" name="OPS-10">
            <a:extLst xmlns:a="http://schemas.openxmlformats.org/drawingml/2006/main">
              <a:ext uri="{FF2B5EF4-FFF2-40B4-BE49-F238E27FC236}">
                <a16:creationId xmlns:a16="http://schemas.microsoft.com/office/drawing/2014/main" id="{400B097F-7EE7-4BC8-AB53-A2C54B2DA732}"/>
              </a:ext>
            </a:extLst>
          </p:cNvPr>
          <p:cNvSpPr>
            <a:spLocks xmlns:a="http://schemas.openxmlformats.org/drawingml/2006/main" noGrp="1"/>
          </p:cNvSpPr>
          <p:nvPr/>
        </p:nvSpPr>
        <p:spPr>
          <a:xfrm xmlns:a="http://schemas.openxmlformats.org/drawingml/2006/main">
            <a:off x="609600" y="2638425"/>
            <a:ext cx="1647825" cy="1143000"/>
          </a:xfrm>
          <a:prstGeom xmlns:a="http://schemas.openxmlformats.org/drawingml/2006/main" prst="rect">
            <a:avLst/>
          </a:prstGeom>
          <a:solidFill xmlns:a="http://schemas.openxmlformats.org/drawingml/2006/main">
            <a:srgbClr val="E8F6F8"/>
          </a:solidFill>
          <a:ln xmlns:a="http://schemas.openxmlformats.org/drawingml/2006/main" w="19050">
            <a:solidFill>
              <a:srgbClr val="147D92"/>
            </a:solidFill>
          </a:ln>
        </p:spPr>
      </p:sp>
      <p:sp>
        <p:nvSpPr>
          <p:cNvPr id="11" name="text-11">
            <a:extLst xmlns:a="http://schemas.openxmlformats.org/drawingml/2006/main">
              <a:ext uri="{FF2B5EF4-FFF2-40B4-BE49-F238E27FC236}">
                <a16:creationId xmlns:a16="http://schemas.microsoft.com/office/drawing/2014/main" id="{8D7D72EA-EC2F-49B9-AB25-92183A5EA73C}"/>
              </a:ext>
            </a:extLst>
          </p:cNvPr>
          <p:cNvSpPr>
            <a:spLocks xmlns:a="http://schemas.openxmlformats.org/drawingml/2006/main" noGrp="1"/>
          </p:cNvSpPr>
          <p:nvPr/>
        </p:nvSpPr>
        <p:spPr>
          <a:xfrm xmlns:a="http://schemas.openxmlformats.org/drawingml/2006/main">
            <a:off x="704850" y="2762250"/>
            <a:ext cx="14573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147D92"/>
                </a:solidFill>
                <a:latin typeface="Arial"/>
                <a:ea typeface="Arial"/>
                <a:cs typeface="Arial"/>
              </a:defRPr>
            </a:defPPr>
          </a:lstStyle>
          <a:p xmlns:a="http://schemas.openxmlformats.org/drawingml/2006/main">
            <a:pPr algn="ctr">
              <a:defRPr sz="1950" b="1">
                <a:solidFill>
                  <a:srgbClr val="147D92"/>
                </a:solidFill>
                <a:latin typeface="Arial"/>
                <a:ea typeface="Arial"/>
                <a:cs typeface="Arial"/>
              </a:defRPr>
            </a:pPr>
            <a:r>
              <a:rPr sz="1950" b="1">
                <a:solidFill>
                  <a:srgbClr val="147D92"/>
                </a:solidFill>
                <a:latin typeface="Arial"/>
                <a:ea typeface="Arial"/>
                <a:cs typeface="Arial"/>
              </a:rPr>
              <a:t>OPS</a:t>
            </a:r>
          </a:p>
        </p:txBody>
      </p:sp>
      <p:sp>
        <p:nvSpPr>
          <p:cNvPr id="12" name="text-12">
            <a:extLst xmlns:a="http://schemas.openxmlformats.org/drawingml/2006/main">
              <a:ext uri="{FF2B5EF4-FFF2-40B4-BE49-F238E27FC236}">
                <a16:creationId xmlns:a16="http://schemas.microsoft.com/office/drawing/2014/main" id="{9DD8897B-ED31-45CF-AB30-54A5315DA788}"/>
              </a:ext>
            </a:extLst>
          </p:cNvPr>
          <p:cNvSpPr>
            <a:spLocks xmlns:a="http://schemas.openxmlformats.org/drawingml/2006/main" noGrp="1"/>
          </p:cNvSpPr>
          <p:nvPr/>
        </p:nvSpPr>
        <p:spPr>
          <a:xfrm xmlns:a="http://schemas.openxmlformats.org/drawingml/2006/main">
            <a:off x="704850" y="3133725"/>
            <a:ext cx="14573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defRPr sz="1725" b="0">
                <a:solidFill>
                  <a:srgbClr val="172B4D"/>
                </a:solidFill>
                <a:latin typeface="Arial"/>
                <a:ea typeface="Arial"/>
                <a:cs typeface="Arial"/>
              </a:defRPr>
            </a:pPr>
            <a:r>
              <a:rPr sz="1725" b="0">
                <a:solidFill>
                  <a:srgbClr val="172B4D"/>
                </a:solidFill>
                <a:latin typeface="Arial"/>
                <a:ea typeface="Arial"/>
                <a:cs typeface="Arial"/>
              </a:rPr>
              <a:t>Count / data</a:t>
            </a:r>
          </a:p>
          <a:p xmlns:a="http://schemas.openxmlformats.org/drawingml/2006/main">
            <a:pPr algn="ctr">
              <a:defRPr sz="1725" b="0">
                <a:solidFill>
                  <a:srgbClr val="172B4D"/>
                </a:solidFill>
                <a:latin typeface="Arial"/>
                <a:ea typeface="Arial"/>
                <a:cs typeface="Arial"/>
              </a:defRPr>
            </a:pPr>
            <a:r>
              <a:rPr sz="1725" b="0">
                <a:solidFill>
                  <a:srgbClr val="172B4D"/>
                </a:solidFill>
                <a:latin typeface="Arial"/>
                <a:ea typeface="Arial"/>
                <a:cs typeface="Arial"/>
              </a:rPr>
              <a:t>song song</a:t>
            </a:r>
          </a:p>
        </p:txBody>
      </p:sp>
      <p:sp>
        <p:nvSpPr>
          <p:cNvPr id="13" name="R0-13">
            <a:extLst xmlns:a="http://schemas.openxmlformats.org/drawingml/2006/main">
              <a:ext uri="{FF2B5EF4-FFF2-40B4-BE49-F238E27FC236}">
                <a16:creationId xmlns:a16="http://schemas.microsoft.com/office/drawing/2014/main" id="{E1EF8D61-06B1-46F7-BC22-BFF24AA057F0}"/>
              </a:ext>
            </a:extLst>
          </p:cNvPr>
          <p:cNvSpPr>
            <a:spLocks xmlns:a="http://schemas.openxmlformats.org/drawingml/2006/main" noGrp="1"/>
          </p:cNvSpPr>
          <p:nvPr/>
        </p:nvSpPr>
        <p:spPr>
          <a:xfrm xmlns:a="http://schemas.openxmlformats.org/drawingml/2006/main">
            <a:off x="2781300" y="2638425"/>
            <a:ext cx="619125" cy="1143000"/>
          </a:xfrm>
          <a:prstGeom xmlns:a="http://schemas.openxmlformats.org/drawingml/2006/main" prst="rect">
            <a:avLst/>
          </a:prstGeom>
          <a:solidFill xmlns:a="http://schemas.openxmlformats.org/drawingml/2006/main">
            <a:srgbClr val="EAF1FA"/>
          </a:solidFill>
          <a:ln xmlns:a="http://schemas.openxmlformats.org/drawingml/2006/main" w="19050">
            <a:solidFill>
              <a:srgbClr val="244B83"/>
            </a:solidFill>
          </a:ln>
        </p:spPr>
      </p:sp>
      <p:sp>
        <p:nvSpPr>
          <p:cNvPr id="14" name="clock-14">
            <a:extLst xmlns:a="http://schemas.openxmlformats.org/drawingml/2006/main">
              <a:ext uri="{FF2B5EF4-FFF2-40B4-BE49-F238E27FC236}">
                <a16:creationId xmlns:a16="http://schemas.microsoft.com/office/drawing/2014/main" id="{E3A39F83-6171-4EDE-ABFE-EF60FED5C53E}"/>
              </a:ext>
            </a:extLst>
          </p:cNvPr>
          <p:cNvSpPr>
            <a:spLocks xmlns:a="http://schemas.openxmlformats.org/drawingml/2006/main" noGrp="1"/>
          </p:cNvSpPr>
          <p:nvPr/>
        </p:nvSpPr>
        <p:spPr>
          <a:xfrm xmlns:a="http://schemas.openxmlformats.org/drawingml/2006/main">
            <a:off x="2781300" y="3562350"/>
            <a:ext cx="95250" cy="133350"/>
          </a:xfrm>
          <a:custGeom xmlns:a="http://schemas.openxmlformats.org/drawingml/2006/main">
            <a:pathLst>
              <a:path w="95250" h="133350">
                <a:moveTo>
                  <a:pt x="0" y="0"/>
                </a:moveTo>
                <a:lnTo>
                  <a:pt x="95250" y="66675"/>
                </a:lnTo>
                <a:lnTo>
                  <a:pt x="0" y="133350"/>
                </a:lnTo>
                <a:close/>
              </a:path>
            </a:pathLst>
          </a:custGeom>
          <a:solidFill xmlns:a="http://schemas.openxmlformats.org/drawingml/2006/main">
            <a:srgbClr val="FFFFFF"/>
          </a:solidFill>
          <a:ln xmlns:a="http://schemas.openxmlformats.org/drawingml/2006/main" w="19050">
            <a:solidFill>
              <a:srgbClr val="244B83"/>
            </a:solidFill>
          </a:ln>
        </p:spPr>
      </p:sp>
      <p:sp>
        <p:nvSpPr>
          <p:cNvPr id="15" name="text-15">
            <a:extLst xmlns:a="http://schemas.openxmlformats.org/drawingml/2006/main">
              <a:ext uri="{FF2B5EF4-FFF2-40B4-BE49-F238E27FC236}">
                <a16:creationId xmlns:a16="http://schemas.microsoft.com/office/drawing/2014/main" id="{C5826471-82B2-4CC4-9E14-7BCBFCBE1817}"/>
              </a:ext>
            </a:extLst>
          </p:cNvPr>
          <p:cNvSpPr>
            <a:spLocks xmlns:a="http://schemas.openxmlformats.org/drawingml/2006/main" noGrp="1"/>
          </p:cNvSpPr>
          <p:nvPr/>
        </p:nvSpPr>
        <p:spPr>
          <a:xfrm xmlns:a="http://schemas.openxmlformats.org/drawingml/2006/main">
            <a:off x="2819400" y="2781300"/>
            <a:ext cx="5429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244B83"/>
                </a:solidFill>
                <a:latin typeface="Arial"/>
                <a:ea typeface="Arial"/>
                <a:cs typeface="Arial"/>
              </a:defRPr>
            </a:defPPr>
          </a:lstStyle>
          <a:p xmlns:a="http://schemas.openxmlformats.org/drawingml/2006/main">
            <a:pPr algn="ctr">
              <a:defRPr sz="1800" b="1">
                <a:solidFill>
                  <a:srgbClr val="244B83"/>
                </a:solidFill>
                <a:latin typeface="Arial"/>
                <a:ea typeface="Arial"/>
                <a:cs typeface="Arial"/>
              </a:defRPr>
            </a:pPr>
            <a:r>
              <a:rPr sz="1800" b="1">
                <a:solidFill>
                  <a:srgbClr val="244B83"/>
                </a:solidFill>
                <a:latin typeface="Arial"/>
                <a:ea typeface="Arial"/>
                <a:cs typeface="Arial"/>
              </a:rPr>
              <a:t>R0</a:t>
            </a:r>
          </a:p>
        </p:txBody>
      </p:sp>
      <p:sp>
        <p:nvSpPr>
          <p:cNvPr id="16" name="SAC-16">
            <a:extLst xmlns:a="http://schemas.openxmlformats.org/drawingml/2006/main">
              <a:ext uri="{FF2B5EF4-FFF2-40B4-BE49-F238E27FC236}">
                <a16:creationId xmlns:a16="http://schemas.microsoft.com/office/drawing/2014/main" id="{D8F066B1-C2B5-4E21-AB9A-CD7B88EDE44D}"/>
              </a:ext>
            </a:extLst>
          </p:cNvPr>
          <p:cNvSpPr>
            <a:spLocks xmlns:a="http://schemas.openxmlformats.org/drawingml/2006/main" noGrp="1"/>
          </p:cNvSpPr>
          <p:nvPr/>
        </p:nvSpPr>
        <p:spPr>
          <a:xfrm xmlns:a="http://schemas.openxmlformats.org/drawingml/2006/main">
            <a:off x="3924300" y="2638425"/>
            <a:ext cx="1638300" cy="1143000"/>
          </a:xfrm>
          <a:prstGeom xmlns:a="http://schemas.openxmlformats.org/drawingml/2006/main" prst="rect">
            <a:avLst/>
          </a:prstGeom>
          <a:solidFill xmlns:a="http://schemas.openxmlformats.org/drawingml/2006/main">
            <a:srgbClr val="FFF4DD"/>
          </a:solidFill>
          <a:ln xmlns:a="http://schemas.openxmlformats.org/drawingml/2006/main" w="19050">
            <a:solidFill>
              <a:srgbClr val="A76807"/>
            </a:solidFill>
          </a:ln>
        </p:spPr>
      </p:sp>
      <p:sp>
        <p:nvSpPr>
          <p:cNvPr id="17" name="text-17">
            <a:extLst xmlns:a="http://schemas.openxmlformats.org/drawingml/2006/main">
              <a:ext uri="{FF2B5EF4-FFF2-40B4-BE49-F238E27FC236}">
                <a16:creationId xmlns:a16="http://schemas.microsoft.com/office/drawing/2014/main" id="{016956D0-A406-4209-BFA6-9A2880508CA1}"/>
              </a:ext>
            </a:extLst>
          </p:cNvPr>
          <p:cNvSpPr>
            <a:spLocks xmlns:a="http://schemas.openxmlformats.org/drawingml/2006/main" noGrp="1"/>
          </p:cNvSpPr>
          <p:nvPr/>
        </p:nvSpPr>
        <p:spPr>
          <a:xfrm xmlns:a="http://schemas.openxmlformats.org/drawingml/2006/main">
            <a:off x="4019550" y="2762250"/>
            <a:ext cx="1447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A76807"/>
                </a:solidFill>
                <a:latin typeface="Arial"/>
                <a:ea typeface="Arial"/>
                <a:cs typeface="Arial"/>
              </a:defRPr>
            </a:defPPr>
          </a:lstStyle>
          <a:p xmlns:a="http://schemas.openxmlformats.org/drawingml/2006/main">
            <a:pPr algn="ctr">
              <a:defRPr sz="1950" b="1">
                <a:solidFill>
                  <a:srgbClr val="A76807"/>
                </a:solidFill>
                <a:latin typeface="Arial"/>
                <a:ea typeface="Arial"/>
                <a:cs typeface="Arial"/>
              </a:defRPr>
            </a:pPr>
            <a:r>
              <a:rPr sz="1950" b="1">
                <a:solidFill>
                  <a:srgbClr val="A76807"/>
                </a:solidFill>
                <a:latin typeface="Arial"/>
                <a:ea typeface="Arial"/>
                <a:cs typeface="Arial"/>
              </a:rPr>
              <a:t>SAC</a:t>
            </a:r>
          </a:p>
        </p:txBody>
      </p:sp>
      <p:sp>
        <p:nvSpPr>
          <p:cNvPr id="18" name="text-18">
            <a:extLst xmlns:a="http://schemas.openxmlformats.org/drawingml/2006/main">
              <a:ext uri="{FF2B5EF4-FFF2-40B4-BE49-F238E27FC236}">
                <a16:creationId xmlns:a16="http://schemas.microsoft.com/office/drawing/2014/main" id="{4B4E4220-8F9C-4202-9C84-4D086D0C178E}"/>
              </a:ext>
            </a:extLst>
          </p:cNvPr>
          <p:cNvSpPr>
            <a:spLocks xmlns:a="http://schemas.openxmlformats.org/drawingml/2006/main" noGrp="1"/>
          </p:cNvSpPr>
          <p:nvPr/>
        </p:nvSpPr>
        <p:spPr>
          <a:xfrm xmlns:a="http://schemas.openxmlformats.org/drawingml/2006/main">
            <a:off x="4019550" y="3133725"/>
            <a:ext cx="144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defRPr sz="1725" b="0">
                <a:solidFill>
                  <a:srgbClr val="172B4D"/>
                </a:solidFill>
                <a:latin typeface="Arial"/>
                <a:ea typeface="Arial"/>
                <a:cs typeface="Arial"/>
              </a:defRPr>
            </a:pPr>
            <a:r>
              <a:rPr sz="1725" b="0">
                <a:solidFill>
                  <a:srgbClr val="172B4D"/>
                </a:solidFill>
                <a:latin typeface="Arial"/>
                <a:ea typeface="Arial"/>
                <a:cs typeface="Arial"/>
              </a:rPr>
              <a:t>Tạo S</a:t>
            </a:r>
          </a:p>
          <a:p xmlns:a="http://schemas.openxmlformats.org/drawingml/2006/main">
            <a:pPr algn="ctr">
              <a:defRPr sz="1725" b="0">
                <a:solidFill>
                  <a:srgbClr val="172B4D"/>
                </a:solidFill>
                <a:latin typeface="Arial"/>
                <a:ea typeface="Arial"/>
                <a:cs typeface="Arial"/>
              </a:defRPr>
            </a:pPr>
            <a:r>
              <a:rPr sz="1725" b="0">
                <a:solidFill>
                  <a:srgbClr val="172B4D"/>
                </a:solidFill>
                <a:latin typeface="Arial"/>
                <a:ea typeface="Arial"/>
                <a:cs typeface="Arial"/>
              </a:rPr>
              <a:t>Cập nhật fx</a:t>
            </a:r>
          </a:p>
        </p:txBody>
      </p:sp>
      <p:sp>
        <p:nvSpPr>
          <p:cNvPr id="19" name="R1-19">
            <a:extLst xmlns:a="http://schemas.openxmlformats.org/drawingml/2006/main">
              <a:ext uri="{FF2B5EF4-FFF2-40B4-BE49-F238E27FC236}">
                <a16:creationId xmlns:a16="http://schemas.microsoft.com/office/drawing/2014/main" id="{3FF009A2-186B-43CA-B5B3-D5E7496B9FA0}"/>
              </a:ext>
            </a:extLst>
          </p:cNvPr>
          <p:cNvSpPr>
            <a:spLocks xmlns:a="http://schemas.openxmlformats.org/drawingml/2006/main" noGrp="1"/>
          </p:cNvSpPr>
          <p:nvPr/>
        </p:nvSpPr>
        <p:spPr>
          <a:xfrm xmlns:a="http://schemas.openxmlformats.org/drawingml/2006/main">
            <a:off x="5924550" y="2638425"/>
            <a:ext cx="600075" cy="1143000"/>
          </a:xfrm>
          <a:prstGeom xmlns:a="http://schemas.openxmlformats.org/drawingml/2006/main" prst="rect">
            <a:avLst/>
          </a:prstGeom>
          <a:solidFill xmlns:a="http://schemas.openxmlformats.org/drawingml/2006/main">
            <a:srgbClr val="EAF1FA"/>
          </a:solidFill>
          <a:ln xmlns:a="http://schemas.openxmlformats.org/drawingml/2006/main" w="19050">
            <a:solidFill>
              <a:srgbClr val="244B83"/>
            </a:solidFill>
          </a:ln>
        </p:spPr>
      </p:sp>
      <p:sp>
        <p:nvSpPr>
          <p:cNvPr id="20" name="clock-20">
            <a:extLst xmlns:a="http://schemas.openxmlformats.org/drawingml/2006/main">
              <a:ext uri="{FF2B5EF4-FFF2-40B4-BE49-F238E27FC236}">
                <a16:creationId xmlns:a16="http://schemas.microsoft.com/office/drawing/2014/main" id="{294B34A2-0419-41FE-A0EE-4DFF58056650}"/>
              </a:ext>
            </a:extLst>
          </p:cNvPr>
          <p:cNvSpPr>
            <a:spLocks xmlns:a="http://schemas.openxmlformats.org/drawingml/2006/main" noGrp="1"/>
          </p:cNvSpPr>
          <p:nvPr/>
        </p:nvSpPr>
        <p:spPr>
          <a:xfrm xmlns:a="http://schemas.openxmlformats.org/drawingml/2006/main">
            <a:off x="5924550" y="3562350"/>
            <a:ext cx="95250" cy="133350"/>
          </a:xfrm>
          <a:custGeom xmlns:a="http://schemas.openxmlformats.org/drawingml/2006/main">
            <a:pathLst>
              <a:path w="95250" h="133350">
                <a:moveTo>
                  <a:pt x="0" y="0"/>
                </a:moveTo>
                <a:lnTo>
                  <a:pt x="95250" y="66675"/>
                </a:lnTo>
                <a:lnTo>
                  <a:pt x="0" y="133350"/>
                </a:lnTo>
                <a:close/>
              </a:path>
            </a:pathLst>
          </a:custGeom>
          <a:solidFill xmlns:a="http://schemas.openxmlformats.org/drawingml/2006/main">
            <a:srgbClr val="FFFFFF"/>
          </a:solidFill>
          <a:ln xmlns:a="http://schemas.openxmlformats.org/drawingml/2006/main" w="19050">
            <a:solidFill>
              <a:srgbClr val="244B83"/>
            </a:solidFill>
          </a:ln>
        </p:spPr>
      </p:sp>
      <p:sp>
        <p:nvSpPr>
          <p:cNvPr id="21" name="text-21">
            <a:extLst xmlns:a="http://schemas.openxmlformats.org/drawingml/2006/main">
              <a:ext uri="{FF2B5EF4-FFF2-40B4-BE49-F238E27FC236}">
                <a16:creationId xmlns:a16="http://schemas.microsoft.com/office/drawing/2014/main" id="{B07EEB60-F278-4F56-8B16-150757597C15}"/>
              </a:ext>
            </a:extLst>
          </p:cNvPr>
          <p:cNvSpPr>
            <a:spLocks xmlns:a="http://schemas.openxmlformats.org/drawingml/2006/main" noGrp="1"/>
          </p:cNvSpPr>
          <p:nvPr/>
        </p:nvSpPr>
        <p:spPr>
          <a:xfrm xmlns:a="http://schemas.openxmlformats.org/drawingml/2006/main">
            <a:off x="5962650" y="2781300"/>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244B83"/>
                </a:solidFill>
                <a:latin typeface="Arial"/>
                <a:ea typeface="Arial"/>
                <a:cs typeface="Arial"/>
              </a:defRPr>
            </a:defPPr>
          </a:lstStyle>
          <a:p xmlns:a="http://schemas.openxmlformats.org/drawingml/2006/main">
            <a:pPr algn="ctr">
              <a:defRPr sz="1800" b="1">
                <a:solidFill>
                  <a:srgbClr val="244B83"/>
                </a:solidFill>
                <a:latin typeface="Arial"/>
                <a:ea typeface="Arial"/>
                <a:cs typeface="Arial"/>
              </a:defRPr>
            </a:pPr>
            <a:r>
              <a:rPr sz="1800" b="1">
                <a:solidFill>
                  <a:srgbClr val="244B83"/>
                </a:solidFill>
                <a:latin typeface="Arial"/>
                <a:ea typeface="Arial"/>
                <a:cs typeface="Arial"/>
              </a:rPr>
              <a:t>R1</a:t>
            </a:r>
          </a:p>
        </p:txBody>
      </p:sp>
      <p:sp>
        <p:nvSpPr>
          <p:cNvPr id="22" name="SBM Shift-22">
            <a:extLst xmlns:a="http://schemas.openxmlformats.org/drawingml/2006/main">
              <a:ext uri="{FF2B5EF4-FFF2-40B4-BE49-F238E27FC236}">
                <a16:creationId xmlns:a16="http://schemas.microsoft.com/office/drawing/2014/main" id="{4231332D-DF16-41E7-B530-72000C0D4A11}"/>
              </a:ext>
            </a:extLst>
          </p:cNvPr>
          <p:cNvSpPr>
            <a:spLocks xmlns:a="http://schemas.openxmlformats.org/drawingml/2006/main" noGrp="1"/>
          </p:cNvSpPr>
          <p:nvPr/>
        </p:nvSpPr>
        <p:spPr>
          <a:xfrm xmlns:a="http://schemas.openxmlformats.org/drawingml/2006/main">
            <a:off x="6962775" y="2638425"/>
            <a:ext cx="1571625" cy="1143000"/>
          </a:xfrm>
          <a:prstGeom xmlns:a="http://schemas.openxmlformats.org/drawingml/2006/main" prst="rect">
            <a:avLst/>
          </a:prstGeom>
          <a:solidFill xmlns:a="http://schemas.openxmlformats.org/drawingml/2006/main">
            <a:srgbClr val="F2ECFC"/>
          </a:solidFill>
          <a:ln xmlns:a="http://schemas.openxmlformats.org/drawingml/2006/main" w="19050">
            <a:solidFill>
              <a:srgbClr val="6943B9"/>
            </a:solidFill>
          </a:ln>
        </p:spPr>
      </p:sp>
      <p:sp>
        <p:nvSpPr>
          <p:cNvPr id="23" name="text-23">
            <a:extLst xmlns:a="http://schemas.openxmlformats.org/drawingml/2006/main">
              <a:ext uri="{FF2B5EF4-FFF2-40B4-BE49-F238E27FC236}">
                <a16:creationId xmlns:a16="http://schemas.microsoft.com/office/drawing/2014/main" id="{DB182F6C-0AEC-4D35-A890-D4CDF2FAF28B}"/>
              </a:ext>
            </a:extLst>
          </p:cNvPr>
          <p:cNvSpPr>
            <a:spLocks xmlns:a="http://schemas.openxmlformats.org/drawingml/2006/main" noGrp="1"/>
          </p:cNvSpPr>
          <p:nvPr/>
        </p:nvSpPr>
        <p:spPr>
          <a:xfrm xmlns:a="http://schemas.openxmlformats.org/drawingml/2006/main">
            <a:off x="7058025" y="2762250"/>
            <a:ext cx="1381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6943B9"/>
                </a:solidFill>
                <a:latin typeface="Arial"/>
                <a:ea typeface="Arial"/>
                <a:cs typeface="Arial"/>
              </a:defRPr>
            </a:defPPr>
          </a:lstStyle>
          <a:p xmlns:a="http://schemas.openxmlformats.org/drawingml/2006/main">
            <a:pPr algn="ctr">
              <a:defRPr sz="1950" b="1">
                <a:solidFill>
                  <a:srgbClr val="6943B9"/>
                </a:solidFill>
                <a:latin typeface="Arial"/>
                <a:ea typeface="Arial"/>
                <a:cs typeface="Arial"/>
              </a:defRPr>
            </a:pPr>
            <a:r>
              <a:rPr sz="1950" b="1">
                <a:solidFill>
                  <a:srgbClr val="6943B9"/>
                </a:solidFill>
                <a:latin typeface="Arial"/>
                <a:ea typeface="Arial"/>
                <a:cs typeface="Arial"/>
              </a:rPr>
              <a:t>SBM Shift</a:t>
            </a:r>
          </a:p>
        </p:txBody>
      </p:sp>
      <p:sp>
        <p:nvSpPr>
          <p:cNvPr id="24" name="text-24">
            <a:extLst xmlns:a="http://schemas.openxmlformats.org/drawingml/2006/main">
              <a:ext uri="{FF2B5EF4-FFF2-40B4-BE49-F238E27FC236}">
                <a16:creationId xmlns:a16="http://schemas.microsoft.com/office/drawing/2014/main" id="{D78D3F69-3527-4D6C-B42A-984726EDE461}"/>
              </a:ext>
            </a:extLst>
          </p:cNvPr>
          <p:cNvSpPr>
            <a:spLocks xmlns:a="http://schemas.openxmlformats.org/drawingml/2006/main" noGrp="1"/>
          </p:cNvSpPr>
          <p:nvPr/>
        </p:nvSpPr>
        <p:spPr>
          <a:xfrm xmlns:a="http://schemas.openxmlformats.org/drawingml/2006/main">
            <a:off x="7058025" y="3133725"/>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defRPr sz="1725" b="0">
                <a:solidFill>
                  <a:srgbClr val="172B4D"/>
                </a:solidFill>
                <a:latin typeface="Arial"/>
                <a:ea typeface="Arial"/>
                <a:cs typeface="Arial"/>
              </a:defRPr>
            </a:pPr>
            <a:r>
              <a:rPr sz="1725" b="0">
                <a:solidFill>
                  <a:srgbClr val="172B4D"/>
                </a:solidFill>
                <a:latin typeface="Arial"/>
                <a:ea typeface="Arial"/>
                <a:cs typeface="Arial"/>
              </a:rPr>
              <a:t>Dịch Y</a:t>
            </a:r>
          </a:p>
          <a:p xmlns:a="http://schemas.openxmlformats.org/drawingml/2006/main">
            <a:pPr algn="ctr">
              <a:defRPr sz="1725" b="0">
                <a:solidFill>
                  <a:srgbClr val="172B4D"/>
                </a:solidFill>
                <a:latin typeface="Arial"/>
                <a:ea typeface="Arial"/>
                <a:cs typeface="Arial"/>
              </a:defRPr>
            </a:pPr>
            <a:r>
              <a:rPr sz="1725" b="0">
                <a:solidFill>
                  <a:srgbClr val="172B4D"/>
                </a:solidFill>
                <a:latin typeface="Arial"/>
                <a:ea typeface="Arial"/>
                <a:cs typeface="Arial"/>
              </a:rPr>
              <a:t>Cắt term</a:t>
            </a:r>
          </a:p>
        </p:txBody>
      </p:sp>
      <p:sp>
        <p:nvSpPr>
          <p:cNvPr id="25" name="R2-25">
            <a:extLst xmlns:a="http://schemas.openxmlformats.org/drawingml/2006/main">
              <a:ext uri="{FF2B5EF4-FFF2-40B4-BE49-F238E27FC236}">
                <a16:creationId xmlns:a16="http://schemas.microsoft.com/office/drawing/2014/main" id="{126513EA-0A15-4445-8185-590C64B5E6DD}"/>
              </a:ext>
            </a:extLst>
          </p:cNvPr>
          <p:cNvSpPr>
            <a:spLocks xmlns:a="http://schemas.openxmlformats.org/drawingml/2006/main" noGrp="1"/>
          </p:cNvSpPr>
          <p:nvPr/>
        </p:nvSpPr>
        <p:spPr>
          <a:xfrm xmlns:a="http://schemas.openxmlformats.org/drawingml/2006/main">
            <a:off x="9029700" y="2638425"/>
            <a:ext cx="600075" cy="1143000"/>
          </a:xfrm>
          <a:prstGeom xmlns:a="http://schemas.openxmlformats.org/drawingml/2006/main" prst="rect">
            <a:avLst/>
          </a:prstGeom>
          <a:solidFill xmlns:a="http://schemas.openxmlformats.org/drawingml/2006/main">
            <a:srgbClr val="EAF1FA"/>
          </a:solidFill>
          <a:ln xmlns:a="http://schemas.openxmlformats.org/drawingml/2006/main" w="19050">
            <a:solidFill>
              <a:srgbClr val="244B83"/>
            </a:solidFill>
          </a:ln>
        </p:spPr>
      </p:sp>
      <p:sp>
        <p:nvSpPr>
          <p:cNvPr id="26" name="clock-26">
            <a:extLst xmlns:a="http://schemas.openxmlformats.org/drawingml/2006/main">
              <a:ext uri="{FF2B5EF4-FFF2-40B4-BE49-F238E27FC236}">
                <a16:creationId xmlns:a16="http://schemas.microsoft.com/office/drawing/2014/main" id="{6A3752EC-0FCD-4399-89CC-E59299F67B6D}"/>
              </a:ext>
            </a:extLst>
          </p:cNvPr>
          <p:cNvSpPr>
            <a:spLocks xmlns:a="http://schemas.openxmlformats.org/drawingml/2006/main" noGrp="1"/>
          </p:cNvSpPr>
          <p:nvPr/>
        </p:nvSpPr>
        <p:spPr>
          <a:xfrm xmlns:a="http://schemas.openxmlformats.org/drawingml/2006/main">
            <a:off x="9029700" y="3562350"/>
            <a:ext cx="95250" cy="133350"/>
          </a:xfrm>
          <a:custGeom xmlns:a="http://schemas.openxmlformats.org/drawingml/2006/main">
            <a:pathLst>
              <a:path w="95250" h="133350">
                <a:moveTo>
                  <a:pt x="0" y="0"/>
                </a:moveTo>
                <a:lnTo>
                  <a:pt x="95250" y="66675"/>
                </a:lnTo>
                <a:lnTo>
                  <a:pt x="0" y="133350"/>
                </a:lnTo>
                <a:close/>
              </a:path>
            </a:pathLst>
          </a:custGeom>
          <a:solidFill xmlns:a="http://schemas.openxmlformats.org/drawingml/2006/main">
            <a:srgbClr val="FFFFFF"/>
          </a:solidFill>
          <a:ln xmlns:a="http://schemas.openxmlformats.org/drawingml/2006/main" w="19050">
            <a:solidFill>
              <a:srgbClr val="244B83"/>
            </a:solidFill>
          </a:ln>
        </p:spPr>
      </p:sp>
      <p:sp>
        <p:nvSpPr>
          <p:cNvPr id="27" name="text-27">
            <a:extLst xmlns:a="http://schemas.openxmlformats.org/drawingml/2006/main">
              <a:ext uri="{FF2B5EF4-FFF2-40B4-BE49-F238E27FC236}">
                <a16:creationId xmlns:a16="http://schemas.microsoft.com/office/drawing/2014/main" id="{7C3670B5-F309-485A-9B50-C19F4AA3A036}"/>
              </a:ext>
            </a:extLst>
          </p:cNvPr>
          <p:cNvSpPr>
            <a:spLocks xmlns:a="http://schemas.openxmlformats.org/drawingml/2006/main" noGrp="1"/>
          </p:cNvSpPr>
          <p:nvPr/>
        </p:nvSpPr>
        <p:spPr>
          <a:xfrm xmlns:a="http://schemas.openxmlformats.org/drawingml/2006/main">
            <a:off x="9067800" y="2781300"/>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244B83"/>
                </a:solidFill>
                <a:latin typeface="Arial"/>
                <a:ea typeface="Arial"/>
                <a:cs typeface="Arial"/>
              </a:defRPr>
            </a:defPPr>
          </a:lstStyle>
          <a:p xmlns:a="http://schemas.openxmlformats.org/drawingml/2006/main">
            <a:pPr algn="ctr">
              <a:defRPr sz="1800" b="1">
                <a:solidFill>
                  <a:srgbClr val="244B83"/>
                </a:solidFill>
                <a:latin typeface="Arial"/>
                <a:ea typeface="Arial"/>
                <a:cs typeface="Arial"/>
              </a:defRPr>
            </a:pPr>
            <a:r>
              <a:rPr sz="1800" b="1">
                <a:solidFill>
                  <a:srgbClr val="244B83"/>
                </a:solidFill>
                <a:latin typeface="Arial"/>
                <a:ea typeface="Arial"/>
                <a:cs typeface="Arial"/>
              </a:rPr>
              <a:t>R2</a:t>
            </a:r>
          </a:p>
        </p:txBody>
      </p:sp>
      <p:sp>
        <p:nvSpPr>
          <p:cNvPr id="28" name="SBM Acc-28">
            <a:extLst xmlns:a="http://schemas.openxmlformats.org/drawingml/2006/main">
              <a:ext uri="{FF2B5EF4-FFF2-40B4-BE49-F238E27FC236}">
                <a16:creationId xmlns:a16="http://schemas.microsoft.com/office/drawing/2014/main" id="{BDCAFDD5-3B05-407E-8F26-B0E6D6714E71}"/>
              </a:ext>
            </a:extLst>
          </p:cNvPr>
          <p:cNvSpPr>
            <a:spLocks xmlns:a="http://schemas.openxmlformats.org/drawingml/2006/main" noGrp="1"/>
          </p:cNvSpPr>
          <p:nvPr/>
        </p:nvSpPr>
        <p:spPr>
          <a:xfrm xmlns:a="http://schemas.openxmlformats.org/drawingml/2006/main">
            <a:off x="10058400" y="2638425"/>
            <a:ext cx="1676400" cy="1143000"/>
          </a:xfrm>
          <a:prstGeom xmlns:a="http://schemas.openxmlformats.org/drawingml/2006/main" prst="rect">
            <a:avLst/>
          </a:prstGeom>
          <a:solidFill xmlns:a="http://schemas.openxmlformats.org/drawingml/2006/main">
            <a:srgbClr val="F2ECFC"/>
          </a:solidFill>
          <a:ln xmlns:a="http://schemas.openxmlformats.org/drawingml/2006/main" w="19050">
            <a:solidFill>
              <a:srgbClr val="6943B9"/>
            </a:solidFill>
          </a:ln>
        </p:spPr>
      </p:sp>
      <p:sp>
        <p:nvSpPr>
          <p:cNvPr id="29" name="text-29">
            <a:extLst xmlns:a="http://schemas.openxmlformats.org/drawingml/2006/main">
              <a:ext uri="{FF2B5EF4-FFF2-40B4-BE49-F238E27FC236}">
                <a16:creationId xmlns:a16="http://schemas.microsoft.com/office/drawing/2014/main" id="{53DEEC81-EADB-4B89-B242-3D2B4EC334DB}"/>
              </a:ext>
            </a:extLst>
          </p:cNvPr>
          <p:cNvSpPr>
            <a:spLocks xmlns:a="http://schemas.openxmlformats.org/drawingml/2006/main" noGrp="1"/>
          </p:cNvSpPr>
          <p:nvPr/>
        </p:nvSpPr>
        <p:spPr>
          <a:xfrm xmlns:a="http://schemas.openxmlformats.org/drawingml/2006/main">
            <a:off x="10153650" y="2762250"/>
            <a:ext cx="1485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6943B9"/>
                </a:solidFill>
                <a:latin typeface="Arial"/>
                <a:ea typeface="Arial"/>
                <a:cs typeface="Arial"/>
              </a:defRPr>
            </a:defPPr>
          </a:lstStyle>
          <a:p xmlns:a="http://schemas.openxmlformats.org/drawingml/2006/main">
            <a:pPr algn="ctr">
              <a:defRPr sz="1950" b="1">
                <a:solidFill>
                  <a:srgbClr val="6943B9"/>
                </a:solidFill>
                <a:latin typeface="Arial"/>
                <a:ea typeface="Arial"/>
                <a:cs typeface="Arial"/>
              </a:defRPr>
            </a:pPr>
            <a:r>
              <a:rPr sz="1950" b="1">
                <a:solidFill>
                  <a:srgbClr val="6943B9"/>
                </a:solidFill>
                <a:latin typeface="Arial"/>
                <a:ea typeface="Arial"/>
                <a:cs typeface="Arial"/>
              </a:rPr>
              <a:t>SBM Acc</a:t>
            </a:r>
          </a:p>
        </p:txBody>
      </p:sp>
      <p:sp>
        <p:nvSpPr>
          <p:cNvPr id="30" name="text-30">
            <a:extLst xmlns:a="http://schemas.openxmlformats.org/drawingml/2006/main">
              <a:ext uri="{FF2B5EF4-FFF2-40B4-BE49-F238E27FC236}">
                <a16:creationId xmlns:a16="http://schemas.microsoft.com/office/drawing/2014/main" id="{BD593AEA-9F1C-49AC-8B17-F2334F57D76D}"/>
              </a:ext>
            </a:extLst>
          </p:cNvPr>
          <p:cNvSpPr>
            <a:spLocks xmlns:a="http://schemas.openxmlformats.org/drawingml/2006/main" noGrp="1"/>
          </p:cNvSpPr>
          <p:nvPr/>
        </p:nvSpPr>
        <p:spPr>
          <a:xfrm xmlns:a="http://schemas.openxmlformats.org/drawingml/2006/main">
            <a:off x="10153650" y="3133725"/>
            <a:ext cx="1485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defRPr sz="1725" b="0">
                <a:solidFill>
                  <a:srgbClr val="172B4D"/>
                </a:solidFill>
                <a:latin typeface="Arial"/>
                <a:ea typeface="Arial"/>
                <a:cs typeface="Arial"/>
              </a:defRPr>
            </a:pPr>
            <a:r>
              <a:rPr sz="1725" b="0">
                <a:solidFill>
                  <a:srgbClr val="172B4D"/>
                </a:solidFill>
                <a:latin typeface="Arial"/>
                <a:ea typeface="Arial"/>
                <a:cs typeface="Arial"/>
              </a:rPr>
              <a:t>Cộng term</a:t>
            </a:r>
          </a:p>
          <a:p xmlns:a="http://schemas.openxmlformats.org/drawingml/2006/main">
            <a:pPr algn="ctr">
              <a:defRPr sz="1725" b="0">
                <a:solidFill>
                  <a:srgbClr val="172B4D"/>
                </a:solidFill>
                <a:latin typeface="Arial"/>
                <a:ea typeface="Arial"/>
                <a:cs typeface="Arial"/>
              </a:defRPr>
            </a:pPr>
            <a:r>
              <a:rPr sz="1725" b="0">
                <a:solidFill>
                  <a:srgbClr val="172B4D"/>
                </a:solidFill>
                <a:latin typeface="Arial"/>
                <a:ea typeface="Arial"/>
                <a:cs typeface="Arial"/>
              </a:rPr>
              <a:t>Giữ acc_q</a:t>
            </a:r>
          </a:p>
        </p:txBody>
      </p:sp>
      <p:sp>
        <p:nvSpPr>
          <p:cNvPr id="37" name="text-37">
            <a:extLst xmlns:a="http://schemas.openxmlformats.org/drawingml/2006/main">
              <a:ext uri="{FF2B5EF4-FFF2-40B4-BE49-F238E27FC236}">
                <a16:creationId xmlns:a16="http://schemas.microsoft.com/office/drawing/2014/main" id="{9F01EBA7-EE34-49F9-99DC-786321A02858}"/>
              </a:ext>
            </a:extLst>
          </p:cNvPr>
          <p:cNvSpPr>
            <a:spLocks xmlns:a="http://schemas.openxmlformats.org/drawingml/2006/main" noGrp="1"/>
          </p:cNvSpPr>
          <p:nvPr/>
        </p:nvSpPr>
        <p:spPr>
          <a:xfrm xmlns:a="http://schemas.openxmlformats.org/drawingml/2006/main">
            <a:off x="3409950" y="28384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A76807"/>
                </a:solidFill>
                <a:latin typeface="Arial"/>
                <a:ea typeface="Arial"/>
                <a:cs typeface="Arial"/>
              </a:defRPr>
            </a:defPPr>
          </a:lstStyle>
          <a:p xmlns:a="http://schemas.openxmlformats.org/drawingml/2006/main">
            <a:pPr algn="ctr">
              <a:defRPr sz="1725" b="0">
                <a:solidFill>
                  <a:srgbClr val="A76807"/>
                </a:solidFill>
                <a:latin typeface="Arial"/>
                <a:ea typeface="Arial"/>
                <a:cs typeface="Arial"/>
              </a:defRPr>
            </a:pPr>
            <a:r>
              <a:rPr sz="1725" b="0">
                <a:solidFill>
                  <a:srgbClr val="A76807"/>
                </a:solidFill>
                <a:latin typeface="Arial"/>
                <a:ea typeface="Arial"/>
                <a:cs typeface="Arial"/>
              </a:rPr>
              <a:t>fx</a:t>
            </a:r>
          </a:p>
        </p:txBody>
      </p:sp>
      <p:sp>
        <p:nvSpPr>
          <p:cNvPr id="38" name="text-38">
            <a:extLst xmlns:a="http://schemas.openxmlformats.org/drawingml/2006/main">
              <a:ext uri="{FF2B5EF4-FFF2-40B4-BE49-F238E27FC236}">
                <a16:creationId xmlns:a16="http://schemas.microsoft.com/office/drawing/2014/main" id="{BBE93C26-CEDA-49FF-B134-74DB0B65AEC5}"/>
              </a:ext>
            </a:extLst>
          </p:cNvPr>
          <p:cNvSpPr>
            <a:spLocks xmlns:a="http://schemas.openxmlformats.org/drawingml/2006/main" noGrp="1"/>
          </p:cNvSpPr>
          <p:nvPr/>
        </p:nvSpPr>
        <p:spPr>
          <a:xfrm xmlns:a="http://schemas.openxmlformats.org/drawingml/2006/main">
            <a:off x="6524625" y="2800350"/>
            <a:ext cx="43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A76807"/>
                </a:solidFill>
                <a:latin typeface="Arial"/>
                <a:ea typeface="Arial"/>
                <a:cs typeface="Arial"/>
              </a:defRPr>
            </a:defPPr>
          </a:lstStyle>
          <a:p xmlns:a="http://schemas.openxmlformats.org/drawingml/2006/main">
            <a:pPr algn="ctr">
              <a:defRPr sz="1725" b="0">
                <a:solidFill>
                  <a:srgbClr val="A76807"/>
                </a:solidFill>
                <a:latin typeface="Arial"/>
                <a:ea typeface="Arial"/>
                <a:cs typeface="Arial"/>
              </a:defRPr>
            </a:pPr>
            <a:r>
              <a:rPr sz="1725" b="0">
                <a:solidFill>
                  <a:srgbClr val="A76807"/>
                </a:solidFill>
                <a:latin typeface="Arial"/>
                <a:ea typeface="Arial"/>
                <a:cs typeface="Arial"/>
              </a:rPr>
              <a:t>S</a:t>
            </a:r>
          </a:p>
        </p:txBody>
      </p:sp>
      <p:sp>
        <p:nvSpPr>
          <p:cNvPr id="39" name="text-39">
            <a:extLst xmlns:a="http://schemas.openxmlformats.org/drawingml/2006/main">
              <a:ext uri="{FF2B5EF4-FFF2-40B4-BE49-F238E27FC236}">
                <a16:creationId xmlns:a16="http://schemas.microsoft.com/office/drawing/2014/main" id="{0F620360-C245-44A3-BD42-45F40D8FBEC3}"/>
              </a:ext>
            </a:extLst>
          </p:cNvPr>
          <p:cNvSpPr>
            <a:spLocks xmlns:a="http://schemas.openxmlformats.org/drawingml/2006/main" noGrp="1"/>
          </p:cNvSpPr>
          <p:nvPr/>
        </p:nvSpPr>
        <p:spPr>
          <a:xfrm xmlns:a="http://schemas.openxmlformats.org/drawingml/2006/main">
            <a:off x="8534400" y="28384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6943B9"/>
                </a:solidFill>
                <a:latin typeface="Arial"/>
                <a:ea typeface="Arial"/>
                <a:cs typeface="Arial"/>
              </a:defRPr>
            </a:defPPr>
          </a:lstStyle>
          <a:p xmlns:a="http://schemas.openxmlformats.org/drawingml/2006/main">
            <a:pPr algn="ctr">
              <a:defRPr sz="1650" b="0">
                <a:solidFill>
                  <a:srgbClr val="6943B9"/>
                </a:solidFill>
                <a:latin typeface="Arial"/>
                <a:ea typeface="Arial"/>
                <a:cs typeface="Arial"/>
              </a:defRPr>
            </a:pPr>
            <a:r>
              <a:rPr sz="1650" b="0">
                <a:solidFill>
                  <a:srgbClr val="6943B9"/>
                </a:solidFill>
                <a:latin typeface="Arial"/>
                <a:ea typeface="Arial"/>
                <a:cs typeface="Arial"/>
              </a:rPr>
              <a:t>term</a:t>
            </a:r>
          </a:p>
        </p:txBody>
      </p:sp>
      <p:sp>
        <p:nvSpPr>
          <p:cNvPr id="43" name="text-43">
            <a:extLst xmlns:a="http://schemas.openxmlformats.org/drawingml/2006/main">
              <a:ext uri="{FF2B5EF4-FFF2-40B4-BE49-F238E27FC236}">
                <a16:creationId xmlns:a16="http://schemas.microsoft.com/office/drawing/2014/main" id="{AE223FC7-DD7F-4E18-B9B5-6D413FC3A110}"/>
              </a:ext>
            </a:extLst>
          </p:cNvPr>
          <p:cNvSpPr>
            <a:spLocks xmlns:a="http://schemas.openxmlformats.org/drawingml/2006/main" noGrp="1"/>
          </p:cNvSpPr>
          <p:nvPr/>
        </p:nvSpPr>
        <p:spPr>
          <a:xfrm xmlns:a="http://schemas.openxmlformats.org/drawingml/2006/main">
            <a:off x="3952875" y="1571625"/>
            <a:ext cx="33051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47D92"/>
                </a:solidFill>
                <a:latin typeface="Arial"/>
                <a:ea typeface="Arial"/>
                <a:cs typeface="Arial"/>
              </a:defRPr>
            </a:defPPr>
          </a:lstStyle>
          <a:p xmlns:a="http://schemas.openxmlformats.org/drawingml/2006/main">
            <a:pPr algn="ctr">
              <a:defRPr sz="1725" b="0">
                <a:solidFill>
                  <a:srgbClr val="147D92"/>
                </a:solidFill>
                <a:latin typeface="Arial"/>
                <a:ea typeface="Arial"/>
                <a:cs typeface="Arial"/>
              </a:defRPr>
            </a:pPr>
            <a:r>
              <a:rPr sz="1725" b="0">
                <a:solidFill>
                  <a:srgbClr val="147D92"/>
                </a:solidFill>
                <a:latin typeface="Arial"/>
                <a:ea typeface="Arial"/>
                <a:cs typeface="Arial"/>
              </a:rPr>
              <a:t>Y giữ ổn định trong y_q</a:t>
            </a:r>
          </a:p>
        </p:txBody>
      </p:sp>
      <p:sp>
        <p:nvSpPr>
          <p:cNvPr id="47" name="text-47">
            <a:extLst xmlns:a="http://schemas.openxmlformats.org/drawingml/2006/main">
              <a:ext uri="{FF2B5EF4-FFF2-40B4-BE49-F238E27FC236}">
                <a16:creationId xmlns:a16="http://schemas.microsoft.com/office/drawing/2014/main" id="{92925914-2DA4-4C95-9F12-B9138B1D8842}"/>
              </a:ext>
            </a:extLst>
          </p:cNvPr>
          <p:cNvSpPr>
            <a:spLocks xmlns:a="http://schemas.openxmlformats.org/drawingml/2006/main" noGrp="1"/>
          </p:cNvSpPr>
          <p:nvPr/>
        </p:nvSpPr>
        <p:spPr>
          <a:xfrm xmlns:a="http://schemas.openxmlformats.org/drawingml/2006/main">
            <a:off x="9391650" y="4219575"/>
            <a:ext cx="2333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6943B9"/>
                </a:solidFill>
                <a:latin typeface="Arial"/>
                <a:ea typeface="Arial"/>
                <a:cs typeface="Arial"/>
              </a:defRPr>
            </a:defPPr>
          </a:lstStyle>
          <a:p xmlns:a="http://schemas.openxmlformats.org/drawingml/2006/main">
            <a:pPr algn="ctr">
              <a:defRPr sz="1725" b="0">
                <a:solidFill>
                  <a:srgbClr val="6943B9"/>
                </a:solidFill>
                <a:latin typeface="Arial"/>
                <a:ea typeface="Arial"/>
                <a:cs typeface="Arial"/>
              </a:defRPr>
            </a:pPr>
            <a:r>
              <a:rPr sz="1725" b="0">
                <a:solidFill>
                  <a:srgbClr val="6943B9"/>
                </a:solidFill>
                <a:latin typeface="Arial"/>
                <a:ea typeface="Arial"/>
                <a:cs typeface="Arial"/>
              </a:rPr>
              <a:t>feedback acc_q</a:t>
            </a:r>
          </a:p>
        </p:txBody>
      </p:sp>
      <p:sp>
        <p:nvSpPr>
          <p:cNvPr id="51" name="text-51">
            <a:extLst xmlns:a="http://schemas.openxmlformats.org/drawingml/2006/main">
              <a:ext uri="{FF2B5EF4-FFF2-40B4-BE49-F238E27FC236}">
                <a16:creationId xmlns:a16="http://schemas.microsoft.com/office/drawing/2014/main" id="{F47CAC78-62A3-499C-9FAD-805E53B6C7F6}"/>
              </a:ext>
            </a:extLst>
          </p:cNvPr>
          <p:cNvSpPr>
            <a:spLocks xmlns:a="http://schemas.openxmlformats.org/drawingml/2006/main" noGrp="1"/>
          </p:cNvSpPr>
          <p:nvPr/>
        </p:nvSpPr>
        <p:spPr>
          <a:xfrm xmlns:a="http://schemas.openxmlformats.org/drawingml/2006/main">
            <a:off x="3714750" y="4219575"/>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A76807"/>
                </a:solidFill>
                <a:latin typeface="Arial"/>
                <a:ea typeface="Arial"/>
                <a:cs typeface="Arial"/>
              </a:defRPr>
            </a:defPPr>
          </a:lstStyle>
          <a:p xmlns:a="http://schemas.openxmlformats.org/drawingml/2006/main">
            <a:pPr algn="ctr">
              <a:defRPr sz="1725" b="0">
                <a:solidFill>
                  <a:srgbClr val="A76807"/>
                </a:solidFill>
                <a:latin typeface="Arial"/>
                <a:ea typeface="Arial"/>
                <a:cs typeface="Arial"/>
              </a:defRPr>
            </a:pPr>
            <a:r>
              <a:rPr sz="1725" b="0">
                <a:solidFill>
                  <a:srgbClr val="A76807"/>
                </a:solidFill>
                <a:latin typeface="Arial"/>
                <a:ea typeface="Arial"/>
                <a:cs typeface="Arial"/>
              </a:rPr>
              <a:t>feedback fx_q / scale_q</a:t>
            </a:r>
          </a:p>
        </p:txBody>
      </p:sp>
      <p:sp>
        <p:nvSpPr>
          <p:cNvPr id="52" name="text-52">
            <a:extLst xmlns:a="http://schemas.openxmlformats.org/drawingml/2006/main">
              <a:ext uri="{FF2B5EF4-FFF2-40B4-BE49-F238E27FC236}">
                <a16:creationId xmlns:a16="http://schemas.microsoft.com/office/drawing/2014/main" id="{DDCF8E49-2A6A-4B7C-BC3C-C1D6DF416375}"/>
              </a:ext>
            </a:extLst>
          </p:cNvPr>
          <p:cNvSpPr>
            <a:spLocks xmlns:a="http://schemas.openxmlformats.org/drawingml/2006/main" noGrp="1"/>
          </p:cNvSpPr>
          <p:nvPr/>
        </p:nvSpPr>
        <p:spPr>
          <a:xfrm xmlns:a="http://schemas.openxmlformats.org/drawingml/2006/main">
            <a:off x="457200" y="4838700"/>
            <a:ext cx="1009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172B4D"/>
                </a:solidFill>
                <a:latin typeface="Arial"/>
                <a:ea typeface="Arial"/>
                <a:cs typeface="Arial"/>
              </a:defRPr>
            </a:defPPr>
          </a:lstStyle>
          <a:p xmlns:a="http://schemas.openxmlformats.org/drawingml/2006/main">
            <a:pPr algn="l">
              <a:defRPr sz="2400" b="1">
                <a:solidFill>
                  <a:srgbClr val="172B4D"/>
                </a:solidFill>
                <a:latin typeface="Arial"/>
                <a:ea typeface="Arial"/>
                <a:cs typeface="Arial"/>
              </a:defRPr>
            </a:pPr>
            <a:r>
              <a:rPr sz="2400" b="1">
                <a:solidFill>
                  <a:srgbClr val="172B4D"/>
                </a:solidFill>
                <a:latin typeface="Arial"/>
                <a:ea typeface="Arial"/>
                <a:cs typeface="Arial"/>
              </a:rPr>
              <a:t>P_hat = Y + Σ trunc_Q12(Y / 2^Sᵢ)</a:t>
            </a:r>
          </a:p>
        </p:txBody>
      </p:sp>
      <p:sp>
        <p:nvSpPr>
          <p:cNvPr id="53" name="text-53">
            <a:extLst xmlns:a="http://schemas.openxmlformats.org/drawingml/2006/main">
              <a:ext uri="{FF2B5EF4-FFF2-40B4-BE49-F238E27FC236}">
                <a16:creationId xmlns:a16="http://schemas.microsoft.com/office/drawing/2014/main" id="{F0ED61E4-E993-45F3-845A-8BF30DE2770F}"/>
              </a:ext>
            </a:extLst>
          </p:cNvPr>
          <p:cNvSpPr>
            <a:spLocks xmlns:a="http://schemas.openxmlformats.org/drawingml/2006/main" noGrp="1"/>
          </p:cNvSpPr>
          <p:nvPr/>
        </p:nvSpPr>
        <p:spPr>
          <a:xfrm xmlns:a="http://schemas.openxmlformats.org/drawingml/2006/main">
            <a:off x="457200" y="5457825"/>
            <a:ext cx="1071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3657D"/>
                </a:solidFill>
                <a:latin typeface="Arial"/>
                <a:ea typeface="Arial"/>
                <a:cs typeface="Arial"/>
              </a:defRPr>
            </a:defPPr>
          </a:lstStyle>
          <a:p xmlns:a="http://schemas.openxmlformats.org/drawingml/2006/main">
            <a:pPr algn="l">
              <a:defRPr sz="1800" b="0">
                <a:solidFill>
                  <a:srgbClr val="53657D"/>
                </a:solidFill>
                <a:latin typeface="Arial"/>
                <a:ea typeface="Arial"/>
                <a:cs typeface="Arial"/>
              </a:defRPr>
            </a:pPr>
            <a:r>
              <a:rPr sz="1800" b="0">
                <a:solidFill>
                  <a:srgbClr val="53657D"/>
                </a:solidFill>
                <a:latin typeface="Arial"/>
                <a:ea typeface="Arial"/>
                <a:cs typeface="Arial"/>
              </a:rPr>
              <a:t>Chốt dấu và sf_A + sf_B tại launch. Sau core_done, chuyển acc sang normalize / round.</a:t>
            </a:r>
          </a:p>
        </p:txBody>
      </p:sp>
    </p:spTree>
    <p:extLst>
      <p:ext uri="{BB962C8B-B14F-4D97-AF65-F5344CB8AC3E}">
        <p14:creationId xmlns:p14="http://schemas.microsoft.com/office/powerpoint/2010/main" val="19020044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59" name="wire-110">
            <a:extLst xmlns:a="http://schemas.openxmlformats.org/drawingml/2006/main">
              <a:ext uri="{FF2B5EF4-FFF2-40B4-BE49-F238E27FC236}">
                <a16:creationId xmlns:a16="http://schemas.microsoft.com/office/drawing/2014/main" id="{406E3EB1-B8E1-44E9-8CF7-98AADDE4710C}"/>
              </a:ext>
            </a:extLst>
          </p:cNvPr>
          <p:cNvCxnSpPr/>
          <p:nvPr/>
        </p:nvCxnSpPr>
        <p:spPr>
          <a:xfrm xmlns:a="http://schemas.openxmlformats.org/drawingml/2006/main" flipH="0" flipV="0">
            <a:off x="457200" y="6048375"/>
            <a:ext cx="11277600" cy="0"/>
          </a:xfrm>
          <a:prstGeom xmlns:a="http://schemas.openxmlformats.org/drawingml/2006/main" prst="straightConnector1">
            <a:avLst/>
          </a:prstGeom>
          <a:ln xmlns:a="http://schemas.openxmlformats.org/drawingml/2006/main" w="9525">
            <a:solidFill>
              <a:srgbClr val="CCD6E2"/>
            </a:solidFill>
            <a:prstDash val="solid"/>
            <a:tailEnd type="none" w="sm" len="sm"/>
          </a:ln>
        </p:spPr>
      </p:cxnSp>
      <p:cxnSp>
        <p:nvCxnSpPr>
          <p:cNvPr id="54" name="wire-105">
            <a:extLst xmlns:a="http://schemas.openxmlformats.org/drawingml/2006/main">
              <a:ext uri="{FF2B5EF4-FFF2-40B4-BE49-F238E27FC236}">
                <a16:creationId xmlns:a16="http://schemas.microsoft.com/office/drawing/2014/main" id="{6DB09B5C-C43B-499B-B3FA-05173BF81484}"/>
              </a:ext>
            </a:extLst>
          </p:cNvPr>
          <p:cNvCxnSpPr/>
          <p:nvPr/>
        </p:nvCxnSpPr>
        <p:spPr>
          <a:xfrm xmlns:a="http://schemas.openxmlformats.org/drawingml/2006/main" flipH="0" flipV="0">
            <a:off x="11049000" y="4314825"/>
            <a:ext cx="685800" cy="0"/>
          </a:xfrm>
          <a:prstGeom xmlns:a="http://schemas.openxmlformats.org/drawingml/2006/main" prst="straightConnector1">
            <a:avLst/>
          </a:prstGeom>
          <a:ln xmlns:a="http://schemas.openxmlformats.org/drawingml/2006/main" w="23813">
            <a:solidFill>
              <a:srgbClr val="237855"/>
            </a:solidFill>
            <a:prstDash val="solid"/>
            <a:tailEnd type="triangle" w="sm" len="sm"/>
          </a:ln>
        </p:spPr>
      </p:cxnSp>
      <p:cxnSp>
        <p:nvCxnSpPr>
          <p:cNvPr id="53" name="wire-104">
            <a:extLst xmlns:a="http://schemas.openxmlformats.org/drawingml/2006/main">
              <a:ext uri="{FF2B5EF4-FFF2-40B4-BE49-F238E27FC236}">
                <a16:creationId xmlns:a16="http://schemas.microsoft.com/office/drawing/2014/main" id="{563AD356-9F8D-4C56-B4AF-84465C21CF1A}"/>
              </a:ext>
            </a:extLst>
          </p:cNvPr>
          <p:cNvCxnSpPr/>
          <p:nvPr/>
        </p:nvCxnSpPr>
        <p:spPr>
          <a:xfrm xmlns:a="http://schemas.openxmlformats.org/drawingml/2006/main" flipH="0" flipV="0">
            <a:off x="8420100" y="4314825"/>
            <a:ext cx="1200150" cy="0"/>
          </a:xfrm>
          <a:prstGeom xmlns:a="http://schemas.openxmlformats.org/drawingml/2006/main" prst="straightConnector1">
            <a:avLst/>
          </a:prstGeom>
          <a:ln xmlns:a="http://schemas.openxmlformats.org/drawingml/2006/main" w="23813">
            <a:solidFill>
              <a:srgbClr val="237855"/>
            </a:solidFill>
            <a:prstDash val="solid"/>
            <a:tailEnd type="triangle" w="sm" len="sm"/>
          </a:ln>
        </p:spPr>
      </p:cxnSp>
      <p:cxnSp>
        <p:nvCxnSpPr>
          <p:cNvPr id="50" name="wire-101">
            <a:extLst xmlns:a="http://schemas.openxmlformats.org/drawingml/2006/main">
              <a:ext uri="{FF2B5EF4-FFF2-40B4-BE49-F238E27FC236}">
                <a16:creationId xmlns:a16="http://schemas.microsoft.com/office/drawing/2014/main" id="{52E8C4B9-712C-415D-B4A6-3704864B3201}"/>
              </a:ext>
            </a:extLst>
          </p:cNvPr>
          <p:cNvCxnSpPr/>
          <p:nvPr/>
        </p:nvCxnSpPr>
        <p:spPr>
          <a:xfrm xmlns:a="http://schemas.openxmlformats.org/drawingml/2006/main" flipH="0" flipV="0">
            <a:off x="10134600" y="4448175"/>
            <a:ext cx="152400" cy="0"/>
          </a:xfrm>
          <a:prstGeom xmlns:a="http://schemas.openxmlformats.org/drawingml/2006/main" prst="straightConnector1">
            <a:avLst/>
          </a:prstGeom>
          <a:ln xmlns:a="http://schemas.openxmlformats.org/drawingml/2006/main" w="23813">
            <a:solidFill>
              <a:srgbClr val="237855"/>
            </a:solidFill>
            <a:prstDash val="solid"/>
            <a:tailEnd type="triangle" w="sm" len="sm"/>
          </a:ln>
        </p:spPr>
      </p:cxnSp>
      <p:cxnSp>
        <p:nvCxnSpPr>
          <p:cNvPr id="49" name="wire-100">
            <a:extLst xmlns:a="http://schemas.openxmlformats.org/drawingml/2006/main">
              <a:ext uri="{FF2B5EF4-FFF2-40B4-BE49-F238E27FC236}">
                <a16:creationId xmlns:a16="http://schemas.microsoft.com/office/drawing/2014/main" id="{B0558339-31A7-4866-B648-6FB57A19C80B}"/>
              </a:ext>
            </a:extLst>
          </p:cNvPr>
          <p:cNvCxnSpPr/>
          <p:nvPr/>
        </p:nvCxnSpPr>
        <p:spPr>
          <a:xfrm xmlns:a="http://schemas.openxmlformats.org/drawingml/2006/main" flipH="0" flipV="1">
            <a:off x="10134600" y="4448175"/>
            <a:ext cx="0" cy="809625"/>
          </a:xfrm>
          <a:prstGeom xmlns:a="http://schemas.openxmlformats.org/drawingml/2006/main" prst="straightConnector1">
            <a:avLst/>
          </a:prstGeom>
          <a:ln xmlns:a="http://schemas.openxmlformats.org/drawingml/2006/main" w="23813">
            <a:solidFill>
              <a:srgbClr val="237855"/>
            </a:solidFill>
            <a:prstDash val="solid"/>
            <a:tailEnd type="none" w="sm" len="sm"/>
          </a:ln>
        </p:spPr>
      </p:cxnSp>
      <p:cxnSp>
        <p:nvCxnSpPr>
          <p:cNvPr id="48" name="wire-99">
            <a:extLst xmlns:a="http://schemas.openxmlformats.org/drawingml/2006/main">
              <a:ext uri="{FF2B5EF4-FFF2-40B4-BE49-F238E27FC236}">
                <a16:creationId xmlns:a16="http://schemas.microsoft.com/office/drawing/2014/main" id="{68970004-184F-42D4-9863-DADFB6FA9273}"/>
              </a:ext>
            </a:extLst>
          </p:cNvPr>
          <p:cNvCxnSpPr/>
          <p:nvPr/>
        </p:nvCxnSpPr>
        <p:spPr>
          <a:xfrm xmlns:a="http://schemas.openxmlformats.org/drawingml/2006/main" flipH="0" flipV="0">
            <a:off x="5476875" y="5257800"/>
            <a:ext cx="4657725" cy="0"/>
          </a:xfrm>
          <a:prstGeom xmlns:a="http://schemas.openxmlformats.org/drawingml/2006/main" prst="straightConnector1">
            <a:avLst/>
          </a:prstGeom>
          <a:ln xmlns:a="http://schemas.openxmlformats.org/drawingml/2006/main" w="23813">
            <a:solidFill>
              <a:srgbClr val="237855"/>
            </a:solidFill>
            <a:prstDash val="solid"/>
            <a:tailEnd type="none" w="sm" len="sm"/>
          </a:ln>
        </p:spPr>
      </p:cxnSp>
      <p:cxnSp>
        <p:nvCxnSpPr>
          <p:cNvPr id="47" name="wire-98">
            <a:extLst xmlns:a="http://schemas.openxmlformats.org/drawingml/2006/main">
              <a:ext uri="{FF2B5EF4-FFF2-40B4-BE49-F238E27FC236}">
                <a16:creationId xmlns:a16="http://schemas.microsoft.com/office/drawing/2014/main" id="{92964D4A-714C-44D6-AAA0-C1F70598E894}"/>
              </a:ext>
            </a:extLst>
          </p:cNvPr>
          <p:cNvCxnSpPr/>
          <p:nvPr/>
        </p:nvCxnSpPr>
        <p:spPr>
          <a:xfrm xmlns:a="http://schemas.openxmlformats.org/drawingml/2006/main" flipH="0" flipV="0">
            <a:off x="9982200" y="4191000"/>
            <a:ext cx="304800" cy="0"/>
          </a:xfrm>
          <a:prstGeom xmlns:a="http://schemas.openxmlformats.org/drawingml/2006/main" prst="straightConnector1">
            <a:avLst/>
          </a:prstGeom>
          <a:ln xmlns:a="http://schemas.openxmlformats.org/drawingml/2006/main" w="23813">
            <a:solidFill>
              <a:srgbClr val="237855"/>
            </a:solidFill>
            <a:prstDash val="solid"/>
            <a:tailEnd type="triangle" w="sm" len="sm"/>
          </a:ln>
        </p:spPr>
      </p:cxnSp>
      <p:cxnSp>
        <p:nvCxnSpPr>
          <p:cNvPr id="46" name="wire-97">
            <a:extLst xmlns:a="http://schemas.openxmlformats.org/drawingml/2006/main">
              <a:ext uri="{FF2B5EF4-FFF2-40B4-BE49-F238E27FC236}">
                <a16:creationId xmlns:a16="http://schemas.microsoft.com/office/drawing/2014/main" id="{44191FA8-37B3-4EC3-97B8-A3AF2AE44983}"/>
              </a:ext>
            </a:extLst>
          </p:cNvPr>
          <p:cNvCxnSpPr/>
          <p:nvPr/>
        </p:nvCxnSpPr>
        <p:spPr>
          <a:xfrm xmlns:a="http://schemas.openxmlformats.org/drawingml/2006/main" flipH="0" flipV="1">
            <a:off x="9982200" y="4191000"/>
            <a:ext cx="0" cy="762000"/>
          </a:xfrm>
          <a:prstGeom xmlns:a="http://schemas.openxmlformats.org/drawingml/2006/main" prst="straightConnector1">
            <a:avLst/>
          </a:prstGeom>
          <a:ln xmlns:a="http://schemas.openxmlformats.org/drawingml/2006/main" w="23813">
            <a:solidFill>
              <a:srgbClr val="237855"/>
            </a:solidFill>
            <a:prstDash val="solid"/>
            <a:tailEnd type="none" w="sm" len="sm"/>
          </a:ln>
        </p:spPr>
      </p:cxnSp>
      <p:cxnSp>
        <p:nvCxnSpPr>
          <p:cNvPr id="45" name="wire-96">
            <a:extLst xmlns:a="http://schemas.openxmlformats.org/drawingml/2006/main">
              <a:ext uri="{FF2B5EF4-FFF2-40B4-BE49-F238E27FC236}">
                <a16:creationId xmlns:a16="http://schemas.microsoft.com/office/drawing/2014/main" id="{CAA3B262-6767-4D45-8ACB-CA17BE3D91B4}"/>
              </a:ext>
            </a:extLst>
          </p:cNvPr>
          <p:cNvCxnSpPr/>
          <p:nvPr/>
        </p:nvCxnSpPr>
        <p:spPr>
          <a:xfrm xmlns:a="http://schemas.openxmlformats.org/drawingml/2006/main" flipH="0" flipV="0">
            <a:off x="5476875" y="4953000"/>
            <a:ext cx="4505325" cy="0"/>
          </a:xfrm>
          <a:prstGeom xmlns:a="http://schemas.openxmlformats.org/drawingml/2006/main" prst="straightConnector1">
            <a:avLst/>
          </a:prstGeom>
          <a:ln xmlns:a="http://schemas.openxmlformats.org/drawingml/2006/main" w="23813">
            <a:solidFill>
              <a:srgbClr val="237855"/>
            </a:solidFill>
            <a:prstDash val="solid"/>
            <a:tailEnd type="none" w="sm" len="sm"/>
          </a:ln>
        </p:spPr>
      </p:cxnSp>
      <p:cxnSp>
        <p:nvCxnSpPr>
          <p:cNvPr id="42" name="wire-93">
            <a:extLst xmlns:a="http://schemas.openxmlformats.org/drawingml/2006/main">
              <a:ext uri="{FF2B5EF4-FFF2-40B4-BE49-F238E27FC236}">
                <a16:creationId xmlns:a16="http://schemas.microsoft.com/office/drawing/2014/main" id="{90911DDD-99B8-481B-A4F3-B1FBE44D9369}"/>
              </a:ext>
            </a:extLst>
          </p:cNvPr>
          <p:cNvCxnSpPr/>
          <p:nvPr/>
        </p:nvCxnSpPr>
        <p:spPr>
          <a:xfrm xmlns:a="http://schemas.openxmlformats.org/drawingml/2006/main" flipH="0" flipV="0">
            <a:off x="5476875" y="4448175"/>
            <a:ext cx="2181225" cy="0"/>
          </a:xfrm>
          <a:prstGeom xmlns:a="http://schemas.openxmlformats.org/drawingml/2006/main" prst="straightConnector1">
            <a:avLst/>
          </a:prstGeom>
          <a:ln xmlns:a="http://schemas.openxmlformats.org/drawingml/2006/main" w="23813">
            <a:solidFill>
              <a:srgbClr val="237855"/>
            </a:solidFill>
            <a:prstDash val="solid"/>
            <a:tailEnd type="triangle" w="sm" len="sm"/>
          </a:ln>
        </p:spPr>
      </p:cxnSp>
      <p:cxnSp>
        <p:nvCxnSpPr>
          <p:cNvPr id="41" name="wire-92">
            <a:extLst xmlns:a="http://schemas.openxmlformats.org/drawingml/2006/main">
              <a:ext uri="{FF2B5EF4-FFF2-40B4-BE49-F238E27FC236}">
                <a16:creationId xmlns:a16="http://schemas.microsoft.com/office/drawing/2014/main" id="{CD4EF181-0F65-4FED-A7FB-90338A295BE8}"/>
              </a:ext>
            </a:extLst>
          </p:cNvPr>
          <p:cNvCxnSpPr/>
          <p:nvPr/>
        </p:nvCxnSpPr>
        <p:spPr>
          <a:xfrm xmlns:a="http://schemas.openxmlformats.org/drawingml/2006/main" flipH="0" flipV="0">
            <a:off x="5476875" y="4191000"/>
            <a:ext cx="2181225" cy="0"/>
          </a:xfrm>
          <a:prstGeom xmlns:a="http://schemas.openxmlformats.org/drawingml/2006/main" prst="straightConnector1">
            <a:avLst/>
          </a:prstGeom>
          <a:ln xmlns:a="http://schemas.openxmlformats.org/drawingml/2006/main" w="23813">
            <a:solidFill>
              <a:srgbClr val="237855"/>
            </a:solidFill>
            <a:prstDash val="solid"/>
            <a:tailEnd type="triangle" w="sm" len="sm"/>
          </a:ln>
        </p:spPr>
      </p:cxnSp>
      <p:cxnSp>
        <p:nvCxnSpPr>
          <p:cNvPr id="30" name="wire-82">
            <a:extLst xmlns:a="http://schemas.openxmlformats.org/drawingml/2006/main">
              <a:ext uri="{FF2B5EF4-FFF2-40B4-BE49-F238E27FC236}">
                <a16:creationId xmlns:a16="http://schemas.microsoft.com/office/drawing/2014/main" id="{1CE12D8B-BC27-4623-BBC2-A3E3751F81FC}"/>
              </a:ext>
            </a:extLst>
          </p:cNvPr>
          <p:cNvCxnSpPr/>
          <p:nvPr/>
        </p:nvCxnSpPr>
        <p:spPr>
          <a:xfrm xmlns:a="http://schemas.openxmlformats.org/drawingml/2006/main" flipH="0" flipV="0">
            <a:off x="10668000" y="3676650"/>
            <a:ext cx="0" cy="361950"/>
          </a:xfrm>
          <a:prstGeom xmlns:a="http://schemas.openxmlformats.org/drawingml/2006/main" prst="straightConnector1">
            <a:avLst/>
          </a:prstGeom>
          <a:ln xmlns:a="http://schemas.openxmlformats.org/drawingml/2006/main" w="23813">
            <a:solidFill>
              <a:srgbClr val="147D92"/>
            </a:solidFill>
            <a:prstDash val="dash"/>
            <a:tailEnd type="triangle" w="sm" len="sm"/>
          </a:ln>
        </p:spPr>
      </p:cxnSp>
      <p:cxnSp>
        <p:nvCxnSpPr>
          <p:cNvPr id="29" name="wire-81">
            <a:extLst xmlns:a="http://schemas.openxmlformats.org/drawingml/2006/main">
              <a:ext uri="{FF2B5EF4-FFF2-40B4-BE49-F238E27FC236}">
                <a16:creationId xmlns:a16="http://schemas.microsoft.com/office/drawing/2014/main" id="{A2D52F70-E1A6-4BC6-B831-D2B3EF996F12}"/>
              </a:ext>
            </a:extLst>
          </p:cNvPr>
          <p:cNvCxnSpPr/>
          <p:nvPr/>
        </p:nvCxnSpPr>
        <p:spPr>
          <a:xfrm xmlns:a="http://schemas.openxmlformats.org/drawingml/2006/main" flipH="0" flipV="0">
            <a:off x="8877300" y="3676650"/>
            <a:ext cx="1790700" cy="0"/>
          </a:xfrm>
          <a:prstGeom xmlns:a="http://schemas.openxmlformats.org/drawingml/2006/main" prst="straightConnector1">
            <a:avLst/>
          </a:prstGeom>
          <a:ln xmlns:a="http://schemas.openxmlformats.org/drawingml/2006/main" w="23813">
            <a:solidFill>
              <a:srgbClr val="147D92"/>
            </a:solidFill>
            <a:prstDash val="dash"/>
            <a:tailEnd type="none" w="sm" len="sm"/>
          </a:ln>
        </p:spPr>
      </p:cxnSp>
      <p:cxnSp>
        <p:nvCxnSpPr>
          <p:cNvPr id="28" name="wire-80">
            <a:extLst xmlns:a="http://schemas.openxmlformats.org/drawingml/2006/main">
              <a:ext uri="{FF2B5EF4-FFF2-40B4-BE49-F238E27FC236}">
                <a16:creationId xmlns:a16="http://schemas.microsoft.com/office/drawing/2014/main" id="{81376C71-AC77-4D7C-8003-6F23AAE9BB8C}"/>
              </a:ext>
            </a:extLst>
          </p:cNvPr>
          <p:cNvCxnSpPr/>
          <p:nvPr/>
        </p:nvCxnSpPr>
        <p:spPr>
          <a:xfrm xmlns:a="http://schemas.openxmlformats.org/drawingml/2006/main" flipH="0" flipV="0">
            <a:off x="8039100" y="3676650"/>
            <a:ext cx="0" cy="361950"/>
          </a:xfrm>
          <a:prstGeom xmlns:a="http://schemas.openxmlformats.org/drawingml/2006/main" prst="straightConnector1">
            <a:avLst/>
          </a:prstGeom>
          <a:ln xmlns:a="http://schemas.openxmlformats.org/drawingml/2006/main" w="23813">
            <a:solidFill>
              <a:srgbClr val="147D92"/>
            </a:solidFill>
            <a:prstDash val="dash"/>
            <a:tailEnd type="triangle" w="sm" len="sm"/>
          </a:ln>
        </p:spPr>
      </p:cxnSp>
      <p:cxnSp>
        <p:nvCxnSpPr>
          <p:cNvPr id="27" name="wire-79">
            <a:extLst xmlns:a="http://schemas.openxmlformats.org/drawingml/2006/main">
              <a:ext uri="{FF2B5EF4-FFF2-40B4-BE49-F238E27FC236}">
                <a16:creationId xmlns:a16="http://schemas.microsoft.com/office/drawing/2014/main" id="{8CE78158-860D-4679-B862-440CE3B4C552}"/>
              </a:ext>
            </a:extLst>
          </p:cNvPr>
          <p:cNvCxnSpPr/>
          <p:nvPr/>
        </p:nvCxnSpPr>
        <p:spPr>
          <a:xfrm xmlns:a="http://schemas.openxmlformats.org/drawingml/2006/main" flipH="1" flipV="0">
            <a:off x="8039100" y="3676650"/>
            <a:ext cx="838200" cy="0"/>
          </a:xfrm>
          <a:prstGeom xmlns:a="http://schemas.openxmlformats.org/drawingml/2006/main" prst="straightConnector1">
            <a:avLst/>
          </a:prstGeom>
          <a:ln xmlns:a="http://schemas.openxmlformats.org/drawingml/2006/main" w="23813">
            <a:solidFill>
              <a:srgbClr val="147D92"/>
            </a:solidFill>
            <a:prstDash val="dash"/>
            <a:tailEnd type="none" w="sm" len="sm"/>
          </a:ln>
        </p:spPr>
      </p:cxnSp>
      <p:cxnSp>
        <p:nvCxnSpPr>
          <p:cNvPr id="26" name="wire-78">
            <a:extLst xmlns:a="http://schemas.openxmlformats.org/drawingml/2006/main">
              <a:ext uri="{FF2B5EF4-FFF2-40B4-BE49-F238E27FC236}">
                <a16:creationId xmlns:a16="http://schemas.microsoft.com/office/drawing/2014/main" id="{25BC71E0-E348-49E6-A9C4-C944A49D0B96}"/>
              </a:ext>
            </a:extLst>
          </p:cNvPr>
          <p:cNvCxnSpPr/>
          <p:nvPr/>
        </p:nvCxnSpPr>
        <p:spPr>
          <a:xfrm xmlns:a="http://schemas.openxmlformats.org/drawingml/2006/main" flipH="0" flipV="0">
            <a:off x="8877300" y="3200400"/>
            <a:ext cx="0" cy="476250"/>
          </a:xfrm>
          <a:prstGeom xmlns:a="http://schemas.openxmlformats.org/drawingml/2006/main" prst="straightConnector1">
            <a:avLst/>
          </a:prstGeom>
          <a:ln xmlns:a="http://schemas.openxmlformats.org/drawingml/2006/main" w="23813">
            <a:solidFill>
              <a:srgbClr val="147D92"/>
            </a:solidFill>
            <a:prstDash val="dash"/>
            <a:tailEnd type="none" w="sm" len="sm"/>
          </a:ln>
        </p:spPr>
      </p:cxnSp>
      <p:cxnSp>
        <p:nvCxnSpPr>
          <p:cNvPr id="25" name="wire-77">
            <a:extLst xmlns:a="http://schemas.openxmlformats.org/drawingml/2006/main">
              <a:ext uri="{FF2B5EF4-FFF2-40B4-BE49-F238E27FC236}">
                <a16:creationId xmlns:a16="http://schemas.microsoft.com/office/drawing/2014/main" id="{F4CBC845-3B87-47D2-B624-4CE073392C9B}"/>
              </a:ext>
            </a:extLst>
          </p:cNvPr>
          <p:cNvCxnSpPr/>
          <p:nvPr/>
        </p:nvCxnSpPr>
        <p:spPr>
          <a:xfrm xmlns:a="http://schemas.openxmlformats.org/drawingml/2006/main" flipH="0" flipV="0">
            <a:off x="7258050" y="2647950"/>
            <a:ext cx="495300" cy="0"/>
          </a:xfrm>
          <a:prstGeom xmlns:a="http://schemas.openxmlformats.org/drawingml/2006/main" prst="straightConnector1">
            <a:avLst/>
          </a:prstGeom>
          <a:ln xmlns:a="http://schemas.openxmlformats.org/drawingml/2006/main" w="23813">
            <a:solidFill>
              <a:srgbClr val="147D92"/>
            </a:solidFill>
            <a:prstDash val="solid"/>
            <a:tailEnd type="triangle" w="sm" len="sm"/>
          </a:ln>
        </p:spPr>
      </p:cxnSp>
      <p:cxnSp>
        <p:nvCxnSpPr>
          <p:cNvPr id="24" name="wire-76">
            <a:extLst xmlns:a="http://schemas.openxmlformats.org/drawingml/2006/main">
              <a:ext uri="{FF2B5EF4-FFF2-40B4-BE49-F238E27FC236}">
                <a16:creationId xmlns:a16="http://schemas.microsoft.com/office/drawing/2014/main" id="{A5DE5340-C9EE-42A5-95F9-2E615E47B49D}"/>
              </a:ext>
            </a:extLst>
          </p:cNvPr>
          <p:cNvCxnSpPr/>
          <p:nvPr/>
        </p:nvCxnSpPr>
        <p:spPr>
          <a:xfrm xmlns:a="http://schemas.openxmlformats.org/drawingml/2006/main" flipH="0" flipV="0">
            <a:off x="4953000" y="2647950"/>
            <a:ext cx="381000" cy="0"/>
          </a:xfrm>
          <a:prstGeom xmlns:a="http://schemas.openxmlformats.org/drawingml/2006/main" prst="straightConnector1">
            <a:avLst/>
          </a:prstGeom>
          <a:ln xmlns:a="http://schemas.openxmlformats.org/drawingml/2006/main" w="23813">
            <a:solidFill>
              <a:srgbClr val="147D92"/>
            </a:solidFill>
            <a:prstDash val="solid"/>
            <a:tailEnd type="triangle" w="sm" len="sm"/>
          </a:ln>
        </p:spPr>
      </p:cxnSp>
      <p:cxnSp>
        <p:nvCxnSpPr>
          <p:cNvPr id="13" name="wire-65">
            <a:extLst xmlns:a="http://schemas.openxmlformats.org/drawingml/2006/main">
              <a:ext uri="{FF2B5EF4-FFF2-40B4-BE49-F238E27FC236}">
                <a16:creationId xmlns:a16="http://schemas.microsoft.com/office/drawing/2014/main" id="{2EFA532D-F936-4767-A790-480FF1487DF3}"/>
              </a:ext>
            </a:extLst>
          </p:cNvPr>
          <p:cNvCxnSpPr/>
          <p:nvPr/>
        </p:nvCxnSpPr>
        <p:spPr>
          <a:xfrm xmlns:a="http://schemas.openxmlformats.org/drawingml/2006/main" flipH="0" flipV="0">
            <a:off x="2209800" y="4638675"/>
            <a:ext cx="409575" cy="0"/>
          </a:xfrm>
          <a:prstGeom xmlns:a="http://schemas.openxmlformats.org/drawingml/2006/main" prst="straightConnector1">
            <a:avLst/>
          </a:prstGeom>
          <a:ln xmlns:a="http://schemas.openxmlformats.org/drawingml/2006/main" w="23813">
            <a:solidFill>
              <a:srgbClr val="237855"/>
            </a:solidFill>
            <a:prstDash val="solid"/>
            <a:tailEnd type="triangle" w="sm" len="sm"/>
          </a:ln>
        </p:spPr>
      </p:cxnSp>
      <p:cxnSp>
        <p:nvCxnSpPr>
          <p:cNvPr id="12" name="wire-64">
            <a:extLst xmlns:a="http://schemas.openxmlformats.org/drawingml/2006/main">
              <a:ext uri="{FF2B5EF4-FFF2-40B4-BE49-F238E27FC236}">
                <a16:creationId xmlns:a16="http://schemas.microsoft.com/office/drawing/2014/main" id="{313300AA-7F5E-4A51-8646-30752199793D}"/>
              </a:ext>
            </a:extLst>
          </p:cNvPr>
          <p:cNvCxnSpPr/>
          <p:nvPr/>
        </p:nvCxnSpPr>
        <p:spPr>
          <a:xfrm xmlns:a="http://schemas.openxmlformats.org/drawingml/2006/main" flipH="0" flipV="0">
            <a:off x="2209800" y="3086100"/>
            <a:ext cx="0" cy="1552575"/>
          </a:xfrm>
          <a:prstGeom xmlns:a="http://schemas.openxmlformats.org/drawingml/2006/main" prst="straightConnector1">
            <a:avLst/>
          </a:prstGeom>
          <a:ln xmlns:a="http://schemas.openxmlformats.org/drawingml/2006/main" w="23813">
            <a:solidFill>
              <a:srgbClr val="237855"/>
            </a:solidFill>
            <a:prstDash val="solid"/>
            <a:tailEnd type="none" w="sm" len="sm"/>
          </a:ln>
        </p:spPr>
      </p:cxnSp>
      <p:cxnSp>
        <p:nvCxnSpPr>
          <p:cNvPr id="11" name="wire-63">
            <a:extLst xmlns:a="http://schemas.openxmlformats.org/drawingml/2006/main">
              <a:ext uri="{FF2B5EF4-FFF2-40B4-BE49-F238E27FC236}">
                <a16:creationId xmlns:a16="http://schemas.microsoft.com/office/drawing/2014/main" id="{AE681828-A7E5-416D-91F4-D600BBE33F5E}"/>
              </a:ext>
            </a:extLst>
          </p:cNvPr>
          <p:cNvCxnSpPr/>
          <p:nvPr/>
        </p:nvCxnSpPr>
        <p:spPr>
          <a:xfrm xmlns:a="http://schemas.openxmlformats.org/drawingml/2006/main" flipH="0" flipV="0">
            <a:off x="2209800" y="2647950"/>
            <a:ext cx="409575" cy="0"/>
          </a:xfrm>
          <a:prstGeom xmlns:a="http://schemas.openxmlformats.org/drawingml/2006/main" prst="straightConnector1">
            <a:avLst/>
          </a:prstGeom>
          <a:ln xmlns:a="http://schemas.openxmlformats.org/drawingml/2006/main" w="23813">
            <a:solidFill>
              <a:srgbClr val="147D92"/>
            </a:solidFill>
            <a:prstDash val="solid"/>
            <a:tailEnd type="triangle" w="sm" len="sm"/>
          </a:ln>
        </p:spPr>
      </p:cxnSp>
      <p:cxnSp>
        <p:nvCxnSpPr>
          <p:cNvPr id="10" name="wire-62">
            <a:extLst xmlns:a="http://schemas.openxmlformats.org/drawingml/2006/main">
              <a:ext uri="{FF2B5EF4-FFF2-40B4-BE49-F238E27FC236}">
                <a16:creationId xmlns:a16="http://schemas.microsoft.com/office/drawing/2014/main" id="{415C692A-8063-4B4D-A78D-E5DD0EDEBBFE}"/>
              </a:ext>
            </a:extLst>
          </p:cNvPr>
          <p:cNvCxnSpPr/>
          <p:nvPr/>
        </p:nvCxnSpPr>
        <p:spPr>
          <a:xfrm xmlns:a="http://schemas.openxmlformats.org/drawingml/2006/main" flipH="0" flipV="1">
            <a:off x="2209800" y="2647950"/>
            <a:ext cx="0" cy="438150"/>
          </a:xfrm>
          <a:prstGeom xmlns:a="http://schemas.openxmlformats.org/drawingml/2006/main" prst="straightConnector1">
            <a:avLst/>
          </a:prstGeom>
          <a:ln xmlns:a="http://schemas.openxmlformats.org/drawingml/2006/main" w="23813">
            <a:solidFill>
              <a:srgbClr val="147D92"/>
            </a:solidFill>
            <a:prstDash val="solid"/>
            <a:tailEnd type="none" w="sm" len="sm"/>
          </a:ln>
        </p:spPr>
      </p:cxnSp>
      <p:cxnSp>
        <p:nvCxnSpPr>
          <p:cNvPr id="8" name="wire-61">
            <a:extLst xmlns:a="http://schemas.openxmlformats.org/drawingml/2006/main">
              <a:ext uri="{FF2B5EF4-FFF2-40B4-BE49-F238E27FC236}">
                <a16:creationId xmlns:a16="http://schemas.microsoft.com/office/drawing/2014/main" id="{ACB13BDC-C74E-4DF5-AEB9-F7F60ACE5952}"/>
              </a:ext>
            </a:extLst>
          </p:cNvPr>
          <p:cNvCxnSpPr/>
          <p:nvPr/>
        </p:nvCxnSpPr>
        <p:spPr>
          <a:xfrm xmlns:a="http://schemas.openxmlformats.org/drawingml/2006/main" flipH="0" flipV="0">
            <a:off x="1943100" y="3086100"/>
            <a:ext cx="266700" cy="0"/>
          </a:xfrm>
          <a:prstGeom xmlns:a="http://schemas.openxmlformats.org/drawingml/2006/main" prst="straightConnector1">
            <a:avLst/>
          </a:prstGeom>
          <a:ln xmlns:a="http://schemas.openxmlformats.org/drawingml/2006/main" w="23813">
            <a:solidFill>
              <a:srgbClr val="425672"/>
            </a:solidFill>
            <a:prstDash val="solid"/>
            <a:tailEnd type="none" w="sm" len="sm"/>
          </a:ln>
        </p:spPr>
      </p:cxnSp>
      <p:cxnSp>
        <p:nvCxnSpPr>
          <p:cNvPr id="3" name="wire-56">
            <a:extLst xmlns:a="http://schemas.openxmlformats.org/drawingml/2006/main">
              <a:ext uri="{FF2B5EF4-FFF2-40B4-BE49-F238E27FC236}">
                <a16:creationId xmlns:a16="http://schemas.microsoft.com/office/drawing/2014/main" id="{17667192-8826-406D-9090-95B3C88C99F9}"/>
              </a:ext>
            </a:extLst>
          </p:cNvPr>
          <p:cNvCxnSpPr/>
          <p:nvPr/>
        </p:nvCxnSpPr>
        <p:spPr>
          <a:xfrm xmlns:a="http://schemas.openxmlformats.org/drawingml/2006/main" flipH="0" flipV="0">
            <a:off x="457200" y="1476375"/>
            <a:ext cx="11277600" cy="0"/>
          </a:xfrm>
          <a:prstGeom xmlns:a="http://schemas.openxmlformats.org/drawingml/2006/main" prst="straightConnector1">
            <a:avLst/>
          </a:prstGeom>
          <a:ln xmlns:a="http://schemas.openxmlformats.org/drawingml/2006/main" w="9525">
            <a:solidFill>
              <a:srgbClr val="CCD6E2"/>
            </a:solidFill>
            <a:prstDash val="solid"/>
            <a:tailEnd type="none" w="sm" len="sm"/>
          </a:ln>
        </p:spPr>
      </p:cxnSp>
      <p:sp>
        <p:nvSpPr>
          <p:cNvPr id="62" name="text-54">
            <a:extLst xmlns:a="http://schemas.openxmlformats.org/drawingml/2006/main">
              <a:ext uri="{FF2B5EF4-FFF2-40B4-BE49-F238E27FC236}">
                <a16:creationId xmlns:a16="http://schemas.microsoft.com/office/drawing/2014/main" id="{7C62D16E-1D86-4B50-91D2-6DECE2F73AB4}"/>
              </a:ext>
            </a:extLst>
          </p:cNvPr>
          <p:cNvSpPr>
            <a:spLocks xmlns:a="http://schemas.openxmlformats.org/drawingml/2006/main" noGrp="1"/>
          </p:cNvSpPr>
          <p:nvPr/>
        </p:nvSpPr>
        <p:spPr>
          <a:xfrm xmlns:a="http://schemas.openxmlformats.org/drawingml/2006/main">
            <a:off x="457200" y="304800"/>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2B4D"/>
                </a:solidFill>
                <a:latin typeface="Arial"/>
                <a:ea typeface="Arial"/>
                <a:cs typeface="Arial"/>
              </a:defRPr>
            </a:defPPr>
          </a:lstStyle>
          <a:p xmlns:a="http://schemas.openxmlformats.org/drawingml/2006/main">
            <a:pPr algn="l">
              <a:defRPr sz="3300" b="1">
                <a:solidFill>
                  <a:srgbClr val="172B4D"/>
                </a:solidFill>
                <a:latin typeface="Arial"/>
                <a:ea typeface="Arial"/>
                <a:cs typeface="Arial"/>
              </a:defRPr>
            </a:pPr>
            <a:r>
              <a:rPr sz="3300" b="1">
                <a:solidFill>
                  <a:srgbClr val="172B4D"/>
                </a:solidFill>
                <a:latin typeface="Arial"/>
                <a:ea typeface="Arial"/>
                <a:cs typeface="Arial"/>
              </a:rPr>
              <a:t>OPS: điều khiển và dữ liệu chạy song song</a:t>
            </a:r>
          </a:p>
        </p:txBody>
      </p:sp>
      <p:sp>
        <p:nvSpPr>
          <p:cNvPr id="2" name="text-55">
            <a:extLst xmlns:a="http://schemas.openxmlformats.org/drawingml/2006/main">
              <a:ext uri="{FF2B5EF4-FFF2-40B4-BE49-F238E27FC236}">
                <a16:creationId xmlns:a16="http://schemas.microsoft.com/office/drawing/2014/main" id="{0D2854A0-0F9D-4CCB-898E-F76582E33670}"/>
              </a:ext>
            </a:extLst>
          </p:cNvPr>
          <p:cNvSpPr>
            <a:spLocks xmlns:a="http://schemas.openxmlformats.org/drawingml/2006/main" noGrp="1"/>
          </p:cNvSpPr>
          <p:nvPr/>
        </p:nvSpPr>
        <p:spPr>
          <a:xfrm xmlns:a="http://schemas.openxmlformats.org/drawingml/2006/main">
            <a:off x="457200" y="942975"/>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3657D"/>
                </a:solidFill>
                <a:latin typeface="Arial"/>
                <a:ea typeface="Arial"/>
                <a:cs typeface="Arial"/>
              </a:defRPr>
            </a:defPPr>
          </a:lstStyle>
          <a:p xmlns:a="http://schemas.openxmlformats.org/drawingml/2006/main">
            <a:pPr algn="l">
              <a:defRPr sz="1800" b="0">
                <a:solidFill>
                  <a:srgbClr val="53657D"/>
                </a:solidFill>
                <a:latin typeface="Arial"/>
                <a:ea typeface="Arial"/>
                <a:cs typeface="Arial"/>
              </a:defRPr>
            </a:pPr>
            <a:r>
              <a:rPr sz="1800" b="0">
                <a:solidFill>
                  <a:srgbClr val="53657D"/>
                </a:solidFill>
                <a:latin typeface="Arial"/>
                <a:ea typeface="Arial"/>
                <a:cs typeface="Arial"/>
              </a:rPr>
              <a:t>Exact dùng 26 bit. Approx dùng 12 MSB. Hidden chèn sẵn trong Y trước swap</a:t>
            </a:r>
          </a:p>
        </p:txBody>
      </p:sp>
      <p:sp>
        <p:nvSpPr>
          <p:cNvPr id="4" name="text-57">
            <a:extLst xmlns:a="http://schemas.openxmlformats.org/drawingml/2006/main">
              <a:ext uri="{FF2B5EF4-FFF2-40B4-BE49-F238E27FC236}">
                <a16:creationId xmlns:a16="http://schemas.microsoft.com/office/drawing/2014/main" id="{C3BEB3B5-D2F5-42DD-8EEA-682424878846}"/>
              </a:ext>
            </a:extLst>
          </p:cNvPr>
          <p:cNvSpPr>
            <a:spLocks xmlns:a="http://schemas.openxmlformats.org/drawingml/2006/main" noGrp="1"/>
          </p:cNvSpPr>
          <p:nvPr/>
        </p:nvSpPr>
        <p:spPr>
          <a:xfrm xmlns:a="http://schemas.openxmlformats.org/drawingml/2006/main">
            <a:off x="11001375" y="6429375"/>
            <a:ext cx="723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57D"/>
                </a:solidFill>
                <a:latin typeface="Arial"/>
                <a:ea typeface="Arial"/>
                <a:cs typeface="Arial"/>
              </a:defRPr>
            </a:defPPr>
          </a:lstStyle>
          <a:p xmlns:a="http://schemas.openxmlformats.org/drawingml/2006/main">
            <a:pPr algn="r">
              <a:defRPr sz="1350" b="0">
                <a:solidFill>
                  <a:srgbClr val="53657D"/>
                </a:solidFill>
                <a:latin typeface="Arial"/>
                <a:ea typeface="Arial"/>
                <a:cs typeface="Arial"/>
              </a:defRPr>
            </a:pPr>
            <a:r>
              <a:rPr sz="1350" b="0">
                <a:solidFill>
                  <a:srgbClr val="53657D"/>
                </a:solidFill>
                <a:latin typeface="Arial"/>
                <a:ea typeface="Arial"/>
                <a:cs typeface="Arial"/>
              </a:rPr>
              <a:t>2 / 7</a:t>
            </a:r>
          </a:p>
        </p:txBody>
      </p:sp>
      <p:sp>
        <p:nvSpPr>
          <p:cNvPr id="5" name="Ngõ vào-58">
            <a:extLst xmlns:a="http://schemas.openxmlformats.org/drawingml/2006/main">
              <a:ext uri="{FF2B5EF4-FFF2-40B4-BE49-F238E27FC236}">
                <a16:creationId xmlns:a16="http://schemas.microsoft.com/office/drawing/2014/main" id="{D612D1CC-BC55-43DB-BB5E-CD38C573E6FB}"/>
              </a:ext>
            </a:extLst>
          </p:cNvPr>
          <p:cNvSpPr>
            <a:spLocks xmlns:a="http://schemas.openxmlformats.org/drawingml/2006/main" noGrp="1"/>
          </p:cNvSpPr>
          <p:nvPr/>
        </p:nvSpPr>
        <p:spPr>
          <a:xfrm xmlns:a="http://schemas.openxmlformats.org/drawingml/2006/main">
            <a:off x="457200" y="2543175"/>
            <a:ext cx="1485900" cy="1238250"/>
          </a:xfrm>
          <a:prstGeom xmlns:a="http://schemas.openxmlformats.org/drawingml/2006/main" prst="rect">
            <a:avLst/>
          </a:prstGeom>
          <a:solidFill xmlns:a="http://schemas.openxmlformats.org/drawingml/2006/main">
            <a:srgbClr val="E8F6F8"/>
          </a:solidFill>
          <a:ln xmlns:a="http://schemas.openxmlformats.org/drawingml/2006/main" w="19050">
            <a:solidFill>
              <a:srgbClr val="147D92"/>
            </a:solidFill>
          </a:ln>
        </p:spPr>
      </p:sp>
      <p:sp>
        <p:nvSpPr>
          <p:cNvPr id="6" name="text-59">
            <a:extLst xmlns:a="http://schemas.openxmlformats.org/drawingml/2006/main">
              <a:ext uri="{FF2B5EF4-FFF2-40B4-BE49-F238E27FC236}">
                <a16:creationId xmlns:a16="http://schemas.microsoft.com/office/drawing/2014/main" id="{31D5C009-232A-434D-BBC4-7D9A7C3B7692}"/>
              </a:ext>
            </a:extLst>
          </p:cNvPr>
          <p:cNvSpPr>
            <a:spLocks xmlns:a="http://schemas.openxmlformats.org/drawingml/2006/main" noGrp="1"/>
          </p:cNvSpPr>
          <p:nvPr/>
        </p:nvSpPr>
        <p:spPr>
          <a:xfrm xmlns:a="http://schemas.openxmlformats.org/drawingml/2006/main">
            <a:off x="552450" y="2667000"/>
            <a:ext cx="1295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47D92"/>
                </a:solidFill>
                <a:latin typeface="Arial"/>
                <a:ea typeface="Arial"/>
                <a:cs typeface="Arial"/>
              </a:defRPr>
            </a:defPPr>
          </a:lstStyle>
          <a:p xmlns:a="http://schemas.openxmlformats.org/drawingml/2006/main">
            <a:pPr algn="ctr">
              <a:defRPr sz="1875" b="1">
                <a:solidFill>
                  <a:srgbClr val="147D92"/>
                </a:solidFill>
                <a:latin typeface="Arial"/>
                <a:ea typeface="Arial"/>
                <a:cs typeface="Arial"/>
              </a:defRPr>
            </a:pPr>
            <a:r>
              <a:rPr sz="1875" b="1">
                <a:solidFill>
                  <a:srgbClr val="147D92"/>
                </a:solidFill>
                <a:latin typeface="Arial"/>
                <a:ea typeface="Arial"/>
                <a:cs typeface="Arial"/>
              </a:rPr>
              <a:t>Ngõ vào</a:t>
            </a:r>
          </a:p>
        </p:txBody>
      </p:sp>
      <p:sp>
        <p:nvSpPr>
          <p:cNvPr id="7" name="text-60">
            <a:extLst xmlns:a="http://schemas.openxmlformats.org/drawingml/2006/main">
              <a:ext uri="{FF2B5EF4-FFF2-40B4-BE49-F238E27FC236}">
                <a16:creationId xmlns:a16="http://schemas.microsoft.com/office/drawing/2014/main" id="{237319B3-3C75-4E80-8C12-7D742246E40D}"/>
              </a:ext>
            </a:extLst>
          </p:cNvPr>
          <p:cNvSpPr>
            <a:spLocks xmlns:a="http://schemas.openxmlformats.org/drawingml/2006/main" noGrp="1"/>
          </p:cNvSpPr>
          <p:nvPr/>
        </p:nvSpPr>
        <p:spPr>
          <a:xfrm xmlns:a="http://schemas.openxmlformats.org/drawingml/2006/main">
            <a:off x="552450" y="3038475"/>
            <a:ext cx="1295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defRPr sz="1725" b="0">
                <a:solidFill>
                  <a:srgbClr val="172B4D"/>
                </a:solidFill>
                <a:latin typeface="Arial"/>
                <a:ea typeface="Arial"/>
                <a:cs typeface="Arial"/>
              </a:defRPr>
            </a:pPr>
            <a:r>
              <a:rPr sz="1725" b="0">
                <a:solidFill>
                  <a:srgbClr val="172B4D"/>
                </a:solidFill>
                <a:latin typeface="Arial"/>
                <a:ea typeface="Arial"/>
                <a:cs typeface="Arial"/>
              </a:rPr>
              <a:t>A[25:0]</a:t>
            </a:r>
          </a:p>
          <a:p xmlns:a="http://schemas.openxmlformats.org/drawingml/2006/main">
            <a:pPr algn="ctr">
              <a:defRPr sz="1725" b="0">
                <a:solidFill>
                  <a:srgbClr val="172B4D"/>
                </a:solidFill>
                <a:latin typeface="Arial"/>
                <a:ea typeface="Arial"/>
                <a:cs typeface="Arial"/>
              </a:defRPr>
            </a:pPr>
            <a:r>
              <a:rPr sz="1725" b="0">
                <a:solidFill>
                  <a:srgbClr val="172B4D"/>
                </a:solidFill>
                <a:latin typeface="Arial"/>
                <a:ea typeface="Arial"/>
                <a:cs typeface="Arial"/>
              </a:rPr>
              <a:t>B[25:0]</a:t>
            </a:r>
          </a:p>
        </p:txBody>
      </p:sp>
      <p:sp>
        <p:nvSpPr>
          <p:cNvPr id="9" name="input-junction">
            <a:extLst xmlns:a="http://schemas.openxmlformats.org/drawingml/2006/main">
              <a:ext uri="{FF2B5EF4-FFF2-40B4-BE49-F238E27FC236}">
                <a16:creationId xmlns:a16="http://schemas.microsoft.com/office/drawing/2014/main" id="{011D3FAA-1C25-4C89-8DFF-3E6C28596AE5}"/>
              </a:ext>
            </a:extLst>
          </p:cNvPr>
          <p:cNvSpPr>
            <a:spLocks xmlns:a="http://schemas.openxmlformats.org/drawingml/2006/main" noGrp="1"/>
          </p:cNvSpPr>
          <p:nvPr/>
        </p:nvSpPr>
        <p:spPr>
          <a:xfrm xmlns:a="http://schemas.openxmlformats.org/drawingml/2006/main">
            <a:off x="2171700" y="3048000"/>
            <a:ext cx="76200" cy="76200"/>
          </a:xfrm>
          <a:prstGeom xmlns:a="http://schemas.openxmlformats.org/drawingml/2006/main" prst="ellipse">
            <a:avLst/>
          </a:prstGeom>
          <a:solidFill xmlns:a="http://schemas.openxmlformats.org/drawingml/2006/main">
            <a:srgbClr val="425672"/>
          </a:solidFill>
          <a:ln xmlns:a="http://schemas.openxmlformats.org/drawingml/2006/main" w="0">
            <a:noFill/>
          </a:ln>
        </p:spPr>
      </p:sp>
      <p:sp>
        <p:nvSpPr>
          <p:cNvPr id="14" name="text-66">
            <a:extLst xmlns:a="http://schemas.openxmlformats.org/drawingml/2006/main">
              <a:ext uri="{FF2B5EF4-FFF2-40B4-BE49-F238E27FC236}">
                <a16:creationId xmlns:a16="http://schemas.microsoft.com/office/drawing/2014/main" id="{AC390E7B-D234-4407-9075-A98C08949341}"/>
              </a:ext>
            </a:extLst>
          </p:cNvPr>
          <p:cNvSpPr>
            <a:spLocks xmlns:a="http://schemas.openxmlformats.org/drawingml/2006/main" noGrp="1"/>
          </p:cNvSpPr>
          <p:nvPr/>
        </p:nvSpPr>
        <p:spPr>
          <a:xfrm xmlns:a="http://schemas.openxmlformats.org/drawingml/2006/main">
            <a:off x="2619375" y="1647825"/>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47D92"/>
                </a:solidFill>
                <a:latin typeface="Arial"/>
                <a:ea typeface="Arial"/>
                <a:cs typeface="Arial"/>
              </a:defRPr>
            </a:defPPr>
          </a:lstStyle>
          <a:p xmlns:a="http://schemas.openxmlformats.org/drawingml/2006/main">
            <a:pPr algn="l">
              <a:defRPr sz="1875" b="1">
                <a:solidFill>
                  <a:srgbClr val="147D92"/>
                </a:solidFill>
                <a:latin typeface="Arial"/>
                <a:ea typeface="Arial"/>
                <a:cs typeface="Arial"/>
              </a:defRPr>
            </a:pPr>
            <a:r>
              <a:rPr sz="1875" b="1">
                <a:solidFill>
                  <a:srgbClr val="147D92"/>
                </a:solidFill>
                <a:latin typeface="Arial"/>
                <a:ea typeface="Arial"/>
                <a:cs typeface="Arial"/>
              </a:rPr>
              <a:t>ĐIỀU KHIỂN</a:t>
            </a:r>
          </a:p>
        </p:txBody>
      </p:sp>
      <p:sp>
        <p:nvSpPr>
          <p:cNvPr id="15" name="Mask thấp-67">
            <a:extLst xmlns:a="http://schemas.openxmlformats.org/drawingml/2006/main">
              <a:ext uri="{FF2B5EF4-FFF2-40B4-BE49-F238E27FC236}">
                <a16:creationId xmlns:a16="http://schemas.microsoft.com/office/drawing/2014/main" id="{870471BC-B40E-4B40-A469-35735C7FE762}"/>
              </a:ext>
            </a:extLst>
          </p:cNvPr>
          <p:cNvSpPr>
            <a:spLocks xmlns:a="http://schemas.openxmlformats.org/drawingml/2006/main" noGrp="1"/>
          </p:cNvSpPr>
          <p:nvPr/>
        </p:nvSpPr>
        <p:spPr>
          <a:xfrm xmlns:a="http://schemas.openxmlformats.org/drawingml/2006/main">
            <a:off x="2619375" y="2085975"/>
            <a:ext cx="2333625" cy="1114425"/>
          </a:xfrm>
          <a:prstGeom xmlns:a="http://schemas.openxmlformats.org/drawingml/2006/main" prst="rect">
            <a:avLst/>
          </a:prstGeom>
          <a:solidFill xmlns:a="http://schemas.openxmlformats.org/drawingml/2006/main">
            <a:srgbClr val="E8F6F8"/>
          </a:solidFill>
          <a:ln xmlns:a="http://schemas.openxmlformats.org/drawingml/2006/main" w="19050">
            <a:solidFill>
              <a:srgbClr val="147D92"/>
            </a:solidFill>
          </a:ln>
        </p:spPr>
      </p:sp>
      <p:sp>
        <p:nvSpPr>
          <p:cNvPr id="16" name="text-68">
            <a:extLst xmlns:a="http://schemas.openxmlformats.org/drawingml/2006/main">
              <a:ext uri="{FF2B5EF4-FFF2-40B4-BE49-F238E27FC236}">
                <a16:creationId xmlns:a16="http://schemas.microsoft.com/office/drawing/2014/main" id="{F53D2C34-E868-48E4-93D0-D40AF35DA097}"/>
              </a:ext>
            </a:extLst>
          </p:cNvPr>
          <p:cNvSpPr>
            <a:spLocks xmlns:a="http://schemas.openxmlformats.org/drawingml/2006/main" noGrp="1"/>
          </p:cNvSpPr>
          <p:nvPr/>
        </p:nvSpPr>
        <p:spPr>
          <a:xfrm xmlns:a="http://schemas.openxmlformats.org/drawingml/2006/main">
            <a:off x="2714625" y="2209800"/>
            <a:ext cx="2143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147D92"/>
                </a:solidFill>
                <a:latin typeface="Arial"/>
                <a:ea typeface="Arial"/>
                <a:cs typeface="Arial"/>
              </a:defRPr>
            </a:defPPr>
          </a:lstStyle>
          <a:p xmlns:a="http://schemas.openxmlformats.org/drawingml/2006/main">
            <a:pPr algn="ctr">
              <a:defRPr sz="1950" b="1">
                <a:solidFill>
                  <a:srgbClr val="147D92"/>
                </a:solidFill>
                <a:latin typeface="Arial"/>
                <a:ea typeface="Arial"/>
                <a:cs typeface="Arial"/>
              </a:defRPr>
            </a:pPr>
            <a:r>
              <a:rPr sz="1950" b="1">
                <a:solidFill>
                  <a:srgbClr val="147D92"/>
                </a:solidFill>
                <a:latin typeface="Arial"/>
                <a:ea typeface="Arial"/>
                <a:cs typeface="Arial"/>
              </a:rPr>
              <a:t>Mask thấp</a:t>
            </a:r>
          </a:p>
        </p:txBody>
      </p:sp>
      <p:sp>
        <p:nvSpPr>
          <p:cNvPr id="17" name="text-69">
            <a:extLst xmlns:a="http://schemas.openxmlformats.org/drawingml/2006/main">
              <a:ext uri="{FF2B5EF4-FFF2-40B4-BE49-F238E27FC236}">
                <a16:creationId xmlns:a16="http://schemas.microsoft.com/office/drawing/2014/main" id="{0821AE51-0924-4D20-8C17-68EF6C430AA6}"/>
              </a:ext>
            </a:extLst>
          </p:cNvPr>
          <p:cNvSpPr>
            <a:spLocks xmlns:a="http://schemas.openxmlformats.org/drawingml/2006/main" noGrp="1"/>
          </p:cNvSpPr>
          <p:nvPr/>
        </p:nvSpPr>
        <p:spPr>
          <a:xfrm xmlns:a="http://schemas.openxmlformats.org/drawingml/2006/main">
            <a:off x="2714625" y="2581275"/>
            <a:ext cx="2143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defRPr sz="1725" b="0">
                <a:solidFill>
                  <a:srgbClr val="172B4D"/>
                </a:solidFill>
                <a:latin typeface="Arial"/>
                <a:ea typeface="Arial"/>
                <a:cs typeface="Arial"/>
              </a:defRPr>
            </a:pPr>
            <a:r>
              <a:rPr sz="1725" b="0">
                <a:solidFill>
                  <a:srgbClr val="172B4D"/>
                </a:solidFill>
                <a:latin typeface="Arial"/>
                <a:ea typeface="Arial"/>
                <a:cs typeface="Arial"/>
              </a:rPr>
              <a:t>[25:14] giữ nguyên</a:t>
            </a:r>
          </a:p>
          <a:p xmlns:a="http://schemas.openxmlformats.org/drawingml/2006/main">
            <a:pPr algn="ctr">
              <a:defRPr sz="1725" b="0">
                <a:solidFill>
                  <a:srgbClr val="172B4D"/>
                </a:solidFill>
                <a:latin typeface="Arial"/>
                <a:ea typeface="Arial"/>
                <a:cs typeface="Arial"/>
              </a:defRPr>
            </a:pPr>
            <a:r>
              <a:rPr sz="1725" b="0">
                <a:solidFill>
                  <a:srgbClr val="172B4D"/>
                </a:solidFill>
                <a:latin typeface="Arial"/>
                <a:ea typeface="Arial"/>
                <a:cs typeface="Arial"/>
              </a:rPr>
              <a:t>[13:0] AND !mode</a:t>
            </a:r>
          </a:p>
        </p:txBody>
      </p:sp>
      <p:sp>
        <p:nvSpPr>
          <p:cNvPr id="18" name="Popcount A/B-70">
            <a:extLst xmlns:a="http://schemas.openxmlformats.org/drawingml/2006/main">
              <a:ext uri="{FF2B5EF4-FFF2-40B4-BE49-F238E27FC236}">
                <a16:creationId xmlns:a16="http://schemas.microsoft.com/office/drawing/2014/main" id="{20A11C42-5C94-4BA6-AEA2-79E0BED17CC1}"/>
              </a:ext>
            </a:extLst>
          </p:cNvPr>
          <p:cNvSpPr>
            <a:spLocks xmlns:a="http://schemas.openxmlformats.org/drawingml/2006/main" noGrp="1"/>
          </p:cNvSpPr>
          <p:nvPr/>
        </p:nvSpPr>
        <p:spPr>
          <a:xfrm xmlns:a="http://schemas.openxmlformats.org/drawingml/2006/main">
            <a:off x="5334000" y="2085975"/>
            <a:ext cx="1924050" cy="1114425"/>
          </a:xfrm>
          <a:prstGeom xmlns:a="http://schemas.openxmlformats.org/drawingml/2006/main" prst="rect">
            <a:avLst/>
          </a:prstGeom>
          <a:solidFill xmlns:a="http://schemas.openxmlformats.org/drawingml/2006/main">
            <a:srgbClr val="E8F6F8"/>
          </a:solidFill>
          <a:ln xmlns:a="http://schemas.openxmlformats.org/drawingml/2006/main" w="19050">
            <a:solidFill>
              <a:srgbClr val="147D92"/>
            </a:solidFill>
          </a:ln>
        </p:spPr>
      </p:sp>
      <p:sp>
        <p:nvSpPr>
          <p:cNvPr id="19" name="text-71">
            <a:extLst xmlns:a="http://schemas.openxmlformats.org/drawingml/2006/main">
              <a:ext uri="{FF2B5EF4-FFF2-40B4-BE49-F238E27FC236}">
                <a16:creationId xmlns:a16="http://schemas.microsoft.com/office/drawing/2014/main" id="{68DF47FE-D37F-4579-8F5B-740167DEFFC8}"/>
              </a:ext>
            </a:extLst>
          </p:cNvPr>
          <p:cNvSpPr>
            <a:spLocks xmlns:a="http://schemas.openxmlformats.org/drawingml/2006/main" noGrp="1"/>
          </p:cNvSpPr>
          <p:nvPr/>
        </p:nvSpPr>
        <p:spPr>
          <a:xfrm xmlns:a="http://schemas.openxmlformats.org/drawingml/2006/main">
            <a:off x="5429250" y="2209800"/>
            <a:ext cx="1733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47D92"/>
                </a:solidFill>
                <a:latin typeface="Arial"/>
                <a:ea typeface="Arial"/>
                <a:cs typeface="Arial"/>
              </a:defRPr>
            </a:defPPr>
          </a:lstStyle>
          <a:p xmlns:a="http://schemas.openxmlformats.org/drawingml/2006/main">
            <a:pPr algn="ctr">
              <a:defRPr sz="1875" b="1">
                <a:solidFill>
                  <a:srgbClr val="147D92"/>
                </a:solidFill>
                <a:latin typeface="Arial"/>
                <a:ea typeface="Arial"/>
                <a:cs typeface="Arial"/>
              </a:defRPr>
            </a:pPr>
            <a:r>
              <a:rPr sz="1875" b="1">
                <a:solidFill>
                  <a:srgbClr val="147D92"/>
                </a:solidFill>
                <a:latin typeface="Arial"/>
                <a:ea typeface="Arial"/>
                <a:cs typeface="Arial"/>
              </a:rPr>
              <a:t>Popcount A/B</a:t>
            </a:r>
          </a:p>
        </p:txBody>
      </p:sp>
      <p:sp>
        <p:nvSpPr>
          <p:cNvPr id="20" name="text-72">
            <a:extLst xmlns:a="http://schemas.openxmlformats.org/drawingml/2006/main">
              <a:ext uri="{FF2B5EF4-FFF2-40B4-BE49-F238E27FC236}">
                <a16:creationId xmlns:a16="http://schemas.microsoft.com/office/drawing/2014/main" id="{87A73506-7396-4194-AD5F-1CB92510B86F}"/>
              </a:ext>
            </a:extLst>
          </p:cNvPr>
          <p:cNvSpPr>
            <a:spLocks xmlns:a="http://schemas.openxmlformats.org/drawingml/2006/main" noGrp="1"/>
          </p:cNvSpPr>
          <p:nvPr/>
        </p:nvSpPr>
        <p:spPr>
          <a:xfrm xmlns:a="http://schemas.openxmlformats.org/drawingml/2006/main">
            <a:off x="5429250" y="2581275"/>
            <a:ext cx="17335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defRPr sz="1725" b="0">
                <a:solidFill>
                  <a:srgbClr val="172B4D"/>
                </a:solidFill>
                <a:latin typeface="Arial"/>
                <a:ea typeface="Arial"/>
                <a:cs typeface="Arial"/>
              </a:defRPr>
            </a:pPr>
            <a:r>
              <a:rPr sz="1725" b="0">
                <a:solidFill>
                  <a:srgbClr val="172B4D"/>
                </a:solidFill>
                <a:latin typeface="Arial"/>
                <a:ea typeface="Arial"/>
                <a:cs typeface="Arial"/>
              </a:rPr>
              <a:t>Hai cây cộng</a:t>
            </a:r>
          </a:p>
          <a:p xmlns:a="http://schemas.openxmlformats.org/drawingml/2006/main">
            <a:pPr algn="ctr">
              <a:defRPr sz="1725" b="0">
                <a:solidFill>
                  <a:srgbClr val="172B4D"/>
                </a:solidFill>
                <a:latin typeface="Arial"/>
                <a:ea typeface="Arial"/>
                <a:cs typeface="Arial"/>
              </a:defRPr>
            </a:pPr>
            <a:r>
              <a:rPr sz="1725" b="0">
                <a:solidFill>
                  <a:srgbClr val="172B4D"/>
                </a:solidFill>
                <a:latin typeface="Arial"/>
                <a:ea typeface="Arial"/>
                <a:cs typeface="Arial"/>
              </a:rPr>
              <a:t>Count A, Count B</a:t>
            </a:r>
          </a:p>
        </p:txBody>
      </p:sp>
      <p:sp>
        <p:nvSpPr>
          <p:cNvPr id="21" name="Chọn X-73">
            <a:extLst xmlns:a="http://schemas.openxmlformats.org/drawingml/2006/main">
              <a:ext uri="{FF2B5EF4-FFF2-40B4-BE49-F238E27FC236}">
                <a16:creationId xmlns:a16="http://schemas.microsoft.com/office/drawing/2014/main" id="{E11A0437-1CB7-4BF1-A5FF-85549C642DD2}"/>
              </a:ext>
            </a:extLst>
          </p:cNvPr>
          <p:cNvSpPr>
            <a:spLocks xmlns:a="http://schemas.openxmlformats.org/drawingml/2006/main" noGrp="1"/>
          </p:cNvSpPr>
          <p:nvPr/>
        </p:nvSpPr>
        <p:spPr>
          <a:xfrm xmlns:a="http://schemas.openxmlformats.org/drawingml/2006/main">
            <a:off x="7753350" y="2085975"/>
            <a:ext cx="2266950" cy="1114425"/>
          </a:xfrm>
          <a:prstGeom xmlns:a="http://schemas.openxmlformats.org/drawingml/2006/main" prst="rect">
            <a:avLst/>
          </a:prstGeom>
          <a:solidFill xmlns:a="http://schemas.openxmlformats.org/drawingml/2006/main">
            <a:srgbClr val="E8F6F8"/>
          </a:solidFill>
          <a:ln xmlns:a="http://schemas.openxmlformats.org/drawingml/2006/main" w="19050">
            <a:solidFill>
              <a:srgbClr val="147D92"/>
            </a:solidFill>
          </a:ln>
        </p:spPr>
      </p:sp>
      <p:sp>
        <p:nvSpPr>
          <p:cNvPr id="22" name="text-74">
            <a:extLst xmlns:a="http://schemas.openxmlformats.org/drawingml/2006/main">
              <a:ext uri="{FF2B5EF4-FFF2-40B4-BE49-F238E27FC236}">
                <a16:creationId xmlns:a16="http://schemas.microsoft.com/office/drawing/2014/main" id="{39E2FF83-0943-4BC3-A7A4-8D9B5EE4811E}"/>
              </a:ext>
            </a:extLst>
          </p:cNvPr>
          <p:cNvSpPr>
            <a:spLocks xmlns:a="http://schemas.openxmlformats.org/drawingml/2006/main" noGrp="1"/>
          </p:cNvSpPr>
          <p:nvPr/>
        </p:nvSpPr>
        <p:spPr>
          <a:xfrm xmlns:a="http://schemas.openxmlformats.org/drawingml/2006/main">
            <a:off x="7848600" y="2209800"/>
            <a:ext cx="2076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147D92"/>
                </a:solidFill>
                <a:latin typeface="Arial"/>
                <a:ea typeface="Arial"/>
                <a:cs typeface="Arial"/>
              </a:defRPr>
            </a:defPPr>
          </a:lstStyle>
          <a:p xmlns:a="http://schemas.openxmlformats.org/drawingml/2006/main">
            <a:pPr algn="ctr">
              <a:defRPr sz="1950" b="1">
                <a:solidFill>
                  <a:srgbClr val="147D92"/>
                </a:solidFill>
                <a:latin typeface="Arial"/>
                <a:ea typeface="Arial"/>
                <a:cs typeface="Arial"/>
              </a:defRPr>
            </a:pPr>
            <a:r>
              <a:rPr sz="1950" b="1">
                <a:solidFill>
                  <a:srgbClr val="147D92"/>
                </a:solidFill>
                <a:latin typeface="Arial"/>
                <a:ea typeface="Arial"/>
                <a:cs typeface="Arial"/>
              </a:rPr>
              <a:t>Chọn X</a:t>
            </a:r>
          </a:p>
        </p:txBody>
      </p:sp>
      <p:sp>
        <p:nvSpPr>
          <p:cNvPr id="23" name="text-75">
            <a:extLst xmlns:a="http://schemas.openxmlformats.org/drawingml/2006/main">
              <a:ext uri="{FF2B5EF4-FFF2-40B4-BE49-F238E27FC236}">
                <a16:creationId xmlns:a16="http://schemas.microsoft.com/office/drawing/2014/main" id="{15C0DB2B-2519-42F7-8A79-1508D9232D4C}"/>
              </a:ext>
            </a:extLst>
          </p:cNvPr>
          <p:cNvSpPr>
            <a:spLocks xmlns:a="http://schemas.openxmlformats.org/drawingml/2006/main" noGrp="1"/>
          </p:cNvSpPr>
          <p:nvPr/>
        </p:nvSpPr>
        <p:spPr>
          <a:xfrm xmlns:a="http://schemas.openxmlformats.org/drawingml/2006/main">
            <a:off x="7848600" y="2581275"/>
            <a:ext cx="20764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defRPr sz="1725" b="0">
                <a:solidFill>
                  <a:srgbClr val="172B4D"/>
                </a:solidFill>
                <a:latin typeface="Arial"/>
                <a:ea typeface="Arial"/>
                <a:cs typeface="Arial"/>
              </a:defRPr>
            </a:pPr>
            <a:r>
              <a:rPr sz="1725" b="0">
                <a:solidFill>
                  <a:srgbClr val="172B4D"/>
                </a:solidFill>
                <a:latin typeface="Arial"/>
                <a:ea typeface="Arial"/>
                <a:cs typeface="Arial"/>
              </a:rPr>
              <a:t>B &lt; A &amp; OPS bật</a:t>
            </a:r>
          </a:p>
          <a:p xmlns:a="http://schemas.openxmlformats.org/drawingml/2006/main">
            <a:pPr algn="ctr">
              <a:defRPr sz="1725" b="0">
                <a:solidFill>
                  <a:srgbClr val="172B4D"/>
                </a:solidFill>
                <a:latin typeface="Arial"/>
                <a:ea typeface="Arial"/>
                <a:cs typeface="Arial"/>
              </a:defRPr>
            </a:pPr>
            <a:r>
              <a:rPr sz="1725" b="0">
                <a:solidFill>
                  <a:srgbClr val="172B4D"/>
                </a:solidFill>
                <a:latin typeface="Arial"/>
                <a:ea typeface="Arial"/>
                <a:cs typeface="Arial"/>
              </a:rPr>
              <a:t>Hòa giữ A</a:t>
            </a:r>
          </a:p>
        </p:txBody>
      </p:sp>
      <p:sp>
        <p:nvSpPr>
          <p:cNvPr id="31" name="select-junction">
            <a:extLst xmlns:a="http://schemas.openxmlformats.org/drawingml/2006/main">
              <a:ext uri="{FF2B5EF4-FFF2-40B4-BE49-F238E27FC236}">
                <a16:creationId xmlns:a16="http://schemas.microsoft.com/office/drawing/2014/main" id="{90AF74DA-B439-4594-987F-310B34261803}"/>
              </a:ext>
            </a:extLst>
          </p:cNvPr>
          <p:cNvSpPr>
            <a:spLocks xmlns:a="http://schemas.openxmlformats.org/drawingml/2006/main" noGrp="1"/>
          </p:cNvSpPr>
          <p:nvPr/>
        </p:nvSpPr>
        <p:spPr>
          <a:xfrm xmlns:a="http://schemas.openxmlformats.org/drawingml/2006/main">
            <a:off x="8848725" y="3648075"/>
            <a:ext cx="57150" cy="57150"/>
          </a:xfrm>
          <a:prstGeom xmlns:a="http://schemas.openxmlformats.org/drawingml/2006/main" prst="ellipse">
            <a:avLst/>
          </a:prstGeom>
          <a:solidFill xmlns:a="http://schemas.openxmlformats.org/drawingml/2006/main">
            <a:srgbClr val="147D92"/>
          </a:solidFill>
          <a:ln xmlns:a="http://schemas.openxmlformats.org/drawingml/2006/main" w="0">
            <a:noFill/>
          </a:ln>
        </p:spPr>
      </p:sp>
      <p:sp>
        <p:nvSpPr>
          <p:cNvPr id="32" name="text-83">
            <a:extLst xmlns:a="http://schemas.openxmlformats.org/drawingml/2006/main">
              <a:ext uri="{FF2B5EF4-FFF2-40B4-BE49-F238E27FC236}">
                <a16:creationId xmlns:a16="http://schemas.microsoft.com/office/drawing/2014/main" id="{FC6E607D-C960-45E1-BF09-ADF078337DC9}"/>
              </a:ext>
            </a:extLst>
          </p:cNvPr>
          <p:cNvSpPr>
            <a:spLocks xmlns:a="http://schemas.openxmlformats.org/drawingml/2006/main" noGrp="1"/>
          </p:cNvSpPr>
          <p:nvPr/>
        </p:nvSpPr>
        <p:spPr>
          <a:xfrm xmlns:a="http://schemas.openxmlformats.org/drawingml/2006/main">
            <a:off x="8972550" y="3238500"/>
            <a:ext cx="1638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147D92"/>
                </a:solidFill>
                <a:latin typeface="Arial"/>
                <a:ea typeface="Arial"/>
                <a:cs typeface="Arial"/>
              </a:defRPr>
            </a:defPPr>
          </a:lstStyle>
          <a:p xmlns:a="http://schemas.openxmlformats.org/drawingml/2006/main">
            <a:pPr algn="l">
              <a:defRPr sz="1725" b="0">
                <a:solidFill>
                  <a:srgbClr val="147D92"/>
                </a:solidFill>
                <a:latin typeface="Arial"/>
                <a:ea typeface="Arial"/>
                <a:cs typeface="Arial"/>
              </a:defRPr>
            </a:pPr>
            <a:r>
              <a:rPr sz="1725" b="0">
                <a:solidFill>
                  <a:srgbClr val="147D92"/>
                </a:solidFill>
                <a:latin typeface="Arial"/>
                <a:ea typeface="Arial"/>
                <a:cs typeface="Arial"/>
              </a:rPr>
              <a:t>choose_b</a:t>
            </a:r>
          </a:p>
        </p:txBody>
      </p:sp>
      <p:sp>
        <p:nvSpPr>
          <p:cNvPr id="33" name="text-84">
            <a:extLst xmlns:a="http://schemas.openxmlformats.org/drawingml/2006/main">
              <a:ext uri="{FF2B5EF4-FFF2-40B4-BE49-F238E27FC236}">
                <a16:creationId xmlns:a16="http://schemas.microsoft.com/office/drawing/2014/main" id="{C8C98002-DE70-4DDD-9727-ED973BE2AE1C}"/>
              </a:ext>
            </a:extLst>
          </p:cNvPr>
          <p:cNvSpPr>
            <a:spLocks xmlns:a="http://schemas.openxmlformats.org/drawingml/2006/main" noGrp="1"/>
          </p:cNvSpPr>
          <p:nvPr/>
        </p:nvSpPr>
        <p:spPr>
          <a:xfrm xmlns:a="http://schemas.openxmlformats.org/drawingml/2006/main">
            <a:off x="2619375" y="338137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37855"/>
                </a:solidFill>
                <a:latin typeface="Arial"/>
                <a:ea typeface="Arial"/>
                <a:cs typeface="Arial"/>
              </a:defRPr>
            </a:defPPr>
          </a:lstStyle>
          <a:p xmlns:a="http://schemas.openxmlformats.org/drawingml/2006/main">
            <a:pPr algn="l">
              <a:defRPr sz="1875" b="1">
                <a:solidFill>
                  <a:srgbClr val="237855"/>
                </a:solidFill>
                <a:latin typeface="Arial"/>
                <a:ea typeface="Arial"/>
                <a:cs typeface="Arial"/>
              </a:defRPr>
            </a:pPr>
            <a:r>
              <a:rPr sz="1875" b="1">
                <a:solidFill>
                  <a:srgbClr val="237855"/>
                </a:solidFill>
                <a:latin typeface="Arial"/>
                <a:ea typeface="Arial"/>
                <a:cs typeface="Arial"/>
              </a:rPr>
              <a:t>DỮ LIỆU</a:t>
            </a:r>
          </a:p>
        </p:txBody>
      </p:sp>
      <p:sp>
        <p:nvSpPr>
          <p:cNvPr id="34" name="Chuẩn bị A và B-85">
            <a:extLst xmlns:a="http://schemas.openxmlformats.org/drawingml/2006/main">
              <a:ext uri="{FF2B5EF4-FFF2-40B4-BE49-F238E27FC236}">
                <a16:creationId xmlns:a16="http://schemas.microsoft.com/office/drawing/2014/main" id="{D4C43DC2-EE73-40DF-B340-8406524AE033}"/>
              </a:ext>
            </a:extLst>
          </p:cNvPr>
          <p:cNvSpPr>
            <a:spLocks xmlns:a="http://schemas.openxmlformats.org/drawingml/2006/main" noGrp="1"/>
          </p:cNvSpPr>
          <p:nvPr/>
        </p:nvSpPr>
        <p:spPr>
          <a:xfrm xmlns:a="http://schemas.openxmlformats.org/drawingml/2006/main">
            <a:off x="2619375" y="3943350"/>
            <a:ext cx="2857500" cy="1514475"/>
          </a:xfrm>
          <a:prstGeom xmlns:a="http://schemas.openxmlformats.org/drawingml/2006/main" prst="rect">
            <a:avLst/>
          </a:prstGeom>
          <a:solidFill xmlns:a="http://schemas.openxmlformats.org/drawingml/2006/main">
            <a:srgbClr val="E8F5ED"/>
          </a:solidFill>
          <a:ln xmlns:a="http://schemas.openxmlformats.org/drawingml/2006/main" w="19050">
            <a:solidFill>
              <a:srgbClr val="237855"/>
            </a:solidFill>
          </a:ln>
        </p:spPr>
      </p:sp>
      <p:sp>
        <p:nvSpPr>
          <p:cNvPr id="35" name="text-86">
            <a:extLst xmlns:a="http://schemas.openxmlformats.org/drawingml/2006/main">
              <a:ext uri="{FF2B5EF4-FFF2-40B4-BE49-F238E27FC236}">
                <a16:creationId xmlns:a16="http://schemas.microsoft.com/office/drawing/2014/main" id="{F70F48C1-7B3C-4E53-AF10-DD175DF52292}"/>
              </a:ext>
            </a:extLst>
          </p:cNvPr>
          <p:cNvSpPr>
            <a:spLocks xmlns:a="http://schemas.openxmlformats.org/drawingml/2006/main" noGrp="1"/>
          </p:cNvSpPr>
          <p:nvPr/>
        </p:nvSpPr>
        <p:spPr>
          <a:xfrm xmlns:a="http://schemas.openxmlformats.org/drawingml/2006/main">
            <a:off x="2714625" y="4067175"/>
            <a:ext cx="266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37855"/>
                </a:solidFill>
                <a:latin typeface="Arial"/>
                <a:ea typeface="Arial"/>
                <a:cs typeface="Arial"/>
              </a:defRPr>
            </a:defPPr>
          </a:lstStyle>
          <a:p xmlns:a="http://schemas.openxmlformats.org/drawingml/2006/main">
            <a:pPr algn="ctr">
              <a:defRPr sz="1875" b="1">
                <a:solidFill>
                  <a:srgbClr val="237855"/>
                </a:solidFill>
                <a:latin typeface="Arial"/>
                <a:ea typeface="Arial"/>
                <a:cs typeface="Arial"/>
              </a:defRPr>
            </a:pPr>
            <a:r>
              <a:rPr sz="1875" b="1">
                <a:solidFill>
                  <a:srgbClr val="237855"/>
                </a:solidFill>
                <a:latin typeface="Arial"/>
                <a:ea typeface="Arial"/>
                <a:cs typeface="Arial"/>
              </a:rPr>
              <a:t>Chuẩn bị A và B</a:t>
            </a:r>
          </a:p>
        </p:txBody>
      </p:sp>
      <p:sp>
        <p:nvSpPr>
          <p:cNvPr id="36" name="text-87">
            <a:extLst xmlns:a="http://schemas.openxmlformats.org/drawingml/2006/main">
              <a:ext uri="{FF2B5EF4-FFF2-40B4-BE49-F238E27FC236}">
                <a16:creationId xmlns:a16="http://schemas.microsoft.com/office/drawing/2014/main" id="{363FC1D8-BD85-4134-A5BF-CF6B7E933E9C}"/>
              </a:ext>
            </a:extLst>
          </p:cNvPr>
          <p:cNvSpPr>
            <a:spLocks xmlns:a="http://schemas.openxmlformats.org/drawingml/2006/main" noGrp="1"/>
          </p:cNvSpPr>
          <p:nvPr/>
        </p:nvSpPr>
        <p:spPr>
          <a:xfrm xmlns:a="http://schemas.openxmlformats.org/drawingml/2006/main">
            <a:off x="2714625" y="4438650"/>
            <a:ext cx="266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defRPr sz="1725" b="0">
                <a:solidFill>
                  <a:srgbClr val="172B4D"/>
                </a:solidFill>
                <a:latin typeface="Arial"/>
                <a:ea typeface="Arial"/>
                <a:cs typeface="Arial"/>
              </a:defRPr>
            </a:pPr>
            <a:r>
              <a:rPr sz="1725" b="0">
                <a:solidFill>
                  <a:srgbClr val="172B4D"/>
                </a:solidFill>
                <a:latin typeface="Arial"/>
                <a:ea typeface="Arial"/>
                <a:cs typeface="Arial"/>
              </a:rPr>
              <a:t>Căn phải theo mode</a:t>
            </a:r>
          </a:p>
          <a:p xmlns:a="http://schemas.openxmlformats.org/drawingml/2006/main">
            <a:pPr algn="ctr">
              <a:defRPr sz="1725" b="0">
                <a:solidFill>
                  <a:srgbClr val="172B4D"/>
                </a:solidFill>
                <a:latin typeface="Arial"/>
                <a:ea typeface="Arial"/>
                <a:cs typeface="Arial"/>
              </a:defRPr>
            </a:pPr>
            <a:r>
              <a:rPr sz="1725" b="0">
                <a:solidFill>
                  <a:srgbClr val="172B4D"/>
                </a:solidFill>
                <a:latin typeface="Arial"/>
                <a:ea typeface="Arial"/>
                <a:cs typeface="Arial"/>
              </a:rPr>
              <a:t>X_A / X_B: fraction</a:t>
            </a:r>
          </a:p>
          <a:p xmlns:a="http://schemas.openxmlformats.org/drawingml/2006/main">
            <a:pPr algn="ctr">
              <a:defRPr sz="1725" b="0">
                <a:solidFill>
                  <a:srgbClr val="172B4D"/>
                </a:solidFill>
                <a:latin typeface="Arial"/>
                <a:ea typeface="Arial"/>
                <a:cs typeface="Arial"/>
              </a:defRPr>
            </a:pPr>
            <a:r>
              <a:rPr sz="1725" b="0">
                <a:solidFill>
                  <a:srgbClr val="172B4D"/>
                </a:solidFill>
                <a:latin typeface="Arial"/>
                <a:ea typeface="Arial"/>
                <a:cs typeface="Arial"/>
              </a:rPr>
              <a:t>Y_A / Y_B: 1.f</a:t>
            </a:r>
          </a:p>
        </p:txBody>
      </p:sp>
      <p:sp>
        <p:nvSpPr>
          <p:cNvPr id="37" name="mux-88">
            <a:extLst xmlns:a="http://schemas.openxmlformats.org/drawingml/2006/main">
              <a:ext uri="{FF2B5EF4-FFF2-40B4-BE49-F238E27FC236}">
                <a16:creationId xmlns:a16="http://schemas.microsoft.com/office/drawing/2014/main" id="{6B18B996-6CD4-4661-AB05-1B9EFD37533D}"/>
              </a:ext>
            </a:extLst>
          </p:cNvPr>
          <p:cNvSpPr>
            <a:spLocks xmlns:a="http://schemas.openxmlformats.org/drawingml/2006/main" noGrp="1"/>
          </p:cNvSpPr>
          <p:nvPr/>
        </p:nvSpPr>
        <p:spPr>
          <a:xfrm xmlns:a="http://schemas.openxmlformats.org/drawingml/2006/main">
            <a:off x="7658100" y="3952875"/>
            <a:ext cx="762000" cy="857250"/>
          </a:xfrm>
          <a:custGeom xmlns:a="http://schemas.openxmlformats.org/drawingml/2006/main">
            <a:pathLst>
              <a:path w="762000" h="857250">
                <a:moveTo>
                  <a:pt x="0" y="0"/>
                </a:moveTo>
                <a:lnTo>
                  <a:pt x="762000" y="171450"/>
                </a:lnTo>
                <a:lnTo>
                  <a:pt x="762000" y="685800"/>
                </a:lnTo>
                <a:lnTo>
                  <a:pt x="0" y="857250"/>
                </a:lnTo>
                <a:close/>
              </a:path>
            </a:pathLst>
          </a:custGeom>
          <a:solidFill xmlns:a="http://schemas.openxmlformats.org/drawingml/2006/main">
            <a:srgbClr val="E8F5ED"/>
          </a:solidFill>
          <a:ln xmlns:a="http://schemas.openxmlformats.org/drawingml/2006/main" w="19050">
            <a:solidFill>
              <a:srgbClr val="237855"/>
            </a:solidFill>
          </a:ln>
        </p:spPr>
      </p:sp>
      <p:sp>
        <p:nvSpPr>
          <p:cNvPr id="38" name="text-89">
            <a:extLst xmlns:a="http://schemas.openxmlformats.org/drawingml/2006/main">
              <a:ext uri="{FF2B5EF4-FFF2-40B4-BE49-F238E27FC236}">
                <a16:creationId xmlns:a16="http://schemas.microsoft.com/office/drawing/2014/main" id="{7E4BE2A9-2CE1-4AAE-839A-B2AD0CBA870F}"/>
              </a:ext>
            </a:extLst>
          </p:cNvPr>
          <p:cNvSpPr>
            <a:spLocks xmlns:a="http://schemas.openxmlformats.org/drawingml/2006/main" noGrp="1"/>
          </p:cNvSpPr>
          <p:nvPr/>
        </p:nvSpPr>
        <p:spPr>
          <a:xfrm xmlns:a="http://schemas.openxmlformats.org/drawingml/2006/main">
            <a:off x="7686675" y="42100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237855"/>
                </a:solidFill>
                <a:latin typeface="Arial"/>
                <a:ea typeface="Arial"/>
                <a:cs typeface="Arial"/>
              </a:defRPr>
            </a:defPPr>
          </a:lstStyle>
          <a:p xmlns:a="http://schemas.openxmlformats.org/drawingml/2006/main">
            <a:pPr algn="ctr">
              <a:defRPr sz="1725" b="1">
                <a:solidFill>
                  <a:srgbClr val="237855"/>
                </a:solidFill>
                <a:latin typeface="Arial"/>
                <a:ea typeface="Arial"/>
                <a:cs typeface="Arial"/>
              </a:defRPr>
            </a:pPr>
            <a:r>
              <a:rPr sz="1725" b="1">
                <a:solidFill>
                  <a:srgbClr val="237855"/>
                </a:solidFill>
                <a:latin typeface="Arial"/>
                <a:ea typeface="Arial"/>
                <a:cs typeface="Arial"/>
              </a:rPr>
              <a:t>X</a:t>
            </a:r>
          </a:p>
        </p:txBody>
      </p:sp>
      <p:sp>
        <p:nvSpPr>
          <p:cNvPr id="39" name="mux-90">
            <a:extLst xmlns:a="http://schemas.openxmlformats.org/drawingml/2006/main">
              <a:ext uri="{FF2B5EF4-FFF2-40B4-BE49-F238E27FC236}">
                <a16:creationId xmlns:a16="http://schemas.microsoft.com/office/drawing/2014/main" id="{09F3FE3B-CFF7-4E73-87CC-981AC0DB7D2B}"/>
              </a:ext>
            </a:extLst>
          </p:cNvPr>
          <p:cNvSpPr>
            <a:spLocks xmlns:a="http://schemas.openxmlformats.org/drawingml/2006/main" noGrp="1"/>
          </p:cNvSpPr>
          <p:nvPr/>
        </p:nvSpPr>
        <p:spPr>
          <a:xfrm xmlns:a="http://schemas.openxmlformats.org/drawingml/2006/main">
            <a:off x="10287000" y="3952875"/>
            <a:ext cx="762000" cy="857250"/>
          </a:xfrm>
          <a:custGeom xmlns:a="http://schemas.openxmlformats.org/drawingml/2006/main">
            <a:pathLst>
              <a:path w="762000" h="857250">
                <a:moveTo>
                  <a:pt x="0" y="0"/>
                </a:moveTo>
                <a:lnTo>
                  <a:pt x="762000" y="171450"/>
                </a:lnTo>
                <a:lnTo>
                  <a:pt x="762000" y="685800"/>
                </a:lnTo>
                <a:lnTo>
                  <a:pt x="0" y="857250"/>
                </a:lnTo>
                <a:close/>
              </a:path>
            </a:pathLst>
          </a:custGeom>
          <a:solidFill xmlns:a="http://schemas.openxmlformats.org/drawingml/2006/main">
            <a:srgbClr val="E8F5ED"/>
          </a:solidFill>
          <a:ln xmlns:a="http://schemas.openxmlformats.org/drawingml/2006/main" w="19050">
            <a:solidFill>
              <a:srgbClr val="237855"/>
            </a:solidFill>
          </a:ln>
        </p:spPr>
      </p:sp>
      <p:sp>
        <p:nvSpPr>
          <p:cNvPr id="40" name="text-91">
            <a:extLst xmlns:a="http://schemas.openxmlformats.org/drawingml/2006/main">
              <a:ext uri="{FF2B5EF4-FFF2-40B4-BE49-F238E27FC236}">
                <a16:creationId xmlns:a16="http://schemas.microsoft.com/office/drawing/2014/main" id="{C75821D8-21AE-4DF8-A97F-EAAD754FDA0B}"/>
              </a:ext>
            </a:extLst>
          </p:cNvPr>
          <p:cNvSpPr>
            <a:spLocks xmlns:a="http://schemas.openxmlformats.org/drawingml/2006/main" noGrp="1"/>
          </p:cNvSpPr>
          <p:nvPr/>
        </p:nvSpPr>
        <p:spPr>
          <a:xfrm xmlns:a="http://schemas.openxmlformats.org/drawingml/2006/main">
            <a:off x="10315575" y="42100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237855"/>
                </a:solidFill>
                <a:latin typeface="Arial"/>
                <a:ea typeface="Arial"/>
                <a:cs typeface="Arial"/>
              </a:defRPr>
            </a:defPPr>
          </a:lstStyle>
          <a:p xmlns:a="http://schemas.openxmlformats.org/drawingml/2006/main">
            <a:pPr algn="ctr">
              <a:defRPr sz="1725" b="1">
                <a:solidFill>
                  <a:srgbClr val="237855"/>
                </a:solidFill>
                <a:latin typeface="Arial"/>
                <a:ea typeface="Arial"/>
                <a:cs typeface="Arial"/>
              </a:defRPr>
            </a:pPr>
            <a:r>
              <a:rPr sz="1725" b="1">
                <a:solidFill>
                  <a:srgbClr val="237855"/>
                </a:solidFill>
                <a:latin typeface="Arial"/>
                <a:ea typeface="Arial"/>
                <a:cs typeface="Arial"/>
              </a:rPr>
              <a:t>Y</a:t>
            </a:r>
          </a:p>
        </p:txBody>
      </p:sp>
      <p:sp>
        <p:nvSpPr>
          <p:cNvPr id="43" name="text-94">
            <a:extLst xmlns:a="http://schemas.openxmlformats.org/drawingml/2006/main">
              <a:ext uri="{FF2B5EF4-FFF2-40B4-BE49-F238E27FC236}">
                <a16:creationId xmlns:a16="http://schemas.microsoft.com/office/drawing/2014/main" id="{D0A81A10-9385-4082-87CB-77085BB398A5}"/>
              </a:ext>
            </a:extLst>
          </p:cNvPr>
          <p:cNvSpPr>
            <a:spLocks xmlns:a="http://schemas.openxmlformats.org/drawingml/2006/main" noGrp="1"/>
          </p:cNvSpPr>
          <p:nvPr/>
        </p:nvSpPr>
        <p:spPr>
          <a:xfrm xmlns:a="http://schemas.openxmlformats.org/drawingml/2006/main">
            <a:off x="5895975" y="3838575"/>
            <a:ext cx="1304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237855"/>
                </a:solidFill>
                <a:latin typeface="Arial"/>
                <a:ea typeface="Arial"/>
                <a:cs typeface="Arial"/>
              </a:defRPr>
            </a:defPPr>
          </a:lstStyle>
          <a:p xmlns:a="http://schemas.openxmlformats.org/drawingml/2006/main">
            <a:pPr algn="ctr">
              <a:defRPr sz="1650" b="0">
                <a:solidFill>
                  <a:srgbClr val="237855"/>
                </a:solidFill>
                <a:latin typeface="Arial"/>
                <a:ea typeface="Arial"/>
                <a:cs typeface="Arial"/>
              </a:defRPr>
            </a:pPr>
            <a:r>
              <a:rPr sz="1650" b="0">
                <a:solidFill>
                  <a:srgbClr val="237855"/>
                </a:solidFill>
                <a:latin typeface="Arial"/>
                <a:ea typeface="Arial"/>
                <a:cs typeface="Arial"/>
              </a:rPr>
              <a:t>0: X_A</a:t>
            </a:r>
          </a:p>
        </p:txBody>
      </p:sp>
      <p:sp>
        <p:nvSpPr>
          <p:cNvPr id="44" name="text-95">
            <a:extLst xmlns:a="http://schemas.openxmlformats.org/drawingml/2006/main">
              <a:ext uri="{FF2B5EF4-FFF2-40B4-BE49-F238E27FC236}">
                <a16:creationId xmlns:a16="http://schemas.microsoft.com/office/drawing/2014/main" id="{DF12DD7C-343B-4ACA-962D-4A39E4FB8238}"/>
              </a:ext>
            </a:extLst>
          </p:cNvPr>
          <p:cNvSpPr>
            <a:spLocks xmlns:a="http://schemas.openxmlformats.org/drawingml/2006/main" noGrp="1"/>
          </p:cNvSpPr>
          <p:nvPr/>
        </p:nvSpPr>
        <p:spPr>
          <a:xfrm xmlns:a="http://schemas.openxmlformats.org/drawingml/2006/main">
            <a:off x="5895975" y="4124325"/>
            <a:ext cx="1304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237855"/>
                </a:solidFill>
                <a:latin typeface="Arial"/>
                <a:ea typeface="Arial"/>
                <a:cs typeface="Arial"/>
              </a:defRPr>
            </a:defPPr>
          </a:lstStyle>
          <a:p xmlns:a="http://schemas.openxmlformats.org/drawingml/2006/main">
            <a:pPr algn="ctr">
              <a:defRPr sz="1650" b="0">
                <a:solidFill>
                  <a:srgbClr val="237855"/>
                </a:solidFill>
                <a:latin typeface="Arial"/>
                <a:ea typeface="Arial"/>
                <a:cs typeface="Arial"/>
              </a:defRPr>
            </a:pPr>
            <a:r>
              <a:rPr sz="1650" b="0">
                <a:solidFill>
                  <a:srgbClr val="237855"/>
                </a:solidFill>
                <a:latin typeface="Arial"/>
                <a:ea typeface="Arial"/>
                <a:cs typeface="Arial"/>
              </a:rPr>
              <a:t>1: X_B</a:t>
            </a:r>
          </a:p>
        </p:txBody>
      </p:sp>
      <p:sp>
        <p:nvSpPr>
          <p:cNvPr id="51" name="text-102">
            <a:extLst xmlns:a="http://schemas.openxmlformats.org/drawingml/2006/main">
              <a:ext uri="{FF2B5EF4-FFF2-40B4-BE49-F238E27FC236}">
                <a16:creationId xmlns:a16="http://schemas.microsoft.com/office/drawing/2014/main" id="{D703E0BF-C29F-4E70-A0F2-BC5CEC44819B}"/>
              </a:ext>
            </a:extLst>
          </p:cNvPr>
          <p:cNvSpPr>
            <a:spLocks xmlns:a="http://schemas.openxmlformats.org/drawingml/2006/main" noGrp="1"/>
          </p:cNvSpPr>
          <p:nvPr/>
        </p:nvSpPr>
        <p:spPr>
          <a:xfrm xmlns:a="http://schemas.openxmlformats.org/drawingml/2006/main">
            <a:off x="6534150" y="4610100"/>
            <a:ext cx="137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237855"/>
                </a:solidFill>
                <a:latin typeface="Arial"/>
                <a:ea typeface="Arial"/>
                <a:cs typeface="Arial"/>
              </a:defRPr>
            </a:defPPr>
          </a:lstStyle>
          <a:p xmlns:a="http://schemas.openxmlformats.org/drawingml/2006/main">
            <a:pPr algn="ctr">
              <a:defRPr sz="1650" b="0">
                <a:solidFill>
                  <a:srgbClr val="237855"/>
                </a:solidFill>
                <a:latin typeface="Arial"/>
                <a:ea typeface="Arial"/>
                <a:cs typeface="Arial"/>
              </a:defRPr>
            </a:pPr>
            <a:r>
              <a:rPr sz="1650" b="0">
                <a:solidFill>
                  <a:srgbClr val="237855"/>
                </a:solidFill>
                <a:latin typeface="Arial"/>
                <a:ea typeface="Arial"/>
                <a:cs typeface="Arial"/>
              </a:rPr>
              <a:t>0: Y_B</a:t>
            </a:r>
          </a:p>
        </p:txBody>
      </p:sp>
      <p:sp>
        <p:nvSpPr>
          <p:cNvPr id="52" name="text-103">
            <a:extLst xmlns:a="http://schemas.openxmlformats.org/drawingml/2006/main">
              <a:ext uri="{FF2B5EF4-FFF2-40B4-BE49-F238E27FC236}">
                <a16:creationId xmlns:a16="http://schemas.microsoft.com/office/drawing/2014/main" id="{E601CEA2-DB19-41D1-9968-680086FB4BB4}"/>
              </a:ext>
            </a:extLst>
          </p:cNvPr>
          <p:cNvSpPr>
            <a:spLocks xmlns:a="http://schemas.openxmlformats.org/drawingml/2006/main" noGrp="1"/>
          </p:cNvSpPr>
          <p:nvPr/>
        </p:nvSpPr>
        <p:spPr>
          <a:xfrm xmlns:a="http://schemas.openxmlformats.org/drawingml/2006/main">
            <a:off x="6534150" y="4943475"/>
            <a:ext cx="137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237855"/>
                </a:solidFill>
                <a:latin typeface="Arial"/>
                <a:ea typeface="Arial"/>
                <a:cs typeface="Arial"/>
              </a:defRPr>
            </a:defPPr>
          </a:lstStyle>
          <a:p xmlns:a="http://schemas.openxmlformats.org/drawingml/2006/main">
            <a:pPr algn="ctr">
              <a:defRPr sz="1650" b="0">
                <a:solidFill>
                  <a:srgbClr val="237855"/>
                </a:solidFill>
                <a:latin typeface="Arial"/>
                <a:ea typeface="Arial"/>
                <a:cs typeface="Arial"/>
              </a:defRPr>
            </a:pPr>
            <a:r>
              <a:rPr sz="1650" b="0">
                <a:solidFill>
                  <a:srgbClr val="237855"/>
                </a:solidFill>
                <a:latin typeface="Arial"/>
                <a:ea typeface="Arial"/>
                <a:cs typeface="Arial"/>
              </a:rPr>
              <a:t>1: Y_A</a:t>
            </a:r>
          </a:p>
        </p:txBody>
      </p:sp>
      <p:sp>
        <p:nvSpPr>
          <p:cNvPr id="55" name="text-106">
            <a:extLst xmlns:a="http://schemas.openxmlformats.org/drawingml/2006/main">
              <a:ext uri="{FF2B5EF4-FFF2-40B4-BE49-F238E27FC236}">
                <a16:creationId xmlns:a16="http://schemas.microsoft.com/office/drawing/2014/main" id="{1FD0AAA6-5C2A-4C9C-9AAB-4FA472340576}"/>
              </a:ext>
            </a:extLst>
          </p:cNvPr>
          <p:cNvSpPr>
            <a:spLocks xmlns:a="http://schemas.openxmlformats.org/drawingml/2006/main" noGrp="1"/>
          </p:cNvSpPr>
          <p:nvPr/>
        </p:nvSpPr>
        <p:spPr>
          <a:xfrm xmlns:a="http://schemas.openxmlformats.org/drawingml/2006/main">
            <a:off x="8420100" y="4467225"/>
            <a:ext cx="1419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237855"/>
                </a:solidFill>
                <a:latin typeface="Arial"/>
                <a:ea typeface="Arial"/>
                <a:cs typeface="Arial"/>
              </a:defRPr>
            </a:defPPr>
          </a:lstStyle>
          <a:p xmlns:a="http://schemas.openxmlformats.org/drawingml/2006/main">
            <a:pPr algn="ctr">
              <a:defRPr sz="1650" b="0">
                <a:solidFill>
                  <a:srgbClr val="237855"/>
                </a:solidFill>
                <a:latin typeface="Arial"/>
                <a:ea typeface="Arial"/>
                <a:cs typeface="Arial"/>
              </a:defRPr>
            </a:pPr>
            <a:r>
              <a:rPr sz="1650" b="0">
                <a:solidFill>
                  <a:srgbClr val="237855"/>
                </a:solidFill>
                <a:latin typeface="Arial"/>
                <a:ea typeface="Arial"/>
                <a:cs typeface="Arial"/>
              </a:rPr>
              <a:t>x_frac [25:0]</a:t>
            </a:r>
          </a:p>
        </p:txBody>
      </p:sp>
      <p:sp>
        <p:nvSpPr>
          <p:cNvPr id="56" name="text-107">
            <a:extLst xmlns:a="http://schemas.openxmlformats.org/drawingml/2006/main">
              <a:ext uri="{FF2B5EF4-FFF2-40B4-BE49-F238E27FC236}">
                <a16:creationId xmlns:a16="http://schemas.microsoft.com/office/drawing/2014/main" id="{1782414A-E336-476E-B16B-7D844EB1A0D3}"/>
              </a:ext>
            </a:extLst>
          </p:cNvPr>
          <p:cNvSpPr>
            <a:spLocks xmlns:a="http://schemas.openxmlformats.org/drawingml/2006/main" noGrp="1"/>
          </p:cNvSpPr>
          <p:nvPr/>
        </p:nvSpPr>
        <p:spPr>
          <a:xfrm xmlns:a="http://schemas.openxmlformats.org/drawingml/2006/main">
            <a:off x="10191750" y="4857750"/>
            <a:ext cx="154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237855"/>
                </a:solidFill>
                <a:latin typeface="Arial"/>
                <a:ea typeface="Arial"/>
                <a:cs typeface="Arial"/>
              </a:defRPr>
            </a:defPPr>
          </a:lstStyle>
          <a:p xmlns:a="http://schemas.openxmlformats.org/drawingml/2006/main">
            <a:pPr algn="ctr">
              <a:defRPr sz="1650" b="0">
                <a:solidFill>
                  <a:srgbClr val="237855"/>
                </a:solidFill>
                <a:latin typeface="Arial"/>
                <a:ea typeface="Arial"/>
                <a:cs typeface="Arial"/>
              </a:defRPr>
            </a:pPr>
            <a:r>
              <a:rPr sz="1650" b="0">
                <a:solidFill>
                  <a:srgbClr val="237855"/>
                </a:solidFill>
                <a:latin typeface="Arial"/>
                <a:ea typeface="Arial"/>
                <a:cs typeface="Arial"/>
              </a:rPr>
              <a:t>y_mant [26:0]</a:t>
            </a:r>
          </a:p>
        </p:txBody>
      </p:sp>
      <p:sp>
        <p:nvSpPr>
          <p:cNvPr id="57" name="text-108">
            <a:extLst xmlns:a="http://schemas.openxmlformats.org/drawingml/2006/main">
              <a:ext uri="{FF2B5EF4-FFF2-40B4-BE49-F238E27FC236}">
                <a16:creationId xmlns:a16="http://schemas.microsoft.com/office/drawing/2014/main" id="{ECE2298A-EBA6-4C4B-9A90-E7B5E32555DE}"/>
              </a:ext>
            </a:extLst>
          </p:cNvPr>
          <p:cNvSpPr>
            <a:spLocks xmlns:a="http://schemas.openxmlformats.org/drawingml/2006/main" noGrp="1"/>
          </p:cNvSpPr>
          <p:nvPr/>
        </p:nvSpPr>
        <p:spPr>
          <a:xfrm xmlns:a="http://schemas.openxmlformats.org/drawingml/2006/main">
            <a:off x="5743575" y="5543550"/>
            <a:ext cx="5991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172B4D"/>
                </a:solidFill>
                <a:latin typeface="Arial"/>
                <a:ea typeface="Arial"/>
                <a:cs typeface="Arial"/>
              </a:defRPr>
            </a:defPPr>
          </a:lstStyle>
          <a:p xmlns:a="http://schemas.openxmlformats.org/drawingml/2006/main">
            <a:pPr algn="l">
              <a:defRPr sz="1800" b="1">
                <a:solidFill>
                  <a:srgbClr val="172B4D"/>
                </a:solidFill>
                <a:latin typeface="Arial"/>
                <a:ea typeface="Arial"/>
                <a:cs typeface="Arial"/>
              </a:defRPr>
            </a:pPr>
            <a:r>
              <a:rPr sz="1800" b="1">
                <a:solidFill>
                  <a:srgbClr val="172B4D"/>
                </a:solidFill>
                <a:latin typeface="Arial"/>
                <a:ea typeface="Arial"/>
                <a:cs typeface="Arial"/>
              </a:rPr>
              <a:t>Một tầng swap gồm 2 MUX bus song song</a:t>
            </a:r>
          </a:p>
        </p:txBody>
      </p:sp>
      <p:sp>
        <p:nvSpPr>
          <p:cNvPr id="58" name="text-109">
            <a:extLst xmlns:a="http://schemas.openxmlformats.org/drawingml/2006/main">
              <a:ext uri="{FF2B5EF4-FFF2-40B4-BE49-F238E27FC236}">
                <a16:creationId xmlns:a16="http://schemas.microsoft.com/office/drawing/2014/main" id="{14C0834A-254B-4DCA-814A-03D1A79B428C}"/>
              </a:ext>
            </a:extLst>
          </p:cNvPr>
          <p:cNvSpPr>
            <a:spLocks xmlns:a="http://schemas.openxmlformats.org/drawingml/2006/main" noGrp="1"/>
          </p:cNvSpPr>
          <p:nvPr/>
        </p:nvSpPr>
        <p:spPr>
          <a:xfrm xmlns:a="http://schemas.openxmlformats.org/drawingml/2006/main">
            <a:off x="2619375" y="5800725"/>
            <a:ext cx="9105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53657D"/>
                </a:solidFill>
                <a:latin typeface="Arial"/>
                <a:ea typeface="Arial"/>
                <a:cs typeface="Arial"/>
              </a:defRPr>
            </a:defPPr>
          </a:lstStyle>
          <a:p xmlns:a="http://schemas.openxmlformats.org/drawingml/2006/main">
            <a:pPr algn="l">
              <a:defRPr sz="1500" b="0">
                <a:solidFill>
                  <a:srgbClr val="53657D"/>
                </a:solidFill>
                <a:latin typeface="Arial"/>
                <a:ea typeface="Arial"/>
                <a:cs typeface="Arial"/>
              </a:defRPr>
            </a:pPr>
            <a:r>
              <a:rPr sz="1500" b="0">
                <a:solidFill>
                  <a:srgbClr val="53657D"/>
                </a:solidFill>
                <a:latin typeface="Arial"/>
                <a:ea typeface="Arial"/>
                <a:cs typeface="Arial"/>
              </a:rPr>
              <a:t>mode = cfg_mode. Nét liền: dữ liệu. Nét đứt: chọn MUX. Chốt X/Y tại R0 (L0).</a:t>
            </a:r>
          </a:p>
        </p:txBody>
      </p:sp>
      <p:sp>
        <p:nvSpPr>
          <p:cNvPr id="60" name="text-111">
            <a:extLst xmlns:a="http://schemas.openxmlformats.org/drawingml/2006/main">
              <a:ext uri="{FF2B5EF4-FFF2-40B4-BE49-F238E27FC236}">
                <a16:creationId xmlns:a16="http://schemas.microsoft.com/office/drawing/2014/main" id="{B3D3C4B6-9DF6-4C63-ACAB-6829FD6F3159}"/>
              </a:ext>
            </a:extLst>
          </p:cNvPr>
          <p:cNvSpPr>
            <a:spLocks xmlns:a="http://schemas.openxmlformats.org/drawingml/2006/main" noGrp="1"/>
          </p:cNvSpPr>
          <p:nvPr/>
        </p:nvSpPr>
        <p:spPr>
          <a:xfrm xmlns:a="http://schemas.openxmlformats.org/drawingml/2006/main">
            <a:off x="457200" y="6076950"/>
            <a:ext cx="10306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3657D"/>
                </a:solidFill>
                <a:latin typeface="Arial"/>
                <a:ea typeface="Arial"/>
                <a:cs typeface="Arial"/>
              </a:defRPr>
            </a:defPPr>
          </a:lstStyle>
          <a:p xmlns:a="http://schemas.openxmlformats.org/drawingml/2006/main">
            <a:pPr algn="l">
              <a:defRPr sz="1725" b="0">
                <a:solidFill>
                  <a:srgbClr val="53657D"/>
                </a:solidFill>
                <a:latin typeface="Arial"/>
                <a:ea typeface="Arial"/>
                <a:cs typeface="Arial"/>
              </a:defRPr>
            </a:pPr>
            <a:r>
              <a:rPr sz="1725" b="0">
                <a:solidFill>
                  <a:srgbClr val="53657D"/>
                </a:solidFill>
                <a:latin typeface="Arial"/>
                <a:ea typeface="Arial"/>
                <a:cs typeface="Arial"/>
              </a:rPr>
              <a:t>Song song: sign_o = s_A XOR s_B       sf_o = sf_A + sf_B</a:t>
            </a:r>
          </a:p>
        </p:txBody>
      </p:sp>
      <p:sp>
        <p:nvSpPr>
          <p:cNvPr id="61" name="text-112">
            <a:extLst xmlns:a="http://schemas.openxmlformats.org/drawingml/2006/main">
              <a:ext uri="{FF2B5EF4-FFF2-40B4-BE49-F238E27FC236}">
                <a16:creationId xmlns:a16="http://schemas.microsoft.com/office/drawing/2014/main" id="{C79631DA-387C-46AF-84F3-158A7770535E}"/>
              </a:ext>
            </a:extLst>
          </p:cNvPr>
          <p:cNvSpPr>
            <a:spLocks xmlns:a="http://schemas.openxmlformats.org/drawingml/2006/main" noGrp="1"/>
          </p:cNvSpPr>
          <p:nvPr/>
        </p:nvSpPr>
        <p:spPr>
          <a:xfrm xmlns:a="http://schemas.openxmlformats.org/drawingml/2006/main">
            <a:off x="457200" y="6419850"/>
            <a:ext cx="10191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53657D"/>
                </a:solidFill>
                <a:latin typeface="Arial"/>
                <a:ea typeface="Arial"/>
                <a:cs typeface="Arial"/>
              </a:defRPr>
            </a:defPPr>
          </a:lstStyle>
          <a:p xmlns:a="http://schemas.openxmlformats.org/drawingml/2006/main">
            <a:pPr algn="l">
              <a:defRPr sz="1650" b="0">
                <a:solidFill>
                  <a:srgbClr val="53657D"/>
                </a:solidFill>
                <a:latin typeface="Arial"/>
                <a:ea typeface="Arial"/>
                <a:cs typeface="Arial"/>
              </a:defRPr>
            </a:pPr>
            <a:r>
              <a:rPr sz="1650" b="0">
                <a:solidFill>
                  <a:srgbClr val="53657D"/>
                </a:solidFill>
                <a:latin typeface="Arial"/>
                <a:ea typeface="Arial"/>
                <a:cs typeface="Arial"/>
              </a:rPr>
              <a:t>input_cut = mode &amp; OR(A[13:0] OR B[13:0])</a:t>
            </a:r>
          </a:p>
        </p:txBody>
      </p:sp>
    </p:spTree>
    <p:extLst>
      <p:ext uri="{BB962C8B-B14F-4D97-AF65-F5344CB8AC3E}">
        <p14:creationId xmlns:p14="http://schemas.microsoft.com/office/powerpoint/2010/main" val="1416551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60" name="wire-183">
            <a:extLst xmlns:a="http://schemas.openxmlformats.org/drawingml/2006/main">
              <a:ext uri="{FF2B5EF4-FFF2-40B4-BE49-F238E27FC236}">
                <a16:creationId xmlns:a16="http://schemas.microsoft.com/office/drawing/2014/main" id="{ADE0C6AC-8F14-4306-8EBA-86F03A5FAE98}"/>
              </a:ext>
            </a:extLst>
          </p:cNvPr>
          <p:cNvCxnSpPr/>
          <p:nvPr/>
        </p:nvCxnSpPr>
        <p:spPr>
          <a:xfrm xmlns:a="http://schemas.openxmlformats.org/drawingml/2006/main" flipV="1">
            <a:off x="10801350" y="3524250"/>
            <a:ext cx="0" cy="1019175"/>
          </a:xfrm>
          <a:prstGeom xmlns:a="http://schemas.openxmlformats.org/drawingml/2006/main" prst="straightConnector1">
            <a:avLst/>
          </a:prstGeom>
          <a:ln xmlns:a="http://schemas.openxmlformats.org/drawingml/2006/main" w="23813">
            <a:solidFill>
              <a:srgbClr val="425672"/>
            </a:solidFill>
            <a:prstDash val="solid"/>
            <a:tailEnd type="triangle" w="sm" len="sm"/>
          </a:ln>
        </p:spPr>
      </p:cxnSp>
      <p:cxnSp>
        <p:nvCxnSpPr>
          <p:cNvPr id="59" name="wire-182">
            <a:extLst xmlns:a="http://schemas.openxmlformats.org/drawingml/2006/main">
              <a:ext uri="{FF2B5EF4-FFF2-40B4-BE49-F238E27FC236}">
                <a16:creationId xmlns:a16="http://schemas.microsoft.com/office/drawing/2014/main" id="{948610B8-B370-4D7E-83DD-8882EDFBF6B5}"/>
              </a:ext>
            </a:extLst>
          </p:cNvPr>
          <p:cNvCxnSpPr/>
          <p:nvPr/>
        </p:nvCxnSpPr>
        <p:spPr>
          <a:xfrm xmlns:a="http://schemas.openxmlformats.org/drawingml/2006/main">
            <a:off x="7429500" y="4543425"/>
            <a:ext cx="3371850" cy="0"/>
          </a:xfrm>
          <a:prstGeom xmlns:a="http://schemas.openxmlformats.org/drawingml/2006/main" prst="straightConnector1">
            <a:avLst/>
          </a:prstGeom>
          <a:ln xmlns:a="http://schemas.openxmlformats.org/drawingml/2006/main" w="23813">
            <a:solidFill>
              <a:srgbClr val="425672"/>
            </a:solidFill>
            <a:prstDash val="solid"/>
            <a:tailEnd type="none" w="sm" len="sm"/>
          </a:ln>
        </p:spPr>
      </p:cxnSp>
      <p:cxnSp>
        <p:nvCxnSpPr>
          <p:cNvPr id="58" name="wire-181">
            <a:extLst xmlns:a="http://schemas.openxmlformats.org/drawingml/2006/main">
              <a:ext uri="{FF2B5EF4-FFF2-40B4-BE49-F238E27FC236}">
                <a16:creationId xmlns:a16="http://schemas.microsoft.com/office/drawing/2014/main" id="{B9A85A01-70EF-45DD-9174-E0EE863CAA22}"/>
              </a:ext>
            </a:extLst>
          </p:cNvPr>
          <p:cNvCxnSpPr/>
          <p:nvPr/>
        </p:nvCxnSpPr>
        <p:spPr>
          <a:xfrm xmlns:a="http://schemas.openxmlformats.org/drawingml/2006/main">
            <a:off x="10801350" y="2133600"/>
            <a:ext cx="0" cy="76200"/>
          </a:xfrm>
          <a:prstGeom xmlns:a="http://schemas.openxmlformats.org/drawingml/2006/main" prst="straightConnector1">
            <a:avLst/>
          </a:prstGeom>
          <a:ln xmlns:a="http://schemas.openxmlformats.org/drawingml/2006/main" w="23813">
            <a:solidFill>
              <a:srgbClr val="425672"/>
            </a:solidFill>
            <a:prstDash val="solid"/>
            <a:tailEnd type="triangle" w="sm" len="sm"/>
          </a:ln>
        </p:spPr>
      </p:cxnSp>
      <p:cxnSp>
        <p:nvCxnSpPr>
          <p:cNvPr id="57" name="wire-180">
            <a:extLst xmlns:a="http://schemas.openxmlformats.org/drawingml/2006/main">
              <a:ext uri="{FF2B5EF4-FFF2-40B4-BE49-F238E27FC236}">
                <a16:creationId xmlns:a16="http://schemas.microsoft.com/office/drawing/2014/main" id="{FDCBF762-E1DB-4023-91D0-75614518052E}"/>
              </a:ext>
            </a:extLst>
          </p:cNvPr>
          <p:cNvCxnSpPr/>
          <p:nvPr/>
        </p:nvCxnSpPr>
        <p:spPr>
          <a:xfrm xmlns:a="http://schemas.openxmlformats.org/drawingml/2006/main">
            <a:off x="9658350" y="2133600"/>
            <a:ext cx="1143000" cy="0"/>
          </a:xfrm>
          <a:prstGeom xmlns:a="http://schemas.openxmlformats.org/drawingml/2006/main" prst="straightConnector1">
            <a:avLst/>
          </a:prstGeom>
          <a:ln xmlns:a="http://schemas.openxmlformats.org/drawingml/2006/main" w="23813">
            <a:solidFill>
              <a:srgbClr val="425672"/>
            </a:solidFill>
            <a:prstDash val="solid"/>
            <a:tailEnd type="none" w="sm" len="sm"/>
          </a:ln>
        </p:spPr>
      </p:cxnSp>
      <p:cxnSp>
        <p:nvCxnSpPr>
          <p:cNvPr id="56" name="wire-179">
            <a:extLst xmlns:a="http://schemas.openxmlformats.org/drawingml/2006/main">
              <a:ext uri="{FF2B5EF4-FFF2-40B4-BE49-F238E27FC236}">
                <a16:creationId xmlns:a16="http://schemas.microsoft.com/office/drawing/2014/main" id="{CF5BA5F7-C135-45E3-9105-6157DA5375C6}"/>
              </a:ext>
            </a:extLst>
          </p:cNvPr>
          <p:cNvCxnSpPr/>
          <p:nvPr/>
        </p:nvCxnSpPr>
        <p:spPr>
          <a:xfrm xmlns:a="http://schemas.openxmlformats.org/drawingml/2006/main" flipV="1">
            <a:off x="9658350" y="2133600"/>
            <a:ext cx="0" cy="1314450"/>
          </a:xfrm>
          <a:prstGeom xmlns:a="http://schemas.openxmlformats.org/drawingml/2006/main" prst="straightConnector1">
            <a:avLst/>
          </a:prstGeom>
          <a:ln xmlns:a="http://schemas.openxmlformats.org/drawingml/2006/main" w="23813">
            <a:solidFill>
              <a:srgbClr val="425672"/>
            </a:solidFill>
            <a:prstDash val="solid"/>
            <a:tailEnd type="none" w="sm" len="sm"/>
          </a:ln>
        </p:spPr>
      </p:cxnSp>
      <p:cxnSp>
        <p:nvCxnSpPr>
          <p:cNvPr id="55" name="wire-178">
            <a:extLst xmlns:a="http://schemas.openxmlformats.org/drawingml/2006/main">
              <a:ext uri="{FF2B5EF4-FFF2-40B4-BE49-F238E27FC236}">
                <a16:creationId xmlns:a16="http://schemas.microsoft.com/office/drawing/2014/main" id="{E22CA21D-B27C-4591-A126-8541430A6804}"/>
              </a:ext>
            </a:extLst>
          </p:cNvPr>
          <p:cNvCxnSpPr/>
          <p:nvPr/>
        </p:nvCxnSpPr>
        <p:spPr>
          <a:xfrm xmlns:a="http://schemas.openxmlformats.org/drawingml/2006/main">
            <a:off x="7762875" y="3448050"/>
            <a:ext cx="1895475" cy="0"/>
          </a:xfrm>
          <a:prstGeom xmlns:a="http://schemas.openxmlformats.org/drawingml/2006/main" prst="straightConnector1">
            <a:avLst/>
          </a:prstGeom>
          <a:ln xmlns:a="http://schemas.openxmlformats.org/drawingml/2006/main" w="23813">
            <a:solidFill>
              <a:srgbClr val="425672"/>
            </a:solidFill>
            <a:prstDash val="solid"/>
            <a:tailEnd type="none" w="sm" len="sm"/>
          </a:ln>
        </p:spPr>
      </p:cxnSp>
      <p:cxnSp>
        <p:nvCxnSpPr>
          <p:cNvPr id="54" name="wire-177">
            <a:extLst xmlns:a="http://schemas.openxmlformats.org/drawingml/2006/main">
              <a:ext uri="{FF2B5EF4-FFF2-40B4-BE49-F238E27FC236}">
                <a16:creationId xmlns:a16="http://schemas.microsoft.com/office/drawing/2014/main" id="{E154FD88-ADF4-4C4A-9C79-DDFBCDFE1150}"/>
              </a:ext>
            </a:extLst>
          </p:cNvPr>
          <p:cNvCxnSpPr/>
          <p:nvPr/>
        </p:nvCxnSpPr>
        <p:spPr>
          <a:xfrm xmlns:a="http://schemas.openxmlformats.org/drawingml/2006/main">
            <a:off x="7762875" y="2543175"/>
            <a:ext cx="0" cy="904875"/>
          </a:xfrm>
          <a:prstGeom xmlns:a="http://schemas.openxmlformats.org/drawingml/2006/main" prst="straightConnector1">
            <a:avLst/>
          </a:prstGeom>
          <a:ln xmlns:a="http://schemas.openxmlformats.org/drawingml/2006/main" w="23813">
            <a:solidFill>
              <a:srgbClr val="425672"/>
            </a:solidFill>
            <a:prstDash val="solid"/>
            <a:tailEnd type="none" w="sm" len="sm"/>
          </a:ln>
        </p:spPr>
      </p:cxnSp>
      <p:cxnSp>
        <p:nvCxnSpPr>
          <p:cNvPr id="49" name="wire-172">
            <a:extLst xmlns:a="http://schemas.openxmlformats.org/drawingml/2006/main">
              <a:ext uri="{FF2B5EF4-FFF2-40B4-BE49-F238E27FC236}">
                <a16:creationId xmlns:a16="http://schemas.microsoft.com/office/drawing/2014/main" id="{9B32E428-5F85-4C00-9AE2-AE08CB05CB50}"/>
              </a:ext>
            </a:extLst>
          </p:cNvPr>
          <p:cNvCxnSpPr/>
          <p:nvPr/>
        </p:nvCxnSpPr>
        <p:spPr>
          <a:xfrm xmlns:a="http://schemas.openxmlformats.org/drawingml/2006/main" flipH="1">
            <a:off x="7058025" y="3505200"/>
            <a:ext cx="457200" cy="0"/>
          </a:xfrm>
          <a:prstGeom xmlns:a="http://schemas.openxmlformats.org/drawingml/2006/main" prst="straightConnector1">
            <a:avLst/>
          </a:prstGeom>
          <a:ln xmlns:a="http://schemas.openxmlformats.org/drawingml/2006/main" w="23813">
            <a:solidFill>
              <a:srgbClr val="A76807"/>
            </a:solidFill>
            <a:prstDash val="solid"/>
            <a:tailEnd type="triangle" w="sm" len="sm"/>
          </a:ln>
        </p:spPr>
      </p:cxnSp>
      <p:cxnSp>
        <p:nvCxnSpPr>
          <p:cNvPr id="48" name="wire-171">
            <a:extLst xmlns:a="http://schemas.openxmlformats.org/drawingml/2006/main">
              <a:ext uri="{FF2B5EF4-FFF2-40B4-BE49-F238E27FC236}">
                <a16:creationId xmlns:a16="http://schemas.microsoft.com/office/drawing/2014/main" id="{8CBA83CE-552B-4880-9F11-F999DD35460D}"/>
              </a:ext>
            </a:extLst>
          </p:cNvPr>
          <p:cNvCxnSpPr/>
          <p:nvPr/>
        </p:nvCxnSpPr>
        <p:spPr>
          <a:xfrm xmlns:a="http://schemas.openxmlformats.org/drawingml/2006/main">
            <a:off x="7515225" y="2543175"/>
            <a:ext cx="0" cy="962025"/>
          </a:xfrm>
          <a:prstGeom xmlns:a="http://schemas.openxmlformats.org/drawingml/2006/main" prst="straightConnector1">
            <a:avLst/>
          </a:prstGeom>
          <a:ln xmlns:a="http://schemas.openxmlformats.org/drawingml/2006/main" w="23813">
            <a:solidFill>
              <a:srgbClr val="A76807"/>
            </a:solidFill>
            <a:prstDash val="solid"/>
            <a:tailEnd type="none" w="sm" len="sm"/>
          </a:ln>
        </p:spPr>
      </p:cxnSp>
      <p:cxnSp>
        <p:nvCxnSpPr>
          <p:cNvPr id="46" name="wire-169">
            <a:extLst xmlns:a="http://schemas.openxmlformats.org/drawingml/2006/main">
              <a:ext uri="{FF2B5EF4-FFF2-40B4-BE49-F238E27FC236}">
                <a16:creationId xmlns:a16="http://schemas.microsoft.com/office/drawing/2014/main" id="{6370D129-8647-4255-92D4-85CD92F589C5}"/>
              </a:ext>
            </a:extLst>
          </p:cNvPr>
          <p:cNvCxnSpPr/>
          <p:nvPr/>
        </p:nvCxnSpPr>
        <p:spPr>
          <a:xfrm xmlns:a="http://schemas.openxmlformats.org/drawingml/2006/main" flipV="1">
            <a:off x="1171575" y="3362325"/>
            <a:ext cx="0" cy="2114550"/>
          </a:xfrm>
          <a:prstGeom xmlns:a="http://schemas.openxmlformats.org/drawingml/2006/main" prst="straightConnector1">
            <a:avLst/>
          </a:prstGeom>
          <a:ln xmlns:a="http://schemas.openxmlformats.org/drawingml/2006/main" w="23813">
            <a:solidFill>
              <a:srgbClr val="A76807"/>
            </a:solidFill>
            <a:prstDash val="solid"/>
            <a:tailEnd type="triangle" w="sm" len="sm"/>
          </a:ln>
        </p:spPr>
      </p:cxnSp>
      <p:cxnSp>
        <p:nvCxnSpPr>
          <p:cNvPr id="45" name="wire-168">
            <a:extLst xmlns:a="http://schemas.openxmlformats.org/drawingml/2006/main">
              <a:ext uri="{FF2B5EF4-FFF2-40B4-BE49-F238E27FC236}">
                <a16:creationId xmlns:a16="http://schemas.microsoft.com/office/drawing/2014/main" id="{1BFC5DAC-85AB-4A56-8DC6-432F41903D5A}"/>
              </a:ext>
            </a:extLst>
          </p:cNvPr>
          <p:cNvCxnSpPr/>
          <p:nvPr/>
        </p:nvCxnSpPr>
        <p:spPr>
          <a:xfrm xmlns:a="http://schemas.openxmlformats.org/drawingml/2006/main" flipH="1">
            <a:off x="1171575" y="5476875"/>
            <a:ext cx="6324600" cy="0"/>
          </a:xfrm>
          <a:prstGeom xmlns:a="http://schemas.openxmlformats.org/drawingml/2006/main" prst="straightConnector1">
            <a:avLst/>
          </a:prstGeom>
          <a:ln xmlns:a="http://schemas.openxmlformats.org/drawingml/2006/main" w="23813">
            <a:solidFill>
              <a:srgbClr val="A76807"/>
            </a:solidFill>
            <a:prstDash val="solid"/>
            <a:tailEnd type="none" w="sm" len="sm"/>
          </a:ln>
        </p:spPr>
      </p:cxnSp>
      <p:cxnSp>
        <p:nvCxnSpPr>
          <p:cNvPr id="44" name="wire-167">
            <a:extLst xmlns:a="http://schemas.openxmlformats.org/drawingml/2006/main">
              <a:ext uri="{FF2B5EF4-FFF2-40B4-BE49-F238E27FC236}">
                <a16:creationId xmlns:a16="http://schemas.microsoft.com/office/drawing/2014/main" id="{8CA6E55C-515C-4945-880D-09D9660EA08E}"/>
              </a:ext>
            </a:extLst>
          </p:cNvPr>
          <p:cNvCxnSpPr/>
          <p:nvPr/>
        </p:nvCxnSpPr>
        <p:spPr>
          <a:xfrm xmlns:a="http://schemas.openxmlformats.org/drawingml/2006/main">
            <a:off x="7496175" y="4543425"/>
            <a:ext cx="0" cy="933450"/>
          </a:xfrm>
          <a:prstGeom xmlns:a="http://schemas.openxmlformats.org/drawingml/2006/main" prst="straightConnector1">
            <a:avLst/>
          </a:prstGeom>
          <a:ln xmlns:a="http://schemas.openxmlformats.org/drawingml/2006/main" w="23813">
            <a:solidFill>
              <a:srgbClr val="A76807"/>
            </a:solidFill>
            <a:prstDash val="solid"/>
            <a:tailEnd type="none" w="sm" len="sm"/>
          </a:ln>
        </p:spPr>
      </p:cxnSp>
      <p:cxnSp>
        <p:nvCxnSpPr>
          <p:cNvPr id="43" name="wire-166">
            <a:extLst xmlns:a="http://schemas.openxmlformats.org/drawingml/2006/main">
              <a:ext uri="{FF2B5EF4-FFF2-40B4-BE49-F238E27FC236}">
                <a16:creationId xmlns:a16="http://schemas.microsoft.com/office/drawing/2014/main" id="{A9B788CC-447B-4628-8722-EA53AAE7ADC4}"/>
              </a:ext>
            </a:extLst>
          </p:cNvPr>
          <p:cNvCxnSpPr/>
          <p:nvPr/>
        </p:nvCxnSpPr>
        <p:spPr>
          <a:xfrm xmlns:a="http://schemas.openxmlformats.org/drawingml/2006/main">
            <a:off x="5105400" y="4543425"/>
            <a:ext cx="2390775" cy="0"/>
          </a:xfrm>
          <a:prstGeom xmlns:a="http://schemas.openxmlformats.org/drawingml/2006/main" prst="straightConnector1">
            <a:avLst/>
          </a:prstGeom>
          <a:ln xmlns:a="http://schemas.openxmlformats.org/drawingml/2006/main" w="23813">
            <a:solidFill>
              <a:srgbClr val="A76807"/>
            </a:solidFill>
            <a:prstDash val="solid"/>
            <a:tailEnd type="none" w="sm" len="sm"/>
          </a:ln>
        </p:spPr>
      </p:cxnSp>
      <p:cxnSp>
        <p:nvCxnSpPr>
          <p:cNvPr id="42" name="wire-165">
            <a:extLst xmlns:a="http://schemas.openxmlformats.org/drawingml/2006/main">
              <a:ext uri="{FF2B5EF4-FFF2-40B4-BE49-F238E27FC236}">
                <a16:creationId xmlns:a16="http://schemas.microsoft.com/office/drawing/2014/main" id="{53D3C428-2185-445D-9FAC-EB43D27927FD}"/>
              </a:ext>
            </a:extLst>
          </p:cNvPr>
          <p:cNvCxnSpPr/>
          <p:nvPr/>
        </p:nvCxnSpPr>
        <p:spPr>
          <a:xfrm xmlns:a="http://schemas.openxmlformats.org/drawingml/2006/main">
            <a:off x="3762375" y="3562350"/>
            <a:ext cx="0" cy="533400"/>
          </a:xfrm>
          <a:prstGeom xmlns:a="http://schemas.openxmlformats.org/drawingml/2006/main" prst="straightConnector1">
            <a:avLst/>
          </a:prstGeom>
          <a:ln xmlns:a="http://schemas.openxmlformats.org/drawingml/2006/main" w="23813">
            <a:solidFill>
              <a:srgbClr val="425672"/>
            </a:solidFill>
            <a:prstDash val="dash"/>
            <a:tailEnd type="triangle" w="sm" len="sm"/>
          </a:ln>
        </p:spPr>
      </p:cxnSp>
      <p:cxnSp>
        <p:nvCxnSpPr>
          <p:cNvPr id="41" name="wire-164">
            <a:extLst xmlns:a="http://schemas.openxmlformats.org/drawingml/2006/main">
              <a:ext uri="{FF2B5EF4-FFF2-40B4-BE49-F238E27FC236}">
                <a16:creationId xmlns:a16="http://schemas.microsoft.com/office/drawing/2014/main" id="{9B2885FE-34B5-44D8-820A-4FD1DA0A52FF}"/>
              </a:ext>
            </a:extLst>
          </p:cNvPr>
          <p:cNvCxnSpPr/>
          <p:nvPr/>
        </p:nvCxnSpPr>
        <p:spPr>
          <a:xfrm xmlns:a="http://schemas.openxmlformats.org/drawingml/2006/main" flipH="1">
            <a:off x="3762375" y="3562350"/>
            <a:ext cx="1143000" cy="0"/>
          </a:xfrm>
          <a:prstGeom xmlns:a="http://schemas.openxmlformats.org/drawingml/2006/main" prst="straightConnector1">
            <a:avLst/>
          </a:prstGeom>
          <a:ln xmlns:a="http://schemas.openxmlformats.org/drawingml/2006/main" w="23813">
            <a:solidFill>
              <a:srgbClr val="425672"/>
            </a:solidFill>
            <a:prstDash val="dash"/>
            <a:tailEnd type="none" w="sm" len="sm"/>
          </a:ln>
        </p:spPr>
      </p:cxnSp>
      <p:cxnSp>
        <p:nvCxnSpPr>
          <p:cNvPr id="40" name="wire-163">
            <a:extLst xmlns:a="http://schemas.openxmlformats.org/drawingml/2006/main">
              <a:ext uri="{FF2B5EF4-FFF2-40B4-BE49-F238E27FC236}">
                <a16:creationId xmlns:a16="http://schemas.microsoft.com/office/drawing/2014/main" id="{D5C1B61E-F3CF-49B6-A409-95B8BD2E0B9A}"/>
              </a:ext>
            </a:extLst>
          </p:cNvPr>
          <p:cNvCxnSpPr/>
          <p:nvPr/>
        </p:nvCxnSpPr>
        <p:spPr>
          <a:xfrm xmlns:a="http://schemas.openxmlformats.org/drawingml/2006/main">
            <a:off x="4905375" y="2847975"/>
            <a:ext cx="0" cy="714375"/>
          </a:xfrm>
          <a:prstGeom xmlns:a="http://schemas.openxmlformats.org/drawingml/2006/main" prst="straightConnector1">
            <a:avLst/>
          </a:prstGeom>
          <a:ln xmlns:a="http://schemas.openxmlformats.org/drawingml/2006/main" w="23813">
            <a:solidFill>
              <a:srgbClr val="425672"/>
            </a:solidFill>
            <a:prstDash val="dash"/>
            <a:tailEnd type="none" w="sm" len="sm"/>
          </a:ln>
        </p:spPr>
      </p:cxnSp>
      <p:cxnSp>
        <p:nvCxnSpPr>
          <p:cNvPr id="39" name="wire-162">
            <a:extLst xmlns:a="http://schemas.openxmlformats.org/drawingml/2006/main">
              <a:ext uri="{FF2B5EF4-FFF2-40B4-BE49-F238E27FC236}">
                <a16:creationId xmlns:a16="http://schemas.microsoft.com/office/drawing/2014/main" id="{BB9CE072-F2ED-4269-9696-5885912077A4}"/>
              </a:ext>
            </a:extLst>
          </p:cNvPr>
          <p:cNvCxnSpPr/>
          <p:nvPr/>
        </p:nvCxnSpPr>
        <p:spPr>
          <a:xfrm xmlns:a="http://schemas.openxmlformats.org/drawingml/2006/main">
            <a:off x="2095500" y="4543425"/>
            <a:ext cx="323850" cy="0"/>
          </a:xfrm>
          <a:prstGeom xmlns:a="http://schemas.openxmlformats.org/drawingml/2006/main" prst="straightConnector1">
            <a:avLst/>
          </a:prstGeom>
          <a:ln xmlns:a="http://schemas.openxmlformats.org/drawingml/2006/main" w="23813">
            <a:solidFill>
              <a:srgbClr val="A76807"/>
            </a:solidFill>
            <a:prstDash val="solid"/>
            <a:tailEnd type="triangle" w="sm" len="sm"/>
          </a:ln>
        </p:spPr>
      </p:cxnSp>
      <p:cxnSp>
        <p:nvCxnSpPr>
          <p:cNvPr id="38" name="wire-161">
            <a:extLst xmlns:a="http://schemas.openxmlformats.org/drawingml/2006/main">
              <a:ext uri="{FF2B5EF4-FFF2-40B4-BE49-F238E27FC236}">
                <a16:creationId xmlns:a16="http://schemas.microsoft.com/office/drawing/2014/main" id="{21725BB7-ED45-4983-87C1-619BE1EA98D3}"/>
              </a:ext>
            </a:extLst>
          </p:cNvPr>
          <p:cNvCxnSpPr/>
          <p:nvPr/>
        </p:nvCxnSpPr>
        <p:spPr>
          <a:xfrm xmlns:a="http://schemas.openxmlformats.org/drawingml/2006/main">
            <a:off x="2095500" y="2809875"/>
            <a:ext cx="0" cy="1733550"/>
          </a:xfrm>
          <a:prstGeom xmlns:a="http://schemas.openxmlformats.org/drawingml/2006/main" prst="straightConnector1">
            <a:avLst/>
          </a:prstGeom>
          <a:ln xmlns:a="http://schemas.openxmlformats.org/drawingml/2006/main" w="23813">
            <a:solidFill>
              <a:srgbClr val="A76807"/>
            </a:solidFill>
            <a:prstDash val="solid"/>
            <a:tailEnd type="none" w="sm" len="sm"/>
          </a:ln>
        </p:spPr>
      </p:cxnSp>
      <p:cxnSp>
        <p:nvCxnSpPr>
          <p:cNvPr id="37" name="wire-160">
            <a:extLst xmlns:a="http://schemas.openxmlformats.org/drawingml/2006/main">
              <a:ext uri="{FF2B5EF4-FFF2-40B4-BE49-F238E27FC236}">
                <a16:creationId xmlns:a16="http://schemas.microsoft.com/office/drawing/2014/main" id="{FDF3C118-DF34-4DBA-A079-67899316466B}"/>
              </a:ext>
            </a:extLst>
          </p:cNvPr>
          <p:cNvCxnSpPr/>
          <p:nvPr/>
        </p:nvCxnSpPr>
        <p:spPr>
          <a:xfrm xmlns:a="http://schemas.openxmlformats.org/drawingml/2006/main">
            <a:off x="1866900" y="2809875"/>
            <a:ext cx="228600" cy="0"/>
          </a:xfrm>
          <a:prstGeom xmlns:a="http://schemas.openxmlformats.org/drawingml/2006/main" prst="straightConnector1">
            <a:avLst/>
          </a:prstGeom>
          <a:ln xmlns:a="http://schemas.openxmlformats.org/drawingml/2006/main" w="23813">
            <a:solidFill>
              <a:srgbClr val="A76807"/>
            </a:solidFill>
            <a:prstDash val="solid"/>
            <a:tailEnd type="none" w="sm" len="sm"/>
          </a:ln>
        </p:spPr>
      </p:cxnSp>
      <p:cxnSp>
        <p:nvCxnSpPr>
          <p:cNvPr id="33" name="wire-156">
            <a:extLst xmlns:a="http://schemas.openxmlformats.org/drawingml/2006/main">
              <a:ext uri="{FF2B5EF4-FFF2-40B4-BE49-F238E27FC236}">
                <a16:creationId xmlns:a16="http://schemas.microsoft.com/office/drawing/2014/main" id="{BAB873AE-3BCE-4496-9C8D-C8BD645758CE}"/>
              </a:ext>
            </a:extLst>
          </p:cNvPr>
          <p:cNvCxnSpPr/>
          <p:nvPr/>
        </p:nvCxnSpPr>
        <p:spPr>
          <a:xfrm xmlns:a="http://schemas.openxmlformats.org/drawingml/2006/main" flipV="1">
            <a:off x="6524625" y="2847975"/>
            <a:ext cx="0" cy="238125"/>
          </a:xfrm>
          <a:prstGeom xmlns:a="http://schemas.openxmlformats.org/drawingml/2006/main" prst="straightConnector1">
            <a:avLst/>
          </a:prstGeom>
          <a:ln xmlns:a="http://schemas.openxmlformats.org/drawingml/2006/main" w="23813">
            <a:solidFill>
              <a:srgbClr val="A76807"/>
            </a:solidFill>
            <a:prstDash val="solid"/>
            <a:tailEnd type="triangle" w="sm" len="sm"/>
          </a:ln>
        </p:spPr>
      </p:cxnSp>
      <p:cxnSp>
        <p:nvCxnSpPr>
          <p:cNvPr id="32" name="wire-155">
            <a:extLst xmlns:a="http://schemas.openxmlformats.org/drawingml/2006/main">
              <a:ext uri="{FF2B5EF4-FFF2-40B4-BE49-F238E27FC236}">
                <a16:creationId xmlns:a16="http://schemas.microsoft.com/office/drawing/2014/main" id="{4A00BB7A-0C07-4D23-8EDC-8B7939B5B94C}"/>
              </a:ext>
            </a:extLst>
          </p:cNvPr>
          <p:cNvCxnSpPr/>
          <p:nvPr/>
        </p:nvCxnSpPr>
        <p:spPr>
          <a:xfrm xmlns:a="http://schemas.openxmlformats.org/drawingml/2006/main">
            <a:off x="6210300" y="3086100"/>
            <a:ext cx="314325" cy="0"/>
          </a:xfrm>
          <a:prstGeom xmlns:a="http://schemas.openxmlformats.org/drawingml/2006/main" prst="straightConnector1">
            <a:avLst/>
          </a:prstGeom>
          <a:ln xmlns:a="http://schemas.openxmlformats.org/drawingml/2006/main" w="23813">
            <a:solidFill>
              <a:srgbClr val="A76807"/>
            </a:solidFill>
            <a:prstDash val="solid"/>
            <a:tailEnd type="none" w="sm" len="sm"/>
          </a:ln>
        </p:spPr>
      </p:cxnSp>
      <p:cxnSp>
        <p:nvCxnSpPr>
          <p:cNvPr id="31" name="wire-154">
            <a:extLst xmlns:a="http://schemas.openxmlformats.org/drawingml/2006/main">
              <a:ext uri="{FF2B5EF4-FFF2-40B4-BE49-F238E27FC236}">
                <a16:creationId xmlns:a16="http://schemas.microsoft.com/office/drawing/2014/main" id="{1C68E233-52B1-45EE-AF05-5CE5F8D7829D}"/>
              </a:ext>
            </a:extLst>
          </p:cNvPr>
          <p:cNvCxnSpPr/>
          <p:nvPr/>
        </p:nvCxnSpPr>
        <p:spPr>
          <a:xfrm xmlns:a="http://schemas.openxmlformats.org/drawingml/2006/main" flipV="1">
            <a:off x="6210300" y="3086100"/>
            <a:ext cx="0" cy="209550"/>
          </a:xfrm>
          <a:prstGeom xmlns:a="http://schemas.openxmlformats.org/drawingml/2006/main" prst="straightConnector1">
            <a:avLst/>
          </a:prstGeom>
          <a:ln xmlns:a="http://schemas.openxmlformats.org/drawingml/2006/main" w="23813">
            <a:solidFill>
              <a:srgbClr val="A76807"/>
            </a:solidFill>
            <a:prstDash val="solid"/>
            <a:tailEnd type="none" w="sm" len="sm"/>
          </a:ln>
        </p:spPr>
      </p:cxnSp>
      <p:cxnSp>
        <p:nvCxnSpPr>
          <p:cNvPr id="23" name="wire-146">
            <a:extLst xmlns:a="http://schemas.openxmlformats.org/drawingml/2006/main">
              <a:ext uri="{FF2B5EF4-FFF2-40B4-BE49-F238E27FC236}">
                <a16:creationId xmlns:a16="http://schemas.microsoft.com/office/drawing/2014/main" id="{4834176D-A1A5-4EF2-ADC1-D9FFA4C4F946}"/>
              </a:ext>
            </a:extLst>
          </p:cNvPr>
          <p:cNvCxnSpPr/>
          <p:nvPr/>
        </p:nvCxnSpPr>
        <p:spPr>
          <a:xfrm xmlns:a="http://schemas.openxmlformats.org/drawingml/2006/main">
            <a:off x="6829425" y="2543175"/>
            <a:ext cx="1143000" cy="0"/>
          </a:xfrm>
          <a:prstGeom xmlns:a="http://schemas.openxmlformats.org/drawingml/2006/main" prst="straightConnector1">
            <a:avLst/>
          </a:prstGeom>
          <a:ln xmlns:a="http://schemas.openxmlformats.org/drawingml/2006/main" w="23813">
            <a:solidFill>
              <a:srgbClr val="A76807"/>
            </a:solidFill>
            <a:prstDash val="solid"/>
            <a:tailEnd type="triangle" w="sm" len="sm"/>
          </a:ln>
        </p:spPr>
      </p:cxnSp>
      <p:cxnSp>
        <p:nvCxnSpPr>
          <p:cNvPr id="22" name="wire-145">
            <a:extLst xmlns:a="http://schemas.openxmlformats.org/drawingml/2006/main">
              <a:ext uri="{FF2B5EF4-FFF2-40B4-BE49-F238E27FC236}">
                <a16:creationId xmlns:a16="http://schemas.microsoft.com/office/drawing/2014/main" id="{E16F6B81-8D3F-4134-A562-A25DF952E4A1}"/>
              </a:ext>
            </a:extLst>
          </p:cNvPr>
          <p:cNvCxnSpPr/>
          <p:nvPr/>
        </p:nvCxnSpPr>
        <p:spPr>
          <a:xfrm xmlns:a="http://schemas.openxmlformats.org/drawingml/2006/main">
            <a:off x="5200650" y="2552700"/>
            <a:ext cx="1019175" cy="0"/>
          </a:xfrm>
          <a:prstGeom xmlns:a="http://schemas.openxmlformats.org/drawingml/2006/main" prst="straightConnector1">
            <a:avLst/>
          </a:prstGeom>
          <a:ln xmlns:a="http://schemas.openxmlformats.org/drawingml/2006/main" w="23813">
            <a:solidFill>
              <a:srgbClr val="A76807"/>
            </a:solidFill>
            <a:prstDash val="solid"/>
            <a:tailEnd type="triangle" w="sm" len="sm"/>
          </a:ln>
        </p:spPr>
      </p:cxnSp>
      <p:cxnSp>
        <p:nvCxnSpPr>
          <p:cNvPr id="21" name="wire-144">
            <a:extLst xmlns:a="http://schemas.openxmlformats.org/drawingml/2006/main">
              <a:ext uri="{FF2B5EF4-FFF2-40B4-BE49-F238E27FC236}">
                <a16:creationId xmlns:a16="http://schemas.microsoft.com/office/drawing/2014/main" id="{FEF471D9-629B-47E7-962B-500477830D13}"/>
              </a:ext>
            </a:extLst>
          </p:cNvPr>
          <p:cNvCxnSpPr/>
          <p:nvPr/>
        </p:nvCxnSpPr>
        <p:spPr>
          <a:xfrm xmlns:a="http://schemas.openxmlformats.org/drawingml/2006/main">
            <a:off x="4162425" y="2571750"/>
            <a:ext cx="428625" cy="0"/>
          </a:xfrm>
          <a:prstGeom xmlns:a="http://schemas.openxmlformats.org/drawingml/2006/main" prst="straightConnector1">
            <a:avLst/>
          </a:prstGeom>
          <a:ln xmlns:a="http://schemas.openxmlformats.org/drawingml/2006/main" w="23813">
            <a:solidFill>
              <a:srgbClr val="A76807"/>
            </a:solidFill>
            <a:prstDash val="solid"/>
            <a:tailEnd type="triangle" w="sm" len="sm"/>
          </a:ln>
        </p:spPr>
      </p:cxnSp>
      <p:cxnSp>
        <p:nvCxnSpPr>
          <p:cNvPr id="20" name="wire-143">
            <a:extLst xmlns:a="http://schemas.openxmlformats.org/drawingml/2006/main">
              <a:ext uri="{FF2B5EF4-FFF2-40B4-BE49-F238E27FC236}">
                <a16:creationId xmlns:a16="http://schemas.microsoft.com/office/drawing/2014/main" id="{548C5A07-EEF2-49FA-B79A-3F0D8ED749C9}"/>
              </a:ext>
            </a:extLst>
          </p:cNvPr>
          <p:cNvCxnSpPr/>
          <p:nvPr/>
        </p:nvCxnSpPr>
        <p:spPr>
          <a:xfrm xmlns:a="http://schemas.openxmlformats.org/drawingml/2006/main">
            <a:off x="1866900" y="2590800"/>
            <a:ext cx="533400" cy="0"/>
          </a:xfrm>
          <a:prstGeom xmlns:a="http://schemas.openxmlformats.org/drawingml/2006/main" prst="straightConnector1">
            <a:avLst/>
          </a:prstGeom>
          <a:ln xmlns:a="http://schemas.openxmlformats.org/drawingml/2006/main" w="23813">
            <a:solidFill>
              <a:srgbClr val="A76807"/>
            </a:solidFill>
            <a:prstDash val="solid"/>
            <a:tailEnd type="triangle" w="sm" len="sm"/>
          </a:ln>
        </p:spPr>
      </p:cxnSp>
      <p:cxnSp>
        <p:nvCxnSpPr>
          <p:cNvPr id="3" name="wire-126">
            <a:extLst xmlns:a="http://schemas.openxmlformats.org/drawingml/2006/main">
              <a:ext uri="{FF2B5EF4-FFF2-40B4-BE49-F238E27FC236}">
                <a16:creationId xmlns:a16="http://schemas.microsoft.com/office/drawing/2014/main" id="{044F56E4-878F-46BA-ADEA-3389A0A02B4D}"/>
              </a:ext>
            </a:extLst>
          </p:cNvPr>
          <p:cNvCxnSpPr/>
          <p:nvPr/>
        </p:nvCxnSpPr>
        <p:spPr>
          <a:xfrm xmlns:a="http://schemas.openxmlformats.org/drawingml/2006/main">
            <a:off x="457200" y="1476375"/>
            <a:ext cx="11277600" cy="0"/>
          </a:xfrm>
          <a:prstGeom xmlns:a="http://schemas.openxmlformats.org/drawingml/2006/main" prst="straightConnector1">
            <a:avLst/>
          </a:prstGeom>
          <a:ln xmlns:a="http://schemas.openxmlformats.org/drawingml/2006/main" w="9525">
            <a:solidFill>
              <a:srgbClr val="CCD6E2"/>
            </a:solidFill>
            <a:prstDash val="solid"/>
            <a:tailEnd type="none" w="sm" len="sm"/>
          </a:ln>
        </p:spPr>
      </p:cxnSp>
      <p:sp>
        <p:nvSpPr>
          <p:cNvPr id="62" name="text-124">
            <a:extLst xmlns:a="http://schemas.openxmlformats.org/drawingml/2006/main">
              <a:ext uri="{FF2B5EF4-FFF2-40B4-BE49-F238E27FC236}">
                <a16:creationId xmlns:a16="http://schemas.microsoft.com/office/drawing/2014/main" id="{085476F8-9389-42BA-9E01-5500531592FD}"/>
              </a:ext>
            </a:extLst>
          </p:cNvPr>
          <p:cNvSpPr>
            <a:spLocks xmlns:a="http://schemas.openxmlformats.org/drawingml/2006/main" noGrp="1"/>
          </p:cNvSpPr>
          <p:nvPr/>
        </p:nvSpPr>
        <p:spPr>
          <a:xfrm xmlns:a="http://schemas.openxmlformats.org/drawingml/2006/main">
            <a:off x="457200" y="304800"/>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2B4D"/>
                </a:solidFill>
                <a:latin typeface="Arial"/>
                <a:ea typeface="Arial"/>
                <a:cs typeface="Arial"/>
              </a:defRPr>
            </a:defPPr>
          </a:lstStyle>
          <a:p xmlns:a="http://schemas.openxmlformats.org/drawingml/2006/main">
            <a:pPr algn="l">
              <a:buNone/>
              <a:defRPr sz="3300" b="1">
                <a:solidFill>
                  <a:srgbClr val="172B4D"/>
                </a:solidFill>
                <a:latin typeface="Arial"/>
                <a:ea typeface="Arial"/>
                <a:cs typeface="Arial"/>
              </a:defRPr>
            </a:pPr>
            <a:r>
              <a:rPr sz="3300" b="1">
                <a:solidFill>
                  <a:srgbClr val="172B4D"/>
                </a:solidFill>
                <a:latin typeface="Arial"/>
                <a:ea typeface="Arial"/>
                <a:cs typeface="Arial"/>
              </a:rPr>
              <a:t>SAC: quét bit 1 và tính lượng dịch tích lũy</a:t>
            </a:r>
          </a:p>
        </p:txBody>
      </p:sp>
      <p:sp>
        <p:nvSpPr>
          <p:cNvPr id="2" name="text-125">
            <a:extLst xmlns:a="http://schemas.openxmlformats.org/drawingml/2006/main">
              <a:ext uri="{FF2B5EF4-FFF2-40B4-BE49-F238E27FC236}">
                <a16:creationId xmlns:a16="http://schemas.microsoft.com/office/drawing/2014/main" id="{EDB7FF17-E043-4B16-968E-4CC4F9A5068A}"/>
              </a:ext>
            </a:extLst>
          </p:cNvPr>
          <p:cNvSpPr>
            <a:spLocks xmlns:a="http://schemas.openxmlformats.org/drawingml/2006/main" noGrp="1"/>
          </p:cNvSpPr>
          <p:nvPr/>
        </p:nvSpPr>
        <p:spPr>
          <a:xfrm xmlns:a="http://schemas.openxmlformats.org/drawingml/2006/main">
            <a:off x="457200" y="942975"/>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3657D"/>
                </a:solidFill>
                <a:latin typeface="Arial"/>
                <a:ea typeface="Arial"/>
                <a:cs typeface="Arial"/>
              </a:defRPr>
            </a:defPPr>
          </a:lstStyle>
          <a:p xmlns:a="http://schemas.openxmlformats.org/drawingml/2006/main">
            <a:pPr algn="l">
              <a:buNone/>
              <a:defRPr sz="1800" b="0">
                <a:solidFill>
                  <a:srgbClr val="53657D"/>
                </a:solidFill>
                <a:latin typeface="Arial"/>
                <a:ea typeface="Arial"/>
                <a:cs typeface="Arial"/>
              </a:defRPr>
            </a:pPr>
            <a:r>
              <a:rPr sz="1800" b="0">
                <a:solidFill>
                  <a:srgbClr val="53657D"/>
                </a:solidFill>
                <a:latin typeface="Arial"/>
                <a:ea typeface="Arial"/>
                <a:cs typeface="Arial"/>
              </a:rPr>
              <a:t>sac_step_comb là tổ hợp. iter_ctrl giữ fx_q, scale_q và số vòng</a:t>
            </a:r>
          </a:p>
        </p:txBody>
      </p:sp>
      <p:sp>
        <p:nvSpPr>
          <p:cNvPr id="4" name="text-127">
            <a:extLst xmlns:a="http://schemas.openxmlformats.org/drawingml/2006/main">
              <a:ext uri="{FF2B5EF4-FFF2-40B4-BE49-F238E27FC236}">
                <a16:creationId xmlns:a16="http://schemas.microsoft.com/office/drawing/2014/main" id="{39C0A577-553B-421C-A389-BD38F494F04B}"/>
              </a:ext>
            </a:extLst>
          </p:cNvPr>
          <p:cNvSpPr>
            <a:spLocks xmlns:a="http://schemas.openxmlformats.org/drawingml/2006/main" noGrp="1"/>
          </p:cNvSpPr>
          <p:nvPr/>
        </p:nvSpPr>
        <p:spPr>
          <a:xfrm xmlns:a="http://schemas.openxmlformats.org/drawingml/2006/main">
            <a:off x="11001375" y="6429375"/>
            <a:ext cx="723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57D"/>
                </a:solidFill>
                <a:latin typeface="Arial"/>
                <a:ea typeface="Arial"/>
                <a:cs typeface="Arial"/>
              </a:defRPr>
            </a:defPPr>
          </a:lstStyle>
          <a:p xmlns:a="http://schemas.openxmlformats.org/drawingml/2006/main">
            <a:pPr algn="r">
              <a:buNone/>
              <a:defRPr sz="1350" b="0">
                <a:solidFill>
                  <a:srgbClr val="53657D"/>
                </a:solidFill>
                <a:latin typeface="Arial"/>
                <a:ea typeface="Arial"/>
                <a:cs typeface="Arial"/>
              </a:defRPr>
            </a:pPr>
            <a:r>
              <a:rPr sz="1350" b="0">
                <a:solidFill>
                  <a:srgbClr val="53657D"/>
                </a:solidFill>
                <a:latin typeface="Arial"/>
                <a:ea typeface="Arial"/>
                <a:cs typeface="Arial"/>
              </a:rPr>
              <a:t>3 / 7</a:t>
            </a:r>
          </a:p>
        </p:txBody>
      </p:sp>
      <p:sp>
        <p:nvSpPr>
          <p:cNvPr id="5" name="fx_q-128">
            <a:extLst xmlns:a="http://schemas.openxmlformats.org/drawingml/2006/main">
              <a:ext uri="{FF2B5EF4-FFF2-40B4-BE49-F238E27FC236}">
                <a16:creationId xmlns:a16="http://schemas.microsoft.com/office/drawing/2014/main" id="{243666DE-6045-4EE3-BB39-D4701E17832F}"/>
              </a:ext>
            </a:extLst>
          </p:cNvPr>
          <p:cNvSpPr>
            <a:spLocks xmlns:a="http://schemas.openxmlformats.org/drawingml/2006/main" noGrp="1"/>
          </p:cNvSpPr>
          <p:nvPr/>
        </p:nvSpPr>
        <p:spPr>
          <a:xfrm xmlns:a="http://schemas.openxmlformats.org/drawingml/2006/main">
            <a:off x="457200" y="2228850"/>
            <a:ext cx="1409700" cy="1133475"/>
          </a:xfrm>
          <a:prstGeom xmlns:a="http://schemas.openxmlformats.org/drawingml/2006/main" prst="rect">
            <a:avLst/>
          </a:prstGeom>
          <a:solidFill xmlns:a="http://schemas.openxmlformats.org/drawingml/2006/main">
            <a:srgbClr val="EAF1FA"/>
          </a:solidFill>
          <a:ln xmlns:a="http://schemas.openxmlformats.org/drawingml/2006/main" w="19050">
            <a:solidFill>
              <a:srgbClr val="244B83"/>
            </a:solidFill>
          </a:ln>
        </p:spPr>
      </p:sp>
      <p:sp>
        <p:nvSpPr>
          <p:cNvPr id="6" name="clock-129">
            <a:extLst xmlns:a="http://schemas.openxmlformats.org/drawingml/2006/main">
              <a:ext uri="{FF2B5EF4-FFF2-40B4-BE49-F238E27FC236}">
                <a16:creationId xmlns:a16="http://schemas.microsoft.com/office/drawing/2014/main" id="{AC5493EA-A399-49C3-B513-164BCE204CEC}"/>
              </a:ext>
            </a:extLst>
          </p:cNvPr>
          <p:cNvSpPr>
            <a:spLocks xmlns:a="http://schemas.openxmlformats.org/drawingml/2006/main" noGrp="1"/>
          </p:cNvSpPr>
          <p:nvPr/>
        </p:nvSpPr>
        <p:spPr>
          <a:xfrm xmlns:a="http://schemas.openxmlformats.org/drawingml/2006/main">
            <a:off x="457200" y="3143250"/>
            <a:ext cx="95250" cy="133350"/>
          </a:xfrm>
          <a:custGeom xmlns:a="http://schemas.openxmlformats.org/drawingml/2006/main">
            <a:rect l="0" t="0" r="0" b="0"/>
            <a:pathLst>
              <a:path w="95250" h="133350">
                <a:moveTo>
                  <a:pt x="0" y="0"/>
                </a:moveTo>
                <a:lnTo>
                  <a:pt x="95250" y="66675"/>
                </a:lnTo>
                <a:lnTo>
                  <a:pt x="0" y="133350"/>
                </a:lnTo>
                <a:close/>
              </a:path>
            </a:pathLst>
          </a:custGeom>
          <a:solidFill xmlns:a="http://schemas.openxmlformats.org/drawingml/2006/main">
            <a:srgbClr val="FFFFFF"/>
          </a:solidFill>
          <a:ln xmlns:a="http://schemas.openxmlformats.org/drawingml/2006/main" w="19050">
            <a:solidFill>
              <a:srgbClr val="244B83"/>
            </a:solidFill>
          </a:ln>
        </p:spPr>
      </p:sp>
      <p:sp>
        <p:nvSpPr>
          <p:cNvPr id="7" name="text-130">
            <a:extLst xmlns:a="http://schemas.openxmlformats.org/drawingml/2006/main">
              <a:ext uri="{FF2B5EF4-FFF2-40B4-BE49-F238E27FC236}">
                <a16:creationId xmlns:a16="http://schemas.microsoft.com/office/drawing/2014/main" id="{DA050BC5-68A1-40D0-8C6A-90647690C1B1}"/>
              </a:ext>
            </a:extLst>
          </p:cNvPr>
          <p:cNvSpPr>
            <a:spLocks xmlns:a="http://schemas.openxmlformats.org/drawingml/2006/main" noGrp="1"/>
          </p:cNvSpPr>
          <p:nvPr/>
        </p:nvSpPr>
        <p:spPr>
          <a:xfrm xmlns:a="http://schemas.openxmlformats.org/drawingml/2006/main">
            <a:off x="495300" y="2371725"/>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244B83"/>
                </a:solidFill>
                <a:latin typeface="Arial"/>
                <a:ea typeface="Arial"/>
                <a:cs typeface="Arial"/>
              </a:defRPr>
            </a:defPPr>
          </a:lstStyle>
          <a:p xmlns:a="http://schemas.openxmlformats.org/drawingml/2006/main">
            <a:pPr algn="ctr">
              <a:buNone/>
              <a:defRPr sz="1800" b="1">
                <a:solidFill>
                  <a:srgbClr val="244B83"/>
                </a:solidFill>
                <a:latin typeface="Arial"/>
                <a:ea typeface="Arial"/>
                <a:cs typeface="Arial"/>
              </a:defRPr>
            </a:pPr>
            <a:r>
              <a:rPr sz="1800" b="1">
                <a:solidFill>
                  <a:srgbClr val="244B83"/>
                </a:solidFill>
                <a:latin typeface="Arial"/>
                <a:ea typeface="Arial"/>
                <a:cs typeface="Arial"/>
              </a:rPr>
              <a:t>fx_q</a:t>
            </a:r>
          </a:p>
        </p:txBody>
      </p:sp>
      <p:sp>
        <p:nvSpPr>
          <p:cNvPr id="8" name="text-131">
            <a:extLst xmlns:a="http://schemas.openxmlformats.org/drawingml/2006/main">
              <a:ext uri="{FF2B5EF4-FFF2-40B4-BE49-F238E27FC236}">
                <a16:creationId xmlns:a16="http://schemas.microsoft.com/office/drawing/2014/main" id="{06BCE1ED-36BA-47A7-A008-6DE7A1EF6423}"/>
              </a:ext>
            </a:extLst>
          </p:cNvPr>
          <p:cNvSpPr>
            <a:spLocks xmlns:a="http://schemas.openxmlformats.org/drawingml/2006/main" noGrp="1"/>
          </p:cNvSpPr>
          <p:nvPr/>
        </p:nvSpPr>
        <p:spPr>
          <a:xfrm xmlns:a="http://schemas.openxmlformats.org/drawingml/2006/main">
            <a:off x="533400" y="2724150"/>
            <a:ext cx="1257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W bit</a:t>
            </a:r>
          </a:p>
        </p:txBody>
      </p:sp>
      <p:sp>
        <p:nvSpPr>
          <p:cNvPr id="9" name="LOD-132">
            <a:extLst xmlns:a="http://schemas.openxmlformats.org/drawingml/2006/main">
              <a:ext uri="{FF2B5EF4-FFF2-40B4-BE49-F238E27FC236}">
                <a16:creationId xmlns:a16="http://schemas.microsoft.com/office/drawing/2014/main" id="{AE7124BF-0221-46E0-99A7-1503CC7C5A2B}"/>
              </a:ext>
            </a:extLst>
          </p:cNvPr>
          <p:cNvSpPr>
            <a:spLocks xmlns:a="http://schemas.openxmlformats.org/drawingml/2006/main" noGrp="1"/>
          </p:cNvSpPr>
          <p:nvPr/>
        </p:nvSpPr>
        <p:spPr>
          <a:xfrm xmlns:a="http://schemas.openxmlformats.org/drawingml/2006/main">
            <a:off x="2400300" y="2038350"/>
            <a:ext cx="1762125" cy="1066800"/>
          </a:xfrm>
          <a:prstGeom xmlns:a="http://schemas.openxmlformats.org/drawingml/2006/main" prst="rect">
            <a:avLst/>
          </a:prstGeom>
          <a:solidFill xmlns:a="http://schemas.openxmlformats.org/drawingml/2006/main">
            <a:srgbClr val="FFF4DD"/>
          </a:solidFill>
          <a:ln xmlns:a="http://schemas.openxmlformats.org/drawingml/2006/main" w="19050">
            <a:solidFill>
              <a:srgbClr val="A76807"/>
            </a:solidFill>
          </a:ln>
        </p:spPr>
      </p:sp>
      <p:sp>
        <p:nvSpPr>
          <p:cNvPr id="10" name="text-133">
            <a:extLst xmlns:a="http://schemas.openxmlformats.org/drawingml/2006/main">
              <a:ext uri="{FF2B5EF4-FFF2-40B4-BE49-F238E27FC236}">
                <a16:creationId xmlns:a16="http://schemas.microsoft.com/office/drawing/2014/main" id="{E5576BBC-4985-4AC2-BF63-6AC31475FB24}"/>
              </a:ext>
            </a:extLst>
          </p:cNvPr>
          <p:cNvSpPr>
            <a:spLocks xmlns:a="http://schemas.openxmlformats.org/drawingml/2006/main" noGrp="1"/>
          </p:cNvSpPr>
          <p:nvPr/>
        </p:nvSpPr>
        <p:spPr>
          <a:xfrm xmlns:a="http://schemas.openxmlformats.org/drawingml/2006/main">
            <a:off x="2495550" y="2162175"/>
            <a:ext cx="1571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A76807"/>
                </a:solidFill>
                <a:latin typeface="Arial"/>
                <a:ea typeface="Arial"/>
                <a:cs typeface="Arial"/>
              </a:defRPr>
            </a:defPPr>
          </a:lstStyle>
          <a:p xmlns:a="http://schemas.openxmlformats.org/drawingml/2006/main">
            <a:pPr algn="ctr">
              <a:buNone/>
              <a:defRPr sz="1950" b="1">
                <a:solidFill>
                  <a:srgbClr val="A76807"/>
                </a:solidFill>
                <a:latin typeface="Arial"/>
                <a:ea typeface="Arial"/>
                <a:cs typeface="Arial"/>
              </a:defRPr>
            </a:pPr>
            <a:r>
              <a:rPr sz="1950" b="1">
                <a:solidFill>
                  <a:srgbClr val="A76807"/>
                </a:solidFill>
                <a:latin typeface="Arial"/>
                <a:ea typeface="Arial"/>
                <a:cs typeface="Arial"/>
              </a:rPr>
              <a:t>LOD</a:t>
            </a:r>
          </a:p>
        </p:txBody>
      </p:sp>
      <p:sp>
        <p:nvSpPr>
          <p:cNvPr id="11" name="text-134">
            <a:extLst xmlns:a="http://schemas.openxmlformats.org/drawingml/2006/main">
              <a:ext uri="{FF2B5EF4-FFF2-40B4-BE49-F238E27FC236}">
                <a16:creationId xmlns:a16="http://schemas.microsoft.com/office/drawing/2014/main" id="{7352BF13-9817-4954-8B48-6F5CB1D789E1}"/>
              </a:ext>
            </a:extLst>
          </p:cNvPr>
          <p:cNvSpPr>
            <a:spLocks xmlns:a="http://schemas.openxmlformats.org/drawingml/2006/main" noGrp="1"/>
          </p:cNvSpPr>
          <p:nvPr/>
        </p:nvSpPr>
        <p:spPr>
          <a:xfrm xmlns:a="http://schemas.openxmlformats.org/drawingml/2006/main">
            <a:off x="2495550" y="2533650"/>
            <a:ext cx="1571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K = clz(fx)</a:t>
            </a:r>
          </a:p>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vld</a:t>
            </a:r>
          </a:p>
        </p:txBody>
      </p:sp>
      <p:sp>
        <p:nvSpPr>
          <p:cNvPr id="12" name="operator-135">
            <a:extLst xmlns:a="http://schemas.openxmlformats.org/drawingml/2006/main">
              <a:ext uri="{FF2B5EF4-FFF2-40B4-BE49-F238E27FC236}">
                <a16:creationId xmlns:a16="http://schemas.microsoft.com/office/drawing/2014/main" id="{0D67E900-1A2E-4C32-ABA3-899197D572AB}"/>
              </a:ext>
            </a:extLst>
          </p:cNvPr>
          <p:cNvSpPr>
            <a:spLocks xmlns:a="http://schemas.openxmlformats.org/drawingml/2006/main" noGrp="1"/>
          </p:cNvSpPr>
          <p:nvPr/>
        </p:nvSpPr>
        <p:spPr>
          <a:xfrm xmlns:a="http://schemas.openxmlformats.org/drawingml/2006/main">
            <a:off x="4591050" y="2238375"/>
            <a:ext cx="609600" cy="609600"/>
          </a:xfrm>
          <a:prstGeom xmlns:a="http://schemas.openxmlformats.org/drawingml/2006/main" prst="ellipse">
            <a:avLst/>
          </a:prstGeom>
          <a:solidFill xmlns:a="http://schemas.openxmlformats.org/drawingml/2006/main">
            <a:srgbClr val="FFF4DD"/>
          </a:solidFill>
          <a:ln xmlns:a="http://schemas.openxmlformats.org/drawingml/2006/main" w="19050">
            <a:solidFill>
              <a:srgbClr val="A76807"/>
            </a:solidFill>
          </a:ln>
        </p:spPr>
      </p:sp>
      <p:sp>
        <p:nvSpPr>
          <p:cNvPr id="13" name="text-136">
            <a:extLst xmlns:a="http://schemas.openxmlformats.org/drawingml/2006/main">
              <a:ext uri="{FF2B5EF4-FFF2-40B4-BE49-F238E27FC236}">
                <a16:creationId xmlns:a16="http://schemas.microsoft.com/office/drawing/2014/main" id="{887B01F9-AC58-444F-903D-FB62B6DB0D87}"/>
              </a:ext>
            </a:extLst>
          </p:cNvPr>
          <p:cNvSpPr>
            <a:spLocks xmlns:a="http://schemas.openxmlformats.org/drawingml/2006/main" noGrp="1"/>
          </p:cNvSpPr>
          <p:nvPr/>
        </p:nvSpPr>
        <p:spPr>
          <a:xfrm xmlns:a="http://schemas.openxmlformats.org/drawingml/2006/main">
            <a:off x="4591050" y="2238375"/>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A76807"/>
                </a:solidFill>
                <a:latin typeface="Arial"/>
                <a:ea typeface="Arial"/>
                <a:cs typeface="Arial"/>
              </a:defRPr>
            </a:defPPr>
          </a:lstStyle>
          <a:p xmlns:a="http://schemas.openxmlformats.org/drawingml/2006/main">
            <a:pPr algn="ctr">
              <a:buNone/>
              <a:defRPr sz="2250" b="1">
                <a:solidFill>
                  <a:srgbClr val="A76807"/>
                </a:solidFill>
                <a:latin typeface="Arial"/>
                <a:ea typeface="Arial"/>
                <a:cs typeface="Arial"/>
              </a:defRPr>
            </a:pPr>
            <a:r>
              <a:rPr sz="2250" b="1">
                <a:solidFill>
                  <a:srgbClr val="A76807"/>
                </a:solidFill>
                <a:latin typeface="Arial"/>
                <a:ea typeface="Arial"/>
                <a:cs typeface="Arial"/>
              </a:rPr>
              <a:t>+1</a:t>
            </a:r>
          </a:p>
        </p:txBody>
      </p:sp>
      <p:sp>
        <p:nvSpPr>
          <p:cNvPr id="14" name="operator-137">
            <a:extLst xmlns:a="http://schemas.openxmlformats.org/drawingml/2006/main">
              <a:ext uri="{FF2B5EF4-FFF2-40B4-BE49-F238E27FC236}">
                <a16:creationId xmlns:a16="http://schemas.microsoft.com/office/drawing/2014/main" id="{7C68C6D7-794B-4585-BE39-3F1E65566ABE}"/>
              </a:ext>
            </a:extLst>
          </p:cNvPr>
          <p:cNvSpPr>
            <a:spLocks xmlns:a="http://schemas.openxmlformats.org/drawingml/2006/main" noGrp="1"/>
          </p:cNvSpPr>
          <p:nvPr/>
        </p:nvSpPr>
        <p:spPr>
          <a:xfrm xmlns:a="http://schemas.openxmlformats.org/drawingml/2006/main">
            <a:off x="6219825" y="2238375"/>
            <a:ext cx="609600" cy="609600"/>
          </a:xfrm>
          <a:prstGeom xmlns:a="http://schemas.openxmlformats.org/drawingml/2006/main" prst="ellipse">
            <a:avLst/>
          </a:prstGeom>
          <a:solidFill xmlns:a="http://schemas.openxmlformats.org/drawingml/2006/main">
            <a:srgbClr val="FFF4DD"/>
          </a:solidFill>
          <a:ln xmlns:a="http://schemas.openxmlformats.org/drawingml/2006/main" w="19050">
            <a:solidFill>
              <a:srgbClr val="A76807"/>
            </a:solidFill>
          </a:ln>
        </p:spPr>
      </p:sp>
      <p:sp>
        <p:nvSpPr>
          <p:cNvPr id="15" name="text-138">
            <a:extLst xmlns:a="http://schemas.openxmlformats.org/drawingml/2006/main">
              <a:ext uri="{FF2B5EF4-FFF2-40B4-BE49-F238E27FC236}">
                <a16:creationId xmlns:a16="http://schemas.microsoft.com/office/drawing/2014/main" id="{703BB494-F8C6-4E51-A8BB-DC0D3086A676}"/>
              </a:ext>
            </a:extLst>
          </p:cNvPr>
          <p:cNvSpPr>
            <a:spLocks xmlns:a="http://schemas.openxmlformats.org/drawingml/2006/main" noGrp="1"/>
          </p:cNvSpPr>
          <p:nvPr/>
        </p:nvSpPr>
        <p:spPr>
          <a:xfrm xmlns:a="http://schemas.openxmlformats.org/drawingml/2006/main">
            <a:off x="6219825" y="2238375"/>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A76807"/>
                </a:solidFill>
                <a:latin typeface="Arial"/>
                <a:ea typeface="Arial"/>
                <a:cs typeface="Arial"/>
              </a:defRPr>
            </a:defPPr>
          </a:lstStyle>
          <a:p xmlns:a="http://schemas.openxmlformats.org/drawingml/2006/main">
            <a:pPr algn="ctr">
              <a:buNone/>
              <a:defRPr sz="2850" b="1">
                <a:solidFill>
                  <a:srgbClr val="A76807"/>
                </a:solidFill>
                <a:latin typeface="Arial"/>
                <a:ea typeface="Arial"/>
                <a:cs typeface="Arial"/>
              </a:defRPr>
            </a:pPr>
            <a:r>
              <a:rPr sz="2850" b="1">
                <a:solidFill>
                  <a:srgbClr val="A76807"/>
                </a:solidFill>
                <a:latin typeface="Arial"/>
                <a:ea typeface="Arial"/>
                <a:cs typeface="Arial"/>
              </a:rPr>
              <a:t>+</a:t>
            </a:r>
          </a:p>
        </p:txBody>
      </p:sp>
      <p:sp>
        <p:nvSpPr>
          <p:cNvPr id="16" name="R1-139">
            <a:extLst xmlns:a="http://schemas.openxmlformats.org/drawingml/2006/main">
              <a:ext uri="{FF2B5EF4-FFF2-40B4-BE49-F238E27FC236}">
                <a16:creationId xmlns:a16="http://schemas.microsoft.com/office/drawing/2014/main" id="{E768DA42-A186-48E9-89C4-669B17B8425A}"/>
              </a:ext>
            </a:extLst>
          </p:cNvPr>
          <p:cNvSpPr>
            <a:spLocks xmlns:a="http://schemas.openxmlformats.org/drawingml/2006/main" noGrp="1"/>
          </p:cNvSpPr>
          <p:nvPr/>
        </p:nvSpPr>
        <p:spPr>
          <a:xfrm xmlns:a="http://schemas.openxmlformats.org/drawingml/2006/main">
            <a:off x="7972425" y="2228850"/>
            <a:ext cx="1476375" cy="1133475"/>
          </a:xfrm>
          <a:prstGeom xmlns:a="http://schemas.openxmlformats.org/drawingml/2006/main" prst="rect">
            <a:avLst/>
          </a:prstGeom>
          <a:solidFill xmlns:a="http://schemas.openxmlformats.org/drawingml/2006/main">
            <a:srgbClr val="EAF1FA"/>
          </a:solidFill>
          <a:ln xmlns:a="http://schemas.openxmlformats.org/drawingml/2006/main" w="19050">
            <a:solidFill>
              <a:srgbClr val="244B83"/>
            </a:solidFill>
          </a:ln>
        </p:spPr>
      </p:sp>
      <p:sp>
        <p:nvSpPr>
          <p:cNvPr id="17" name="clock-140">
            <a:extLst xmlns:a="http://schemas.openxmlformats.org/drawingml/2006/main">
              <a:ext uri="{FF2B5EF4-FFF2-40B4-BE49-F238E27FC236}">
                <a16:creationId xmlns:a16="http://schemas.microsoft.com/office/drawing/2014/main" id="{D444DDCC-6303-4669-8A25-06E0E93BF495}"/>
              </a:ext>
            </a:extLst>
          </p:cNvPr>
          <p:cNvSpPr>
            <a:spLocks xmlns:a="http://schemas.openxmlformats.org/drawingml/2006/main" noGrp="1"/>
          </p:cNvSpPr>
          <p:nvPr/>
        </p:nvSpPr>
        <p:spPr>
          <a:xfrm xmlns:a="http://schemas.openxmlformats.org/drawingml/2006/main">
            <a:off x="7972425" y="3143250"/>
            <a:ext cx="95250" cy="133350"/>
          </a:xfrm>
          <a:custGeom xmlns:a="http://schemas.openxmlformats.org/drawingml/2006/main">
            <a:rect l="0" t="0" r="0" b="0"/>
            <a:pathLst>
              <a:path w="95250" h="133350">
                <a:moveTo>
                  <a:pt x="0" y="0"/>
                </a:moveTo>
                <a:lnTo>
                  <a:pt x="95250" y="66675"/>
                </a:lnTo>
                <a:lnTo>
                  <a:pt x="0" y="133350"/>
                </a:lnTo>
                <a:close/>
              </a:path>
            </a:pathLst>
          </a:custGeom>
          <a:solidFill xmlns:a="http://schemas.openxmlformats.org/drawingml/2006/main">
            <a:srgbClr val="FFFFFF"/>
          </a:solidFill>
          <a:ln xmlns:a="http://schemas.openxmlformats.org/drawingml/2006/main" w="19050">
            <a:solidFill>
              <a:srgbClr val="244B83"/>
            </a:solidFill>
          </a:ln>
        </p:spPr>
      </p:sp>
      <p:sp>
        <p:nvSpPr>
          <p:cNvPr id="18" name="text-141">
            <a:extLst xmlns:a="http://schemas.openxmlformats.org/drawingml/2006/main">
              <a:ext uri="{FF2B5EF4-FFF2-40B4-BE49-F238E27FC236}">
                <a16:creationId xmlns:a16="http://schemas.microsoft.com/office/drawing/2014/main" id="{3D5792F4-7A92-4283-A99D-04E5E66C8F54}"/>
              </a:ext>
            </a:extLst>
          </p:cNvPr>
          <p:cNvSpPr>
            <a:spLocks xmlns:a="http://schemas.openxmlformats.org/drawingml/2006/main" noGrp="1"/>
          </p:cNvSpPr>
          <p:nvPr/>
        </p:nvSpPr>
        <p:spPr>
          <a:xfrm xmlns:a="http://schemas.openxmlformats.org/drawingml/2006/main">
            <a:off x="8010525" y="2371725"/>
            <a:ext cx="14001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244B83"/>
                </a:solidFill>
                <a:latin typeface="Arial"/>
                <a:ea typeface="Arial"/>
                <a:cs typeface="Arial"/>
              </a:defRPr>
            </a:defPPr>
          </a:lstStyle>
          <a:p xmlns:a="http://schemas.openxmlformats.org/drawingml/2006/main">
            <a:pPr algn="ctr">
              <a:buNone/>
              <a:defRPr sz="1800" b="1">
                <a:solidFill>
                  <a:srgbClr val="244B83"/>
                </a:solidFill>
                <a:latin typeface="Arial"/>
                <a:ea typeface="Arial"/>
                <a:cs typeface="Arial"/>
              </a:defRPr>
            </a:pPr>
            <a:r>
              <a:rPr sz="1800" b="1">
                <a:solidFill>
                  <a:srgbClr val="244B83"/>
                </a:solidFill>
                <a:latin typeface="Arial"/>
                <a:ea typeface="Arial"/>
                <a:cs typeface="Arial"/>
              </a:rPr>
              <a:t>R1</a:t>
            </a:r>
          </a:p>
        </p:txBody>
      </p:sp>
      <p:sp>
        <p:nvSpPr>
          <p:cNvPr id="19" name="text-142">
            <a:extLst xmlns:a="http://schemas.openxmlformats.org/drawingml/2006/main">
              <a:ext uri="{FF2B5EF4-FFF2-40B4-BE49-F238E27FC236}">
                <a16:creationId xmlns:a16="http://schemas.microsoft.com/office/drawing/2014/main" id="{A347DC4B-03FA-4F4D-B609-0178958F88F3}"/>
              </a:ext>
            </a:extLst>
          </p:cNvPr>
          <p:cNvSpPr>
            <a:spLocks xmlns:a="http://schemas.openxmlformats.org/drawingml/2006/main" noGrp="1"/>
          </p:cNvSpPr>
          <p:nvPr/>
        </p:nvSpPr>
        <p:spPr>
          <a:xfrm xmlns:a="http://schemas.openxmlformats.org/drawingml/2006/main">
            <a:off x="8048625" y="2724150"/>
            <a:ext cx="13239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scale = S</a:t>
            </a:r>
          </a:p>
        </p:txBody>
      </p:sp>
      <p:sp>
        <p:nvSpPr>
          <p:cNvPr id="24" name="text-147">
            <a:extLst xmlns:a="http://schemas.openxmlformats.org/drawingml/2006/main">
              <a:ext uri="{FF2B5EF4-FFF2-40B4-BE49-F238E27FC236}">
                <a16:creationId xmlns:a16="http://schemas.microsoft.com/office/drawing/2014/main" id="{42402BFC-6245-4DFF-842B-7FC9584CA0A6}"/>
              </a:ext>
            </a:extLst>
          </p:cNvPr>
          <p:cNvSpPr>
            <a:spLocks xmlns:a="http://schemas.openxmlformats.org/drawingml/2006/main" noGrp="1"/>
          </p:cNvSpPr>
          <p:nvPr/>
        </p:nvSpPr>
        <p:spPr>
          <a:xfrm xmlns:a="http://schemas.openxmlformats.org/drawingml/2006/main">
            <a:off x="4162425" y="2076450"/>
            <a:ext cx="41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A76807"/>
                </a:solidFill>
                <a:latin typeface="Arial"/>
                <a:ea typeface="Arial"/>
                <a:cs typeface="Arial"/>
              </a:defRPr>
            </a:defPPr>
          </a:lstStyle>
          <a:p xmlns:a="http://schemas.openxmlformats.org/drawingml/2006/main">
            <a:pPr algn="ctr">
              <a:buNone/>
              <a:defRPr sz="1725" b="0">
                <a:solidFill>
                  <a:srgbClr val="A76807"/>
                </a:solidFill>
                <a:latin typeface="Arial"/>
                <a:ea typeface="Arial"/>
                <a:cs typeface="Arial"/>
              </a:defRPr>
            </a:pPr>
            <a:r>
              <a:rPr sz="1725" b="0">
                <a:solidFill>
                  <a:srgbClr val="A76807"/>
                </a:solidFill>
                <a:latin typeface="Arial"/>
                <a:ea typeface="Arial"/>
                <a:cs typeface="Arial"/>
              </a:rPr>
              <a:t>K</a:t>
            </a:r>
          </a:p>
        </p:txBody>
      </p:sp>
      <p:sp>
        <p:nvSpPr>
          <p:cNvPr id="25" name="text-148">
            <a:extLst xmlns:a="http://schemas.openxmlformats.org/drawingml/2006/main">
              <a:ext uri="{FF2B5EF4-FFF2-40B4-BE49-F238E27FC236}">
                <a16:creationId xmlns:a16="http://schemas.microsoft.com/office/drawing/2014/main" id="{AE04993B-A870-4BC2-9FC8-618B08A3A305}"/>
              </a:ext>
            </a:extLst>
          </p:cNvPr>
          <p:cNvSpPr>
            <a:spLocks xmlns:a="http://schemas.openxmlformats.org/drawingml/2006/main" noGrp="1"/>
          </p:cNvSpPr>
          <p:nvPr/>
        </p:nvSpPr>
        <p:spPr>
          <a:xfrm xmlns:a="http://schemas.openxmlformats.org/drawingml/2006/main">
            <a:off x="5248275" y="2076450"/>
            <a:ext cx="923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A76807"/>
                </a:solidFill>
                <a:latin typeface="Arial"/>
                <a:ea typeface="Arial"/>
                <a:cs typeface="Arial"/>
              </a:defRPr>
            </a:defPPr>
          </a:lstStyle>
          <a:p xmlns:a="http://schemas.openxmlformats.org/drawingml/2006/main">
            <a:pPr algn="ctr">
              <a:buNone/>
              <a:defRPr sz="1725" b="0">
                <a:solidFill>
                  <a:srgbClr val="A76807"/>
                </a:solidFill>
                <a:latin typeface="Arial"/>
                <a:ea typeface="Arial"/>
                <a:cs typeface="Arial"/>
              </a:defRPr>
            </a:pPr>
            <a:r>
              <a:rPr sz="1725" b="0">
                <a:solidFill>
                  <a:srgbClr val="A76807"/>
                </a:solidFill>
                <a:latin typeface="Arial"/>
                <a:ea typeface="Arial"/>
                <a:cs typeface="Arial"/>
              </a:rPr>
              <a:t>sa</a:t>
            </a:r>
          </a:p>
        </p:txBody>
      </p:sp>
      <p:sp>
        <p:nvSpPr>
          <p:cNvPr id="26" name="text-149">
            <a:extLst xmlns:a="http://schemas.openxmlformats.org/drawingml/2006/main">
              <a:ext uri="{FF2B5EF4-FFF2-40B4-BE49-F238E27FC236}">
                <a16:creationId xmlns:a16="http://schemas.microsoft.com/office/drawing/2014/main" id="{77371814-7440-4717-888C-D3791D8540CF}"/>
              </a:ext>
            </a:extLst>
          </p:cNvPr>
          <p:cNvSpPr>
            <a:spLocks xmlns:a="http://schemas.openxmlformats.org/drawingml/2006/main" noGrp="1"/>
          </p:cNvSpPr>
          <p:nvPr/>
        </p:nvSpPr>
        <p:spPr>
          <a:xfrm xmlns:a="http://schemas.openxmlformats.org/drawingml/2006/main">
            <a:off x="6838950" y="2076450"/>
            <a:ext cx="1076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A76807"/>
                </a:solidFill>
                <a:latin typeface="Arial"/>
                <a:ea typeface="Arial"/>
                <a:cs typeface="Arial"/>
              </a:defRPr>
            </a:defPPr>
          </a:lstStyle>
          <a:p xmlns:a="http://schemas.openxmlformats.org/drawingml/2006/main">
            <a:pPr algn="ctr">
              <a:buNone/>
              <a:defRPr sz="1725" b="0">
                <a:solidFill>
                  <a:srgbClr val="A76807"/>
                </a:solidFill>
                <a:latin typeface="Arial"/>
                <a:ea typeface="Arial"/>
                <a:cs typeface="Arial"/>
              </a:defRPr>
            </a:pPr>
            <a:r>
              <a:rPr sz="1725" b="0">
                <a:solidFill>
                  <a:srgbClr val="A76807"/>
                </a:solidFill>
                <a:latin typeface="Arial"/>
                <a:ea typeface="Arial"/>
                <a:cs typeface="Arial"/>
              </a:rPr>
              <a:t>S_next</a:t>
            </a:r>
          </a:p>
        </p:txBody>
      </p:sp>
      <p:sp>
        <p:nvSpPr>
          <p:cNvPr id="27" name="scale_q-150">
            <a:extLst xmlns:a="http://schemas.openxmlformats.org/drawingml/2006/main">
              <a:ext uri="{FF2B5EF4-FFF2-40B4-BE49-F238E27FC236}">
                <a16:creationId xmlns:a16="http://schemas.microsoft.com/office/drawing/2014/main" id="{82AFA7E9-1404-449A-ACCE-33BC72994821}"/>
              </a:ext>
            </a:extLst>
          </p:cNvPr>
          <p:cNvSpPr>
            <a:spLocks xmlns:a="http://schemas.openxmlformats.org/drawingml/2006/main" noGrp="1"/>
          </p:cNvSpPr>
          <p:nvPr/>
        </p:nvSpPr>
        <p:spPr>
          <a:xfrm xmlns:a="http://schemas.openxmlformats.org/drawingml/2006/main">
            <a:off x="5372100" y="3295650"/>
            <a:ext cx="1685925" cy="1066800"/>
          </a:xfrm>
          <a:prstGeom xmlns:a="http://schemas.openxmlformats.org/drawingml/2006/main" prst="rect">
            <a:avLst/>
          </a:prstGeom>
          <a:solidFill xmlns:a="http://schemas.openxmlformats.org/drawingml/2006/main">
            <a:srgbClr val="EAF1FA"/>
          </a:solidFill>
          <a:ln xmlns:a="http://schemas.openxmlformats.org/drawingml/2006/main" w="19050">
            <a:solidFill>
              <a:srgbClr val="244B83"/>
            </a:solidFill>
          </a:ln>
        </p:spPr>
      </p:sp>
      <p:sp>
        <p:nvSpPr>
          <p:cNvPr id="28" name="clock-151">
            <a:extLst xmlns:a="http://schemas.openxmlformats.org/drawingml/2006/main">
              <a:ext uri="{FF2B5EF4-FFF2-40B4-BE49-F238E27FC236}">
                <a16:creationId xmlns:a16="http://schemas.microsoft.com/office/drawing/2014/main" id="{0DFFB4F8-6556-4D1F-BF5F-104FF3C08E1C}"/>
              </a:ext>
            </a:extLst>
          </p:cNvPr>
          <p:cNvSpPr>
            <a:spLocks xmlns:a="http://schemas.openxmlformats.org/drawingml/2006/main" noGrp="1"/>
          </p:cNvSpPr>
          <p:nvPr/>
        </p:nvSpPr>
        <p:spPr>
          <a:xfrm xmlns:a="http://schemas.openxmlformats.org/drawingml/2006/main">
            <a:off x="5372100" y="4143375"/>
            <a:ext cx="95250" cy="133350"/>
          </a:xfrm>
          <a:custGeom xmlns:a="http://schemas.openxmlformats.org/drawingml/2006/main">
            <a:rect l="0" t="0" r="0" b="0"/>
            <a:pathLst>
              <a:path w="95250" h="133350">
                <a:moveTo>
                  <a:pt x="0" y="0"/>
                </a:moveTo>
                <a:lnTo>
                  <a:pt x="95250" y="66675"/>
                </a:lnTo>
                <a:lnTo>
                  <a:pt x="0" y="133350"/>
                </a:lnTo>
                <a:close/>
              </a:path>
            </a:pathLst>
          </a:custGeom>
          <a:solidFill xmlns:a="http://schemas.openxmlformats.org/drawingml/2006/main">
            <a:srgbClr val="FFFFFF"/>
          </a:solidFill>
          <a:ln xmlns:a="http://schemas.openxmlformats.org/drawingml/2006/main" w="19050">
            <a:solidFill>
              <a:srgbClr val="244B83"/>
            </a:solidFill>
          </a:ln>
        </p:spPr>
      </p:sp>
      <p:sp>
        <p:nvSpPr>
          <p:cNvPr id="29" name="text-152">
            <a:extLst xmlns:a="http://schemas.openxmlformats.org/drawingml/2006/main">
              <a:ext uri="{FF2B5EF4-FFF2-40B4-BE49-F238E27FC236}">
                <a16:creationId xmlns:a16="http://schemas.microsoft.com/office/drawing/2014/main" id="{D228811C-E9AC-4D13-B68E-891033817958}"/>
              </a:ext>
            </a:extLst>
          </p:cNvPr>
          <p:cNvSpPr>
            <a:spLocks xmlns:a="http://schemas.openxmlformats.org/drawingml/2006/main" noGrp="1"/>
          </p:cNvSpPr>
          <p:nvPr/>
        </p:nvSpPr>
        <p:spPr>
          <a:xfrm xmlns:a="http://schemas.openxmlformats.org/drawingml/2006/main">
            <a:off x="5410200" y="3438525"/>
            <a:ext cx="1609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244B83"/>
                </a:solidFill>
                <a:latin typeface="Arial"/>
                <a:ea typeface="Arial"/>
                <a:cs typeface="Arial"/>
              </a:defRPr>
            </a:defPPr>
          </a:lstStyle>
          <a:p xmlns:a="http://schemas.openxmlformats.org/drawingml/2006/main">
            <a:pPr algn="ctr">
              <a:buNone/>
              <a:defRPr sz="1800" b="1">
                <a:solidFill>
                  <a:srgbClr val="244B83"/>
                </a:solidFill>
                <a:latin typeface="Arial"/>
                <a:ea typeface="Arial"/>
                <a:cs typeface="Arial"/>
              </a:defRPr>
            </a:pPr>
            <a:r>
              <a:rPr sz="1800" b="1">
                <a:solidFill>
                  <a:srgbClr val="244B83"/>
                </a:solidFill>
                <a:latin typeface="Arial"/>
                <a:ea typeface="Arial"/>
                <a:cs typeface="Arial"/>
              </a:rPr>
              <a:t>scale_q</a:t>
            </a:r>
          </a:p>
        </p:txBody>
      </p:sp>
      <p:sp>
        <p:nvSpPr>
          <p:cNvPr id="30" name="text-153">
            <a:extLst xmlns:a="http://schemas.openxmlformats.org/drawingml/2006/main">
              <a:ext uri="{FF2B5EF4-FFF2-40B4-BE49-F238E27FC236}">
                <a16:creationId xmlns:a16="http://schemas.microsoft.com/office/drawing/2014/main" id="{3E05F325-EBD9-4EEF-A579-B0D89C422DD5}"/>
              </a:ext>
            </a:extLst>
          </p:cNvPr>
          <p:cNvSpPr>
            <a:spLocks xmlns:a="http://schemas.openxmlformats.org/drawingml/2006/main" noGrp="1"/>
          </p:cNvSpPr>
          <p:nvPr/>
        </p:nvSpPr>
        <p:spPr>
          <a:xfrm xmlns:a="http://schemas.openxmlformats.org/drawingml/2006/main">
            <a:off x="5448300" y="3790950"/>
            <a:ext cx="15335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S hiện tại</a:t>
            </a:r>
          </a:p>
        </p:txBody>
      </p:sp>
      <p:sp>
        <p:nvSpPr>
          <p:cNvPr id="34" name="Dịch trái-157">
            <a:extLst xmlns:a="http://schemas.openxmlformats.org/drawingml/2006/main">
              <a:ext uri="{FF2B5EF4-FFF2-40B4-BE49-F238E27FC236}">
                <a16:creationId xmlns:a16="http://schemas.microsoft.com/office/drawing/2014/main" id="{CA7A4E30-6A2D-4447-A4AB-A59620B8970C}"/>
              </a:ext>
            </a:extLst>
          </p:cNvPr>
          <p:cNvSpPr>
            <a:spLocks xmlns:a="http://schemas.openxmlformats.org/drawingml/2006/main" noGrp="1"/>
          </p:cNvSpPr>
          <p:nvPr/>
        </p:nvSpPr>
        <p:spPr>
          <a:xfrm xmlns:a="http://schemas.openxmlformats.org/drawingml/2006/main">
            <a:off x="2419350" y="4095750"/>
            <a:ext cx="2686050" cy="1009650"/>
          </a:xfrm>
          <a:prstGeom xmlns:a="http://schemas.openxmlformats.org/drawingml/2006/main" prst="rect">
            <a:avLst/>
          </a:prstGeom>
          <a:solidFill xmlns:a="http://schemas.openxmlformats.org/drawingml/2006/main">
            <a:srgbClr val="FFF4DD"/>
          </a:solidFill>
          <a:ln xmlns:a="http://schemas.openxmlformats.org/drawingml/2006/main" w="19050">
            <a:solidFill>
              <a:srgbClr val="A76807"/>
            </a:solidFill>
          </a:ln>
        </p:spPr>
      </p:sp>
      <p:sp>
        <p:nvSpPr>
          <p:cNvPr id="35" name="text-158">
            <a:extLst xmlns:a="http://schemas.openxmlformats.org/drawingml/2006/main">
              <a:ext uri="{FF2B5EF4-FFF2-40B4-BE49-F238E27FC236}">
                <a16:creationId xmlns:a16="http://schemas.microsoft.com/office/drawing/2014/main" id="{A30A9632-1570-45EF-96EF-DB7E958A3D7B}"/>
              </a:ext>
            </a:extLst>
          </p:cNvPr>
          <p:cNvSpPr>
            <a:spLocks xmlns:a="http://schemas.openxmlformats.org/drawingml/2006/main" noGrp="1"/>
          </p:cNvSpPr>
          <p:nvPr/>
        </p:nvSpPr>
        <p:spPr>
          <a:xfrm xmlns:a="http://schemas.openxmlformats.org/drawingml/2006/main">
            <a:off x="2514600" y="4219575"/>
            <a:ext cx="2495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A76807"/>
                </a:solidFill>
                <a:latin typeface="Arial"/>
                <a:ea typeface="Arial"/>
                <a:cs typeface="Arial"/>
              </a:defRPr>
            </a:defPPr>
          </a:lstStyle>
          <a:p xmlns:a="http://schemas.openxmlformats.org/drawingml/2006/main">
            <a:pPr algn="ctr">
              <a:buNone/>
              <a:defRPr sz="1950" b="1">
                <a:solidFill>
                  <a:srgbClr val="A76807"/>
                </a:solidFill>
                <a:latin typeface="Arial"/>
                <a:ea typeface="Arial"/>
                <a:cs typeface="Arial"/>
              </a:defRPr>
            </a:pPr>
            <a:r>
              <a:rPr sz="1950" b="1">
                <a:solidFill>
                  <a:srgbClr val="A76807"/>
                </a:solidFill>
                <a:latin typeface="Arial"/>
                <a:ea typeface="Arial"/>
                <a:cs typeface="Arial"/>
              </a:rPr>
              <a:t>Dịch trái</a:t>
            </a:r>
          </a:p>
        </p:txBody>
      </p:sp>
      <p:sp>
        <p:nvSpPr>
          <p:cNvPr id="36" name="text-159">
            <a:extLst xmlns:a="http://schemas.openxmlformats.org/drawingml/2006/main">
              <a:ext uri="{FF2B5EF4-FFF2-40B4-BE49-F238E27FC236}">
                <a16:creationId xmlns:a16="http://schemas.microsoft.com/office/drawing/2014/main" id="{FA9AAD27-AA1B-4145-93C0-3A60767F4D9D}"/>
              </a:ext>
            </a:extLst>
          </p:cNvPr>
          <p:cNvSpPr>
            <a:spLocks xmlns:a="http://schemas.openxmlformats.org/drawingml/2006/main" noGrp="1"/>
          </p:cNvSpPr>
          <p:nvPr/>
        </p:nvSpPr>
        <p:spPr>
          <a:xfrm xmlns:a="http://schemas.openxmlformats.org/drawingml/2006/main">
            <a:off x="2514600" y="4591050"/>
            <a:ext cx="2495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fx_next = fx &lt;&lt; sa</a:t>
            </a:r>
          </a:p>
        </p:txBody>
      </p:sp>
      <p:sp>
        <p:nvSpPr>
          <p:cNvPr id="47" name="text-170">
            <a:extLst xmlns:a="http://schemas.openxmlformats.org/drawingml/2006/main">
              <a:ext uri="{FF2B5EF4-FFF2-40B4-BE49-F238E27FC236}">
                <a16:creationId xmlns:a16="http://schemas.microsoft.com/office/drawing/2014/main" id="{1BF1D76A-5E24-4D82-90D3-8C1084180206}"/>
              </a:ext>
            </a:extLst>
          </p:cNvPr>
          <p:cNvSpPr>
            <a:spLocks xmlns:a="http://schemas.openxmlformats.org/drawingml/2006/main" noGrp="1"/>
          </p:cNvSpPr>
          <p:nvPr/>
        </p:nvSpPr>
        <p:spPr>
          <a:xfrm xmlns:a="http://schemas.openxmlformats.org/drawingml/2006/main">
            <a:off x="2171700" y="5514975"/>
            <a:ext cx="417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A76807"/>
                </a:solidFill>
                <a:latin typeface="Arial"/>
                <a:ea typeface="Arial"/>
                <a:cs typeface="Arial"/>
              </a:defRPr>
            </a:defPPr>
          </a:lstStyle>
          <a:p xmlns:a="http://schemas.openxmlformats.org/drawingml/2006/main">
            <a:pPr algn="ctr">
              <a:buNone/>
              <a:defRPr sz="1725" b="0">
                <a:solidFill>
                  <a:srgbClr val="A76807"/>
                </a:solidFill>
                <a:latin typeface="Arial"/>
                <a:ea typeface="Arial"/>
                <a:cs typeface="Arial"/>
              </a:defRPr>
            </a:pPr>
            <a:r>
              <a:rPr sz="1725" b="0">
                <a:solidFill>
                  <a:srgbClr val="A76807"/>
                </a:solidFill>
                <a:latin typeface="Arial"/>
                <a:ea typeface="Arial"/>
                <a:cs typeface="Arial"/>
              </a:rPr>
              <a:t>fx_next cập nhật ở cạnh clock</a:t>
            </a:r>
          </a:p>
        </p:txBody>
      </p:sp>
      <p:sp>
        <p:nvSpPr>
          <p:cNvPr id="50" name="text-173">
            <a:extLst xmlns:a="http://schemas.openxmlformats.org/drawingml/2006/main">
              <a:ext uri="{FF2B5EF4-FFF2-40B4-BE49-F238E27FC236}">
                <a16:creationId xmlns:a16="http://schemas.microsoft.com/office/drawing/2014/main" id="{FFC9DDEC-F934-4730-9723-50A773BB15DA}"/>
              </a:ext>
            </a:extLst>
          </p:cNvPr>
          <p:cNvSpPr>
            <a:spLocks xmlns:a="http://schemas.openxmlformats.org/drawingml/2006/main" noGrp="1"/>
          </p:cNvSpPr>
          <p:nvPr/>
        </p:nvSpPr>
        <p:spPr>
          <a:xfrm xmlns:a="http://schemas.openxmlformats.org/drawingml/2006/main">
            <a:off x="7115175" y="36671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A76807"/>
                </a:solidFill>
                <a:latin typeface="Arial"/>
                <a:ea typeface="Arial"/>
                <a:cs typeface="Arial"/>
              </a:defRPr>
            </a:defPPr>
          </a:lstStyle>
          <a:p xmlns:a="http://schemas.openxmlformats.org/drawingml/2006/main">
            <a:pPr algn="ctr">
              <a:buNone/>
              <a:defRPr sz="1725" b="0">
                <a:solidFill>
                  <a:srgbClr val="A76807"/>
                </a:solidFill>
                <a:latin typeface="Arial"/>
                <a:ea typeface="Arial"/>
                <a:cs typeface="Arial"/>
              </a:defRPr>
            </a:pPr>
            <a:r>
              <a:rPr sz="1725" b="0">
                <a:solidFill>
                  <a:srgbClr val="A76807"/>
                </a:solidFill>
                <a:latin typeface="Arial"/>
                <a:ea typeface="Arial"/>
                <a:cs typeface="Arial"/>
              </a:rPr>
              <a:t>S_next</a:t>
            </a:r>
          </a:p>
        </p:txBody>
      </p:sp>
      <p:sp>
        <p:nvSpPr>
          <p:cNvPr id="51" name="Kiểm tra-174">
            <a:extLst xmlns:a="http://schemas.openxmlformats.org/drawingml/2006/main">
              <a:ext uri="{FF2B5EF4-FFF2-40B4-BE49-F238E27FC236}">
                <a16:creationId xmlns:a16="http://schemas.microsoft.com/office/drawing/2014/main" id="{F1C09432-C1B5-4C3D-92BF-FAD9D378C589}"/>
              </a:ext>
            </a:extLst>
          </p:cNvPr>
          <p:cNvSpPr>
            <a:spLocks xmlns:a="http://schemas.openxmlformats.org/drawingml/2006/main" noGrp="1"/>
          </p:cNvSpPr>
          <p:nvPr/>
        </p:nvSpPr>
        <p:spPr>
          <a:xfrm xmlns:a="http://schemas.openxmlformats.org/drawingml/2006/main">
            <a:off x="9877425" y="2209800"/>
            <a:ext cx="1857375" cy="1314450"/>
          </a:xfrm>
          <a:prstGeom xmlns:a="http://schemas.openxmlformats.org/drawingml/2006/main" prst="rect">
            <a:avLst/>
          </a:prstGeom>
          <a:solidFill xmlns:a="http://schemas.openxmlformats.org/drawingml/2006/main">
            <a:srgbClr val="EEF2F7"/>
          </a:solidFill>
          <a:ln xmlns:a="http://schemas.openxmlformats.org/drawingml/2006/main" w="19050">
            <a:solidFill>
              <a:srgbClr val="425672"/>
            </a:solidFill>
          </a:ln>
        </p:spPr>
      </p:sp>
      <p:sp>
        <p:nvSpPr>
          <p:cNvPr id="52" name="text-175">
            <a:extLst xmlns:a="http://schemas.openxmlformats.org/drawingml/2006/main">
              <a:ext uri="{FF2B5EF4-FFF2-40B4-BE49-F238E27FC236}">
                <a16:creationId xmlns:a16="http://schemas.microsoft.com/office/drawing/2014/main" id="{331D47C4-5DC0-49BF-8BD8-7396D2E6723C}"/>
              </a:ext>
            </a:extLst>
          </p:cNvPr>
          <p:cNvSpPr>
            <a:spLocks xmlns:a="http://schemas.openxmlformats.org/drawingml/2006/main" noGrp="1"/>
          </p:cNvSpPr>
          <p:nvPr/>
        </p:nvSpPr>
        <p:spPr>
          <a:xfrm xmlns:a="http://schemas.openxmlformats.org/drawingml/2006/main">
            <a:off x="9972675" y="2333625"/>
            <a:ext cx="1666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425672"/>
                </a:solidFill>
                <a:latin typeface="Arial"/>
                <a:ea typeface="Arial"/>
                <a:cs typeface="Arial"/>
              </a:defRPr>
            </a:defPPr>
          </a:lstStyle>
          <a:p xmlns:a="http://schemas.openxmlformats.org/drawingml/2006/main">
            <a:pPr algn="ctr">
              <a:buNone/>
              <a:defRPr sz="1950" b="1">
                <a:solidFill>
                  <a:srgbClr val="425672"/>
                </a:solidFill>
                <a:latin typeface="Arial"/>
                <a:ea typeface="Arial"/>
                <a:cs typeface="Arial"/>
              </a:defRPr>
            </a:pPr>
            <a:r>
              <a:rPr sz="1950" b="1">
                <a:solidFill>
                  <a:srgbClr val="425672"/>
                </a:solidFill>
                <a:latin typeface="Arial"/>
                <a:ea typeface="Arial"/>
                <a:cs typeface="Arial"/>
              </a:rPr>
              <a:t>Kiểm tra</a:t>
            </a:r>
          </a:p>
        </p:txBody>
      </p:sp>
      <p:sp>
        <p:nvSpPr>
          <p:cNvPr id="53" name="text-176">
            <a:extLst xmlns:a="http://schemas.openxmlformats.org/drawingml/2006/main">
              <a:ext uri="{FF2B5EF4-FFF2-40B4-BE49-F238E27FC236}">
                <a16:creationId xmlns:a16="http://schemas.microsoft.com/office/drawing/2014/main" id="{7962F7D3-1CB6-4C3D-993F-956527771091}"/>
              </a:ext>
            </a:extLst>
          </p:cNvPr>
          <p:cNvSpPr>
            <a:spLocks xmlns:a="http://schemas.openxmlformats.org/drawingml/2006/main" noGrp="1"/>
          </p:cNvSpPr>
          <p:nvPr/>
        </p:nvSpPr>
        <p:spPr>
          <a:xfrm xmlns:a="http://schemas.openxmlformats.org/drawingml/2006/main">
            <a:off x="9972675" y="2705100"/>
            <a:ext cx="1666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S_next ≤ W</a:t>
            </a:r>
          </a:p>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fx_next == 0</a:t>
            </a:r>
          </a:p>
        </p:txBody>
      </p:sp>
      <p:sp>
        <p:nvSpPr>
          <p:cNvPr id="61" name="text-184">
            <a:extLst xmlns:a="http://schemas.openxmlformats.org/drawingml/2006/main">
              <a:ext uri="{FF2B5EF4-FFF2-40B4-BE49-F238E27FC236}">
                <a16:creationId xmlns:a16="http://schemas.microsoft.com/office/drawing/2014/main" id="{7E0E8705-B173-4A4D-BEBC-D44B2C1D9EE5}"/>
              </a:ext>
            </a:extLst>
          </p:cNvPr>
          <p:cNvSpPr>
            <a:spLocks xmlns:a="http://schemas.openxmlformats.org/drawingml/2006/main" noGrp="1"/>
          </p:cNvSpPr>
          <p:nvPr/>
        </p:nvSpPr>
        <p:spPr>
          <a:xfrm xmlns:a="http://schemas.openxmlformats.org/drawingml/2006/main">
            <a:off x="457200" y="6086475"/>
            <a:ext cx="952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172B4D"/>
                </a:solidFill>
                <a:latin typeface="Arial"/>
                <a:ea typeface="Arial"/>
                <a:cs typeface="Arial"/>
              </a:defRPr>
            </a:defPPr>
          </a:lstStyle>
          <a:p xmlns:a="http://schemas.openxmlformats.org/drawingml/2006/main">
            <a:pPr algn="l">
              <a:buNone/>
              <a:defRPr sz="1950" b="1">
                <a:solidFill>
                  <a:srgbClr val="172B4D"/>
                </a:solidFill>
                <a:latin typeface="Arial"/>
                <a:ea typeface="Arial"/>
                <a:cs typeface="Arial"/>
              </a:defRPr>
            </a:pPr>
            <a:r>
              <a:rPr sz="1950" b="1">
                <a:solidFill>
                  <a:srgbClr val="172B4D"/>
                </a:solidFill>
                <a:latin typeface="Arial"/>
                <a:ea typeface="Arial"/>
                <a:cs typeface="Arial"/>
              </a:rPr>
              <a:t>sa = K + 1       S_next = S + sa</a:t>
            </a:r>
          </a:p>
        </p:txBody>
      </p:sp>
    </p:spTree>
    <p:extLst>
      <p:ext uri="{BB962C8B-B14F-4D97-AF65-F5344CB8AC3E}">
        <p14:creationId xmlns:p14="http://schemas.microsoft.com/office/powerpoint/2010/main" val="21377894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7" name="wire-221">
            <a:extLst xmlns:a="http://schemas.openxmlformats.org/drawingml/2006/main">
              <a:ext uri="{FF2B5EF4-FFF2-40B4-BE49-F238E27FC236}">
                <a16:creationId xmlns:a16="http://schemas.microsoft.com/office/drawing/2014/main" id="{F78F205E-F69E-4F1C-AA9B-8D7B1306E342}"/>
              </a:ext>
            </a:extLst>
          </p:cNvPr>
          <p:cNvCxnSpPr/>
          <p:nvPr/>
        </p:nvCxnSpPr>
        <p:spPr>
          <a:xfrm xmlns:a="http://schemas.openxmlformats.org/drawingml/2006/main" flipV="1">
            <a:off x="11001375" y="3714750"/>
            <a:ext cx="0" cy="942975"/>
          </a:xfrm>
          <a:prstGeom xmlns:a="http://schemas.openxmlformats.org/drawingml/2006/main" prst="straightConnector1">
            <a:avLst/>
          </a:prstGeom>
          <a:ln xmlns:a="http://schemas.openxmlformats.org/drawingml/2006/main" w="23813">
            <a:solidFill>
              <a:srgbClr val="B44A3A"/>
            </a:solidFill>
            <a:prstDash val="solid"/>
            <a:tailEnd type="triangle" w="sm" len="sm"/>
          </a:ln>
        </p:spPr>
      </p:cxnSp>
      <p:cxnSp>
        <p:nvCxnSpPr>
          <p:cNvPr id="36" name="wire-220">
            <a:extLst xmlns:a="http://schemas.openxmlformats.org/drawingml/2006/main">
              <a:ext uri="{FF2B5EF4-FFF2-40B4-BE49-F238E27FC236}">
                <a16:creationId xmlns:a16="http://schemas.microsoft.com/office/drawing/2014/main" id="{7F996D9F-42F5-4A6A-A71B-247B726F1E72}"/>
              </a:ext>
            </a:extLst>
          </p:cNvPr>
          <p:cNvCxnSpPr/>
          <p:nvPr/>
        </p:nvCxnSpPr>
        <p:spPr>
          <a:xfrm xmlns:a="http://schemas.openxmlformats.org/drawingml/2006/main">
            <a:off x="8915400" y="4657725"/>
            <a:ext cx="2085975" cy="0"/>
          </a:xfrm>
          <a:prstGeom xmlns:a="http://schemas.openxmlformats.org/drawingml/2006/main" prst="straightConnector1">
            <a:avLst/>
          </a:prstGeom>
          <a:ln xmlns:a="http://schemas.openxmlformats.org/drawingml/2006/main" w="23813">
            <a:solidFill>
              <a:srgbClr val="B44A3A"/>
            </a:solidFill>
            <a:prstDash val="solid"/>
            <a:tailEnd type="none" w="sm" len="sm"/>
          </a:ln>
        </p:spPr>
      </p:cxnSp>
      <p:cxnSp>
        <p:nvCxnSpPr>
          <p:cNvPr id="35" name="wire-219">
            <a:extLst xmlns:a="http://schemas.openxmlformats.org/drawingml/2006/main">
              <a:ext uri="{FF2B5EF4-FFF2-40B4-BE49-F238E27FC236}">
                <a16:creationId xmlns:a16="http://schemas.microsoft.com/office/drawing/2014/main" id="{7C10DFD5-8120-471E-9D1F-832CE51A343A}"/>
              </a:ext>
            </a:extLst>
          </p:cNvPr>
          <p:cNvCxnSpPr/>
          <p:nvPr/>
        </p:nvCxnSpPr>
        <p:spPr>
          <a:xfrm xmlns:a="http://schemas.openxmlformats.org/drawingml/2006/main">
            <a:off x="6162675" y="4657725"/>
            <a:ext cx="285750" cy="0"/>
          </a:xfrm>
          <a:prstGeom xmlns:a="http://schemas.openxmlformats.org/drawingml/2006/main" prst="straightConnector1">
            <a:avLst/>
          </a:prstGeom>
          <a:ln xmlns:a="http://schemas.openxmlformats.org/drawingml/2006/main" w="23813">
            <a:solidFill>
              <a:srgbClr val="B44A3A"/>
            </a:solidFill>
            <a:prstDash val="solid"/>
            <a:tailEnd type="triangle" w="sm" len="sm"/>
          </a:ln>
        </p:spPr>
      </p:cxnSp>
      <p:cxnSp>
        <p:nvCxnSpPr>
          <p:cNvPr id="34" name="wire-218">
            <a:extLst xmlns:a="http://schemas.openxmlformats.org/drawingml/2006/main">
              <a:ext uri="{FF2B5EF4-FFF2-40B4-BE49-F238E27FC236}">
                <a16:creationId xmlns:a16="http://schemas.microsoft.com/office/drawing/2014/main" id="{8BB25EB6-C049-41A5-9C7B-68E4A4D9D306}"/>
              </a:ext>
            </a:extLst>
          </p:cNvPr>
          <p:cNvCxnSpPr/>
          <p:nvPr/>
        </p:nvCxnSpPr>
        <p:spPr>
          <a:xfrm xmlns:a="http://schemas.openxmlformats.org/drawingml/2006/main">
            <a:off x="6162675" y="3743325"/>
            <a:ext cx="0" cy="914400"/>
          </a:xfrm>
          <a:prstGeom xmlns:a="http://schemas.openxmlformats.org/drawingml/2006/main" prst="straightConnector1">
            <a:avLst/>
          </a:prstGeom>
          <a:ln xmlns:a="http://schemas.openxmlformats.org/drawingml/2006/main" w="23813">
            <a:solidFill>
              <a:srgbClr val="B44A3A"/>
            </a:solidFill>
            <a:prstDash val="solid"/>
            <a:tailEnd type="none" w="sm" len="sm"/>
          </a:ln>
        </p:spPr>
      </p:cxnSp>
      <p:cxnSp>
        <p:nvCxnSpPr>
          <p:cNvPr id="29" name="wire-213">
            <a:extLst xmlns:a="http://schemas.openxmlformats.org/drawingml/2006/main">
              <a:ext uri="{FF2B5EF4-FFF2-40B4-BE49-F238E27FC236}">
                <a16:creationId xmlns:a16="http://schemas.microsoft.com/office/drawing/2014/main" id="{D8AD4094-4F03-4B2C-B8F8-2473AD863AD9}"/>
              </a:ext>
            </a:extLst>
          </p:cNvPr>
          <p:cNvCxnSpPr/>
          <p:nvPr/>
        </p:nvCxnSpPr>
        <p:spPr>
          <a:xfrm xmlns:a="http://schemas.openxmlformats.org/drawingml/2006/main">
            <a:off x="3314700" y="5334000"/>
            <a:ext cx="8420100" cy="0"/>
          </a:xfrm>
          <a:prstGeom xmlns:a="http://schemas.openxmlformats.org/drawingml/2006/main" prst="straightConnector1">
            <a:avLst/>
          </a:prstGeom>
          <a:ln xmlns:a="http://schemas.openxmlformats.org/drawingml/2006/main" w="23813">
            <a:solidFill>
              <a:srgbClr val="6943B9"/>
            </a:solidFill>
            <a:prstDash val="solid"/>
            <a:tailEnd type="triangle" w="sm" len="sm"/>
          </a:ln>
        </p:spPr>
      </p:cxnSp>
      <p:cxnSp>
        <p:nvCxnSpPr>
          <p:cNvPr id="28" name="wire-212">
            <a:extLst xmlns:a="http://schemas.openxmlformats.org/drawingml/2006/main">
              <a:ext uri="{FF2B5EF4-FFF2-40B4-BE49-F238E27FC236}">
                <a16:creationId xmlns:a16="http://schemas.microsoft.com/office/drawing/2014/main" id="{6A5338D1-C6D4-4EA9-966A-7F30BF2B3B0C}"/>
              </a:ext>
            </a:extLst>
          </p:cNvPr>
          <p:cNvCxnSpPr/>
          <p:nvPr/>
        </p:nvCxnSpPr>
        <p:spPr>
          <a:xfrm xmlns:a="http://schemas.openxmlformats.org/drawingml/2006/main">
            <a:off x="3314700" y="3743325"/>
            <a:ext cx="0" cy="1590675"/>
          </a:xfrm>
          <a:prstGeom xmlns:a="http://schemas.openxmlformats.org/drawingml/2006/main" prst="straightConnector1">
            <a:avLst/>
          </a:prstGeom>
          <a:ln xmlns:a="http://schemas.openxmlformats.org/drawingml/2006/main" w="23813">
            <a:solidFill>
              <a:srgbClr val="6943B9"/>
            </a:solidFill>
            <a:prstDash val="solid"/>
            <a:tailEnd type="none" w="sm" len="sm"/>
          </a:ln>
        </p:spPr>
      </p:cxnSp>
      <p:cxnSp>
        <p:nvCxnSpPr>
          <p:cNvPr id="26" name="wire-210">
            <a:extLst xmlns:a="http://schemas.openxmlformats.org/drawingml/2006/main">
              <a:ext uri="{FF2B5EF4-FFF2-40B4-BE49-F238E27FC236}">
                <a16:creationId xmlns:a16="http://schemas.microsoft.com/office/drawing/2014/main" id="{83FC75A6-8F8E-40E6-B08E-0BCB367E5F5C}"/>
              </a:ext>
            </a:extLst>
          </p:cNvPr>
          <p:cNvCxnSpPr/>
          <p:nvPr/>
        </p:nvCxnSpPr>
        <p:spPr>
          <a:xfrm xmlns:a="http://schemas.openxmlformats.org/drawingml/2006/main">
            <a:off x="6029325" y="1847850"/>
            <a:ext cx="0" cy="657225"/>
          </a:xfrm>
          <a:prstGeom xmlns:a="http://schemas.openxmlformats.org/drawingml/2006/main" prst="straightConnector1">
            <a:avLst/>
          </a:prstGeom>
          <a:ln xmlns:a="http://schemas.openxmlformats.org/drawingml/2006/main" w="23813">
            <a:solidFill>
              <a:srgbClr val="A76807"/>
            </a:solidFill>
            <a:prstDash val="solid"/>
            <a:tailEnd type="triangle" w="sm" len="sm"/>
          </a:ln>
        </p:spPr>
      </p:cxnSp>
      <p:cxnSp>
        <p:nvCxnSpPr>
          <p:cNvPr id="25" name="wire-209">
            <a:extLst xmlns:a="http://schemas.openxmlformats.org/drawingml/2006/main">
              <a:ext uri="{FF2B5EF4-FFF2-40B4-BE49-F238E27FC236}">
                <a16:creationId xmlns:a16="http://schemas.microsoft.com/office/drawing/2014/main" id="{64F223F9-E60F-444C-9CE8-C849F0392191}"/>
              </a:ext>
            </a:extLst>
          </p:cNvPr>
          <p:cNvCxnSpPr/>
          <p:nvPr/>
        </p:nvCxnSpPr>
        <p:spPr>
          <a:xfrm xmlns:a="http://schemas.openxmlformats.org/drawingml/2006/main">
            <a:off x="9801225" y="3143250"/>
            <a:ext cx="466725" cy="0"/>
          </a:xfrm>
          <a:prstGeom xmlns:a="http://schemas.openxmlformats.org/drawingml/2006/main" prst="straightConnector1">
            <a:avLst/>
          </a:prstGeom>
          <a:ln xmlns:a="http://schemas.openxmlformats.org/drawingml/2006/main" w="23813">
            <a:solidFill>
              <a:srgbClr val="6943B9"/>
            </a:solidFill>
            <a:prstDash val="solid"/>
            <a:tailEnd type="triangle" w="sm" len="sm"/>
          </a:ln>
        </p:spPr>
      </p:cxnSp>
      <p:cxnSp>
        <p:nvCxnSpPr>
          <p:cNvPr id="24" name="wire-208">
            <a:extLst xmlns:a="http://schemas.openxmlformats.org/drawingml/2006/main">
              <a:ext uri="{FF2B5EF4-FFF2-40B4-BE49-F238E27FC236}">
                <a16:creationId xmlns:a16="http://schemas.microsoft.com/office/drawing/2014/main" id="{A913CD67-D7FA-4955-AC7A-A5EF35546D93}"/>
              </a:ext>
            </a:extLst>
          </p:cNvPr>
          <p:cNvCxnSpPr/>
          <p:nvPr/>
        </p:nvCxnSpPr>
        <p:spPr>
          <a:xfrm xmlns:a="http://schemas.openxmlformats.org/drawingml/2006/main">
            <a:off x="7191375" y="3143250"/>
            <a:ext cx="476250" cy="0"/>
          </a:xfrm>
          <a:prstGeom xmlns:a="http://schemas.openxmlformats.org/drawingml/2006/main" prst="straightConnector1">
            <a:avLst/>
          </a:prstGeom>
          <a:ln xmlns:a="http://schemas.openxmlformats.org/drawingml/2006/main" w="23813">
            <a:solidFill>
              <a:srgbClr val="6943B9"/>
            </a:solidFill>
            <a:prstDash val="solid"/>
            <a:tailEnd type="triangle" w="sm" len="sm"/>
          </a:ln>
        </p:spPr>
      </p:cxnSp>
      <p:cxnSp>
        <p:nvCxnSpPr>
          <p:cNvPr id="23" name="wire-207">
            <a:extLst xmlns:a="http://schemas.openxmlformats.org/drawingml/2006/main">
              <a:ext uri="{FF2B5EF4-FFF2-40B4-BE49-F238E27FC236}">
                <a16:creationId xmlns:a16="http://schemas.microsoft.com/office/drawing/2014/main" id="{611C8CF4-78F2-4607-912D-22FA2AEAA460}"/>
              </a:ext>
            </a:extLst>
          </p:cNvPr>
          <p:cNvCxnSpPr/>
          <p:nvPr/>
        </p:nvCxnSpPr>
        <p:spPr>
          <a:xfrm xmlns:a="http://schemas.openxmlformats.org/drawingml/2006/main">
            <a:off x="4400550" y="3143250"/>
            <a:ext cx="504825" cy="0"/>
          </a:xfrm>
          <a:prstGeom xmlns:a="http://schemas.openxmlformats.org/drawingml/2006/main" prst="straightConnector1">
            <a:avLst/>
          </a:prstGeom>
          <a:ln xmlns:a="http://schemas.openxmlformats.org/drawingml/2006/main" w="23813">
            <a:solidFill>
              <a:srgbClr val="6943B9"/>
            </a:solidFill>
            <a:prstDash val="solid"/>
            <a:tailEnd type="triangle" w="sm" len="sm"/>
          </a:ln>
        </p:spPr>
      </p:cxnSp>
      <p:cxnSp>
        <p:nvCxnSpPr>
          <p:cNvPr id="22" name="wire-206">
            <a:extLst xmlns:a="http://schemas.openxmlformats.org/drawingml/2006/main">
              <a:ext uri="{FF2B5EF4-FFF2-40B4-BE49-F238E27FC236}">
                <a16:creationId xmlns:a16="http://schemas.microsoft.com/office/drawing/2014/main" id="{EADB7E66-BF03-42F3-8A5A-A073AE87AC5A}"/>
              </a:ext>
            </a:extLst>
          </p:cNvPr>
          <p:cNvCxnSpPr/>
          <p:nvPr/>
        </p:nvCxnSpPr>
        <p:spPr>
          <a:xfrm xmlns:a="http://schemas.openxmlformats.org/drawingml/2006/main">
            <a:off x="1733550" y="3143250"/>
            <a:ext cx="428625" cy="0"/>
          </a:xfrm>
          <a:prstGeom xmlns:a="http://schemas.openxmlformats.org/drawingml/2006/main" prst="straightConnector1">
            <a:avLst/>
          </a:prstGeom>
          <a:ln xmlns:a="http://schemas.openxmlformats.org/drawingml/2006/main" w="23813">
            <a:solidFill>
              <a:srgbClr val="6943B9"/>
            </a:solidFill>
            <a:prstDash val="solid"/>
            <a:tailEnd type="triangle" w="sm" len="sm"/>
          </a:ln>
        </p:spPr>
      </p:cxnSp>
      <p:cxnSp>
        <p:nvCxnSpPr>
          <p:cNvPr id="3" name="wire-187">
            <a:extLst xmlns:a="http://schemas.openxmlformats.org/drawingml/2006/main">
              <a:ext uri="{FF2B5EF4-FFF2-40B4-BE49-F238E27FC236}">
                <a16:creationId xmlns:a16="http://schemas.microsoft.com/office/drawing/2014/main" id="{4A745BC8-D44A-411E-9C79-8AB36A9855BC}"/>
              </a:ext>
            </a:extLst>
          </p:cNvPr>
          <p:cNvCxnSpPr/>
          <p:nvPr/>
        </p:nvCxnSpPr>
        <p:spPr>
          <a:xfrm xmlns:a="http://schemas.openxmlformats.org/drawingml/2006/main">
            <a:off x="457200" y="1476375"/>
            <a:ext cx="11277600" cy="0"/>
          </a:xfrm>
          <a:prstGeom xmlns:a="http://schemas.openxmlformats.org/drawingml/2006/main" prst="straightConnector1">
            <a:avLst/>
          </a:prstGeom>
          <a:ln xmlns:a="http://schemas.openxmlformats.org/drawingml/2006/main" w="9525">
            <a:solidFill>
              <a:srgbClr val="CCD6E2"/>
            </a:solidFill>
            <a:prstDash val="solid"/>
            <a:tailEnd type="none" w="sm" len="sm"/>
          </a:ln>
        </p:spPr>
      </p:cxnSp>
      <p:sp>
        <p:nvSpPr>
          <p:cNvPr id="40" name="text-185">
            <a:extLst xmlns:a="http://schemas.openxmlformats.org/drawingml/2006/main">
              <a:ext uri="{FF2B5EF4-FFF2-40B4-BE49-F238E27FC236}">
                <a16:creationId xmlns:a16="http://schemas.microsoft.com/office/drawing/2014/main" id="{A5AFDFF3-EFA6-4EEB-8356-5224BB1DB936}"/>
              </a:ext>
            </a:extLst>
          </p:cNvPr>
          <p:cNvSpPr>
            <a:spLocks xmlns:a="http://schemas.openxmlformats.org/drawingml/2006/main" noGrp="1"/>
          </p:cNvSpPr>
          <p:nvPr/>
        </p:nvSpPr>
        <p:spPr>
          <a:xfrm xmlns:a="http://schemas.openxmlformats.org/drawingml/2006/main">
            <a:off x="457200" y="304800"/>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2B4D"/>
                </a:solidFill>
                <a:latin typeface="Arial"/>
                <a:ea typeface="Arial"/>
                <a:cs typeface="Arial"/>
              </a:defRPr>
            </a:defPPr>
          </a:lstStyle>
          <a:p xmlns:a="http://schemas.openxmlformats.org/drawingml/2006/main">
            <a:pPr algn="l">
              <a:buNone/>
              <a:defRPr sz="3300" b="1">
                <a:solidFill>
                  <a:srgbClr val="172B4D"/>
                </a:solidFill>
                <a:latin typeface="Arial"/>
                <a:ea typeface="Arial"/>
                <a:cs typeface="Arial"/>
              </a:defRPr>
            </a:pPr>
            <a:r>
              <a:rPr sz="3300" b="1">
                <a:solidFill>
                  <a:srgbClr val="172B4D"/>
                </a:solidFill>
                <a:latin typeface="Arial"/>
                <a:ea typeface="Arial"/>
                <a:cs typeface="Arial"/>
              </a:rPr>
              <a:t>SBM Shift: tạo số hạng trên cùng lưới tích lũy</a:t>
            </a:r>
          </a:p>
        </p:txBody>
      </p:sp>
      <p:sp>
        <p:nvSpPr>
          <p:cNvPr id="2" name="text-186">
            <a:extLst xmlns:a="http://schemas.openxmlformats.org/drawingml/2006/main">
              <a:ext uri="{FF2B5EF4-FFF2-40B4-BE49-F238E27FC236}">
                <a16:creationId xmlns:a16="http://schemas.microsoft.com/office/drawing/2014/main" id="{A85DDDBE-B24B-4FB4-A8D9-0780E5B4E1F9}"/>
              </a:ext>
            </a:extLst>
          </p:cNvPr>
          <p:cNvSpPr>
            <a:spLocks xmlns:a="http://schemas.openxmlformats.org/drawingml/2006/main" noGrp="1"/>
          </p:cNvSpPr>
          <p:nvPr/>
        </p:nvSpPr>
        <p:spPr>
          <a:xfrm xmlns:a="http://schemas.openxmlformats.org/drawingml/2006/main">
            <a:off x="457200" y="942975"/>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3657D"/>
                </a:solidFill>
                <a:latin typeface="Arial"/>
                <a:ea typeface="Arial"/>
                <a:cs typeface="Arial"/>
              </a:defRPr>
            </a:defPPr>
          </a:lstStyle>
          <a:p xmlns:a="http://schemas.openxmlformats.org/drawingml/2006/main">
            <a:pPr algn="l">
              <a:buNone/>
              <a:defRPr sz="1800" b="0">
                <a:solidFill>
                  <a:srgbClr val="53657D"/>
                </a:solidFill>
                <a:latin typeface="Arial"/>
                <a:ea typeface="Arial"/>
                <a:cs typeface="Arial"/>
              </a:defRPr>
            </a:pPr>
            <a:r>
              <a:rPr sz="1800" b="0">
                <a:solidFill>
                  <a:srgbClr val="53657D"/>
                </a:solidFill>
                <a:latin typeface="Arial"/>
                <a:ea typeface="Arial"/>
                <a:cs typeface="Arial"/>
              </a:rPr>
              <a:t>Profile FLOOR: cắt từng term về12 bit fraction trước khi cộng</a:t>
            </a:r>
          </a:p>
        </p:txBody>
      </p:sp>
      <p:sp>
        <p:nvSpPr>
          <p:cNvPr id="4" name="text-188">
            <a:extLst xmlns:a="http://schemas.openxmlformats.org/drawingml/2006/main">
              <a:ext uri="{FF2B5EF4-FFF2-40B4-BE49-F238E27FC236}">
                <a16:creationId xmlns:a16="http://schemas.microsoft.com/office/drawing/2014/main" id="{E17D8C97-96E5-4616-974A-AF6AF356C824}"/>
              </a:ext>
            </a:extLst>
          </p:cNvPr>
          <p:cNvSpPr>
            <a:spLocks xmlns:a="http://schemas.openxmlformats.org/drawingml/2006/main" noGrp="1"/>
          </p:cNvSpPr>
          <p:nvPr/>
        </p:nvSpPr>
        <p:spPr>
          <a:xfrm xmlns:a="http://schemas.openxmlformats.org/drawingml/2006/main">
            <a:off x="11001375" y="6429375"/>
            <a:ext cx="723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57D"/>
                </a:solidFill>
                <a:latin typeface="Arial"/>
                <a:ea typeface="Arial"/>
                <a:cs typeface="Arial"/>
              </a:defRPr>
            </a:defPPr>
          </a:lstStyle>
          <a:p xmlns:a="http://schemas.openxmlformats.org/drawingml/2006/main">
            <a:pPr algn="r">
              <a:buNone/>
              <a:defRPr sz="1350" b="0">
                <a:solidFill>
                  <a:srgbClr val="53657D"/>
                </a:solidFill>
                <a:latin typeface="Arial"/>
                <a:ea typeface="Arial"/>
                <a:cs typeface="Arial"/>
              </a:defRPr>
            </a:pPr>
            <a:r>
              <a:rPr sz="1350" b="0">
                <a:solidFill>
                  <a:srgbClr val="53657D"/>
                </a:solidFill>
                <a:latin typeface="Arial"/>
                <a:ea typeface="Arial"/>
                <a:cs typeface="Arial"/>
              </a:rPr>
              <a:t>4 / 7</a:t>
            </a:r>
          </a:p>
        </p:txBody>
      </p:sp>
      <p:sp>
        <p:nvSpPr>
          <p:cNvPr id="5" name="y_q-189">
            <a:extLst xmlns:a="http://schemas.openxmlformats.org/drawingml/2006/main">
              <a:ext uri="{FF2B5EF4-FFF2-40B4-BE49-F238E27FC236}">
                <a16:creationId xmlns:a16="http://schemas.microsoft.com/office/drawing/2014/main" id="{A0ACE4FF-13B0-4216-A758-0925E8E9CB9C}"/>
              </a:ext>
            </a:extLst>
          </p:cNvPr>
          <p:cNvSpPr>
            <a:spLocks xmlns:a="http://schemas.openxmlformats.org/drawingml/2006/main" noGrp="1"/>
          </p:cNvSpPr>
          <p:nvPr/>
        </p:nvSpPr>
        <p:spPr>
          <a:xfrm xmlns:a="http://schemas.openxmlformats.org/drawingml/2006/main">
            <a:off x="457200" y="2590800"/>
            <a:ext cx="1276350" cy="1133475"/>
          </a:xfrm>
          <a:prstGeom xmlns:a="http://schemas.openxmlformats.org/drawingml/2006/main" prst="rect">
            <a:avLst/>
          </a:prstGeom>
          <a:solidFill xmlns:a="http://schemas.openxmlformats.org/drawingml/2006/main">
            <a:srgbClr val="EAF1FA"/>
          </a:solidFill>
          <a:ln xmlns:a="http://schemas.openxmlformats.org/drawingml/2006/main" w="19050">
            <a:solidFill>
              <a:srgbClr val="244B83"/>
            </a:solidFill>
          </a:ln>
        </p:spPr>
      </p:sp>
      <p:sp>
        <p:nvSpPr>
          <p:cNvPr id="6" name="clock-190">
            <a:extLst xmlns:a="http://schemas.openxmlformats.org/drawingml/2006/main">
              <a:ext uri="{FF2B5EF4-FFF2-40B4-BE49-F238E27FC236}">
                <a16:creationId xmlns:a16="http://schemas.microsoft.com/office/drawing/2014/main" id="{54FFD882-52DA-400D-8345-32A8C513BC91}"/>
              </a:ext>
            </a:extLst>
          </p:cNvPr>
          <p:cNvSpPr>
            <a:spLocks xmlns:a="http://schemas.openxmlformats.org/drawingml/2006/main" noGrp="1"/>
          </p:cNvSpPr>
          <p:nvPr/>
        </p:nvSpPr>
        <p:spPr>
          <a:xfrm xmlns:a="http://schemas.openxmlformats.org/drawingml/2006/main">
            <a:off x="457200" y="3505200"/>
            <a:ext cx="95250" cy="133350"/>
          </a:xfrm>
          <a:custGeom xmlns:a="http://schemas.openxmlformats.org/drawingml/2006/main">
            <a:rect l="0" t="0" r="0" b="0"/>
            <a:pathLst>
              <a:path w="95250" h="133350">
                <a:moveTo>
                  <a:pt x="0" y="0"/>
                </a:moveTo>
                <a:lnTo>
                  <a:pt x="95250" y="66675"/>
                </a:lnTo>
                <a:lnTo>
                  <a:pt x="0" y="133350"/>
                </a:lnTo>
                <a:close/>
              </a:path>
            </a:pathLst>
          </a:custGeom>
          <a:solidFill xmlns:a="http://schemas.openxmlformats.org/drawingml/2006/main">
            <a:srgbClr val="FFFFFF"/>
          </a:solidFill>
          <a:ln xmlns:a="http://schemas.openxmlformats.org/drawingml/2006/main" w="19050">
            <a:solidFill>
              <a:srgbClr val="244B83"/>
            </a:solidFill>
          </a:ln>
        </p:spPr>
      </p:sp>
      <p:sp>
        <p:nvSpPr>
          <p:cNvPr id="7" name="text-191">
            <a:extLst xmlns:a="http://schemas.openxmlformats.org/drawingml/2006/main">
              <a:ext uri="{FF2B5EF4-FFF2-40B4-BE49-F238E27FC236}">
                <a16:creationId xmlns:a16="http://schemas.microsoft.com/office/drawing/2014/main" id="{9A3F3492-BF00-4A79-9493-503B71F603E2}"/>
              </a:ext>
            </a:extLst>
          </p:cNvPr>
          <p:cNvSpPr>
            <a:spLocks xmlns:a="http://schemas.openxmlformats.org/drawingml/2006/main" noGrp="1"/>
          </p:cNvSpPr>
          <p:nvPr/>
        </p:nvSpPr>
        <p:spPr>
          <a:xfrm xmlns:a="http://schemas.openxmlformats.org/drawingml/2006/main">
            <a:off x="495300" y="2733675"/>
            <a:ext cx="1200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244B83"/>
                </a:solidFill>
                <a:latin typeface="Arial"/>
                <a:ea typeface="Arial"/>
                <a:cs typeface="Arial"/>
              </a:defRPr>
            </a:defPPr>
          </a:lstStyle>
          <a:p xmlns:a="http://schemas.openxmlformats.org/drawingml/2006/main">
            <a:pPr algn="ctr">
              <a:buNone/>
              <a:defRPr sz="1800" b="1">
                <a:solidFill>
                  <a:srgbClr val="244B83"/>
                </a:solidFill>
                <a:latin typeface="Arial"/>
                <a:ea typeface="Arial"/>
                <a:cs typeface="Arial"/>
              </a:defRPr>
            </a:pPr>
            <a:r>
              <a:rPr sz="1800" b="1">
                <a:solidFill>
                  <a:srgbClr val="244B83"/>
                </a:solidFill>
                <a:latin typeface="Arial"/>
                <a:ea typeface="Arial"/>
                <a:cs typeface="Arial"/>
              </a:rPr>
              <a:t>y_q</a:t>
            </a:r>
          </a:p>
        </p:txBody>
      </p:sp>
      <p:sp>
        <p:nvSpPr>
          <p:cNvPr id="8" name="text-192">
            <a:extLst xmlns:a="http://schemas.openxmlformats.org/drawingml/2006/main">
              <a:ext uri="{FF2B5EF4-FFF2-40B4-BE49-F238E27FC236}">
                <a16:creationId xmlns:a16="http://schemas.microsoft.com/office/drawing/2014/main" id="{0A8D3E39-0581-4FD7-B87E-B5F61EF3A33F}"/>
              </a:ext>
            </a:extLst>
          </p:cNvPr>
          <p:cNvSpPr>
            <a:spLocks xmlns:a="http://schemas.openxmlformats.org/drawingml/2006/main" noGrp="1"/>
          </p:cNvSpPr>
          <p:nvPr/>
        </p:nvSpPr>
        <p:spPr>
          <a:xfrm xmlns:a="http://schemas.openxmlformats.org/drawingml/2006/main">
            <a:off x="533400" y="3086100"/>
            <a:ext cx="1123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27 bit</a:t>
            </a:r>
          </a:p>
        </p:txBody>
      </p:sp>
      <p:sp>
        <p:nvSpPr>
          <p:cNvPr id="9" name="Căn lưới-193">
            <a:extLst xmlns:a="http://schemas.openxmlformats.org/drawingml/2006/main">
              <a:ext uri="{FF2B5EF4-FFF2-40B4-BE49-F238E27FC236}">
                <a16:creationId xmlns:a16="http://schemas.microsoft.com/office/drawing/2014/main" id="{01A1747E-7520-477B-BE34-F9600E4D9BED}"/>
              </a:ext>
            </a:extLst>
          </p:cNvPr>
          <p:cNvSpPr>
            <a:spLocks xmlns:a="http://schemas.openxmlformats.org/drawingml/2006/main" noGrp="1"/>
          </p:cNvSpPr>
          <p:nvPr/>
        </p:nvSpPr>
        <p:spPr>
          <a:xfrm xmlns:a="http://schemas.openxmlformats.org/drawingml/2006/main">
            <a:off x="2162175" y="2505075"/>
            <a:ext cx="2238375" cy="1238250"/>
          </a:xfrm>
          <a:prstGeom xmlns:a="http://schemas.openxmlformats.org/drawingml/2006/main" prst="rect">
            <a:avLst/>
          </a:prstGeom>
          <a:solidFill xmlns:a="http://schemas.openxmlformats.org/drawingml/2006/main">
            <a:srgbClr val="F2ECFC"/>
          </a:solidFill>
          <a:ln xmlns:a="http://schemas.openxmlformats.org/drawingml/2006/main" w="19050">
            <a:solidFill>
              <a:srgbClr val="6943B9"/>
            </a:solidFill>
          </a:ln>
        </p:spPr>
      </p:sp>
      <p:sp>
        <p:nvSpPr>
          <p:cNvPr id="10" name="text-194">
            <a:extLst xmlns:a="http://schemas.openxmlformats.org/drawingml/2006/main">
              <a:ext uri="{FF2B5EF4-FFF2-40B4-BE49-F238E27FC236}">
                <a16:creationId xmlns:a16="http://schemas.microsoft.com/office/drawing/2014/main" id="{452A9BA3-BC03-435C-8663-5FC72DD55895}"/>
              </a:ext>
            </a:extLst>
          </p:cNvPr>
          <p:cNvSpPr>
            <a:spLocks xmlns:a="http://schemas.openxmlformats.org/drawingml/2006/main" noGrp="1"/>
          </p:cNvSpPr>
          <p:nvPr/>
        </p:nvSpPr>
        <p:spPr>
          <a:xfrm xmlns:a="http://schemas.openxmlformats.org/drawingml/2006/main">
            <a:off x="2257425" y="2628900"/>
            <a:ext cx="2047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6943B9"/>
                </a:solidFill>
                <a:latin typeface="Arial"/>
                <a:ea typeface="Arial"/>
                <a:cs typeface="Arial"/>
              </a:defRPr>
            </a:defPPr>
          </a:lstStyle>
          <a:p xmlns:a="http://schemas.openxmlformats.org/drawingml/2006/main">
            <a:pPr algn="ctr">
              <a:buNone/>
              <a:defRPr sz="1950" b="1">
                <a:solidFill>
                  <a:srgbClr val="6943B9"/>
                </a:solidFill>
                <a:latin typeface="Arial"/>
                <a:ea typeface="Arial"/>
                <a:cs typeface="Arial"/>
              </a:defRPr>
            </a:pPr>
            <a:r>
              <a:rPr sz="1950" b="1">
                <a:solidFill>
                  <a:srgbClr val="6943B9"/>
                </a:solidFill>
                <a:latin typeface="Arial"/>
                <a:ea typeface="Arial"/>
                <a:cs typeface="Arial"/>
              </a:rPr>
              <a:t>Căn lưới</a:t>
            </a:r>
          </a:p>
        </p:txBody>
      </p:sp>
      <p:sp>
        <p:nvSpPr>
          <p:cNvPr id="11" name="text-195">
            <a:extLst xmlns:a="http://schemas.openxmlformats.org/drawingml/2006/main">
              <a:ext uri="{FF2B5EF4-FFF2-40B4-BE49-F238E27FC236}">
                <a16:creationId xmlns:a16="http://schemas.microsoft.com/office/drawing/2014/main" id="{9824DC27-994B-4104-8D6C-4B3C1F7AC48C}"/>
              </a:ext>
            </a:extLst>
          </p:cNvPr>
          <p:cNvSpPr>
            <a:spLocks xmlns:a="http://schemas.openxmlformats.org/drawingml/2006/main" noGrp="1"/>
          </p:cNvSpPr>
          <p:nvPr/>
        </p:nvSpPr>
        <p:spPr>
          <a:xfrm xmlns:a="http://schemas.openxmlformats.org/drawingml/2006/main">
            <a:off x="2257425" y="3000375"/>
            <a:ext cx="2047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Approx: &lt;&lt; 2</a:t>
            </a:r>
          </a:p>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Exact: &lt;&lt; 26</a:t>
            </a:r>
          </a:p>
        </p:txBody>
      </p:sp>
      <p:sp>
        <p:nvSpPr>
          <p:cNvPr id="12" name="Dịch phải-196">
            <a:extLst xmlns:a="http://schemas.openxmlformats.org/drawingml/2006/main">
              <a:ext uri="{FF2B5EF4-FFF2-40B4-BE49-F238E27FC236}">
                <a16:creationId xmlns:a16="http://schemas.microsoft.com/office/drawing/2014/main" id="{37E94A35-6817-4FDC-A444-4108C7D6B22E}"/>
              </a:ext>
            </a:extLst>
          </p:cNvPr>
          <p:cNvSpPr>
            <a:spLocks xmlns:a="http://schemas.openxmlformats.org/drawingml/2006/main" noGrp="1"/>
          </p:cNvSpPr>
          <p:nvPr/>
        </p:nvSpPr>
        <p:spPr>
          <a:xfrm xmlns:a="http://schemas.openxmlformats.org/drawingml/2006/main">
            <a:off x="4905375" y="2505075"/>
            <a:ext cx="2286000" cy="1238250"/>
          </a:xfrm>
          <a:prstGeom xmlns:a="http://schemas.openxmlformats.org/drawingml/2006/main" prst="rect">
            <a:avLst/>
          </a:prstGeom>
          <a:solidFill xmlns:a="http://schemas.openxmlformats.org/drawingml/2006/main">
            <a:srgbClr val="F2ECFC"/>
          </a:solidFill>
          <a:ln xmlns:a="http://schemas.openxmlformats.org/drawingml/2006/main" w="19050">
            <a:solidFill>
              <a:srgbClr val="6943B9"/>
            </a:solidFill>
          </a:ln>
        </p:spPr>
      </p:sp>
      <p:sp>
        <p:nvSpPr>
          <p:cNvPr id="13" name="text-197">
            <a:extLst xmlns:a="http://schemas.openxmlformats.org/drawingml/2006/main">
              <a:ext uri="{FF2B5EF4-FFF2-40B4-BE49-F238E27FC236}">
                <a16:creationId xmlns:a16="http://schemas.microsoft.com/office/drawing/2014/main" id="{036C31EA-A18A-491A-9CFF-3D041DAB33D1}"/>
              </a:ext>
            </a:extLst>
          </p:cNvPr>
          <p:cNvSpPr>
            <a:spLocks xmlns:a="http://schemas.openxmlformats.org/drawingml/2006/main" noGrp="1"/>
          </p:cNvSpPr>
          <p:nvPr/>
        </p:nvSpPr>
        <p:spPr>
          <a:xfrm xmlns:a="http://schemas.openxmlformats.org/drawingml/2006/main">
            <a:off x="5000625" y="2628900"/>
            <a:ext cx="209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6943B9"/>
                </a:solidFill>
                <a:latin typeface="Arial"/>
                <a:ea typeface="Arial"/>
                <a:cs typeface="Arial"/>
              </a:defRPr>
            </a:defPPr>
          </a:lstStyle>
          <a:p xmlns:a="http://schemas.openxmlformats.org/drawingml/2006/main">
            <a:pPr algn="ctr">
              <a:buNone/>
              <a:defRPr sz="1950" b="1">
                <a:solidFill>
                  <a:srgbClr val="6943B9"/>
                </a:solidFill>
                <a:latin typeface="Arial"/>
                <a:ea typeface="Arial"/>
                <a:cs typeface="Arial"/>
              </a:defRPr>
            </a:pPr>
            <a:r>
              <a:rPr sz="1950" b="1">
                <a:solidFill>
                  <a:srgbClr val="6943B9"/>
                </a:solidFill>
                <a:latin typeface="Arial"/>
                <a:ea typeface="Arial"/>
                <a:cs typeface="Arial"/>
              </a:rPr>
              <a:t>Dịch phải</a:t>
            </a:r>
          </a:p>
        </p:txBody>
      </p:sp>
      <p:sp>
        <p:nvSpPr>
          <p:cNvPr id="14" name="text-198">
            <a:extLst xmlns:a="http://schemas.openxmlformats.org/drawingml/2006/main">
              <a:ext uri="{FF2B5EF4-FFF2-40B4-BE49-F238E27FC236}">
                <a16:creationId xmlns:a16="http://schemas.microsoft.com/office/drawing/2014/main" id="{65753D0C-D58B-45DE-B617-451EE0908EEE}"/>
              </a:ext>
            </a:extLst>
          </p:cNvPr>
          <p:cNvSpPr>
            <a:spLocks xmlns:a="http://schemas.openxmlformats.org/drawingml/2006/main" noGrp="1"/>
          </p:cNvSpPr>
          <p:nvPr/>
        </p:nvSpPr>
        <p:spPr>
          <a:xfrm xmlns:a="http://schemas.openxmlformats.org/drawingml/2006/main">
            <a:off x="5000625" y="3000375"/>
            <a:ext cx="2095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y_base &gt;&gt; S</a:t>
            </a:r>
          </a:p>
        </p:txBody>
      </p:sp>
      <p:sp>
        <p:nvSpPr>
          <p:cNvPr id="15" name="FLOOR-199">
            <a:extLst xmlns:a="http://schemas.openxmlformats.org/drawingml/2006/main">
              <a:ext uri="{FF2B5EF4-FFF2-40B4-BE49-F238E27FC236}">
                <a16:creationId xmlns:a16="http://schemas.microsoft.com/office/drawing/2014/main" id="{4B3BB934-D435-44A2-A2BA-BF63F3659C52}"/>
              </a:ext>
            </a:extLst>
          </p:cNvPr>
          <p:cNvSpPr>
            <a:spLocks xmlns:a="http://schemas.openxmlformats.org/drawingml/2006/main" noGrp="1"/>
          </p:cNvSpPr>
          <p:nvPr/>
        </p:nvSpPr>
        <p:spPr>
          <a:xfrm xmlns:a="http://schemas.openxmlformats.org/drawingml/2006/main">
            <a:off x="7667625" y="2505075"/>
            <a:ext cx="2133600" cy="1238250"/>
          </a:xfrm>
          <a:prstGeom xmlns:a="http://schemas.openxmlformats.org/drawingml/2006/main" prst="rect">
            <a:avLst/>
          </a:prstGeom>
          <a:solidFill xmlns:a="http://schemas.openxmlformats.org/drawingml/2006/main">
            <a:srgbClr val="F2ECFC"/>
          </a:solidFill>
          <a:ln xmlns:a="http://schemas.openxmlformats.org/drawingml/2006/main" w="19050">
            <a:solidFill>
              <a:srgbClr val="6943B9"/>
            </a:solidFill>
          </a:ln>
        </p:spPr>
      </p:sp>
      <p:sp>
        <p:nvSpPr>
          <p:cNvPr id="16" name="text-200">
            <a:extLst xmlns:a="http://schemas.openxmlformats.org/drawingml/2006/main">
              <a:ext uri="{FF2B5EF4-FFF2-40B4-BE49-F238E27FC236}">
                <a16:creationId xmlns:a16="http://schemas.microsoft.com/office/drawing/2014/main" id="{BA7ECC8B-F829-48D4-A161-F3655B9F7B68}"/>
              </a:ext>
            </a:extLst>
          </p:cNvPr>
          <p:cNvSpPr>
            <a:spLocks xmlns:a="http://schemas.openxmlformats.org/drawingml/2006/main" noGrp="1"/>
          </p:cNvSpPr>
          <p:nvPr/>
        </p:nvSpPr>
        <p:spPr>
          <a:xfrm xmlns:a="http://schemas.openxmlformats.org/drawingml/2006/main">
            <a:off x="7762875" y="2628900"/>
            <a:ext cx="1943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6943B9"/>
                </a:solidFill>
                <a:latin typeface="Arial"/>
                <a:ea typeface="Arial"/>
                <a:cs typeface="Arial"/>
              </a:defRPr>
            </a:defPPr>
          </a:lstStyle>
          <a:p xmlns:a="http://schemas.openxmlformats.org/drawingml/2006/main">
            <a:pPr algn="ctr">
              <a:buNone/>
              <a:defRPr sz="1950" b="1">
                <a:solidFill>
                  <a:srgbClr val="6943B9"/>
                </a:solidFill>
                <a:latin typeface="Arial"/>
                <a:ea typeface="Arial"/>
                <a:cs typeface="Arial"/>
              </a:defRPr>
            </a:pPr>
            <a:r>
              <a:rPr sz="1950" b="1">
                <a:solidFill>
                  <a:srgbClr val="6943B9"/>
                </a:solidFill>
                <a:latin typeface="Arial"/>
                <a:ea typeface="Arial"/>
                <a:cs typeface="Arial"/>
              </a:rPr>
              <a:t>FLOOR</a:t>
            </a:r>
          </a:p>
        </p:txBody>
      </p:sp>
      <p:sp>
        <p:nvSpPr>
          <p:cNvPr id="17" name="text-201">
            <a:extLst xmlns:a="http://schemas.openxmlformats.org/drawingml/2006/main">
              <a:ext uri="{FF2B5EF4-FFF2-40B4-BE49-F238E27FC236}">
                <a16:creationId xmlns:a16="http://schemas.microsoft.com/office/drawing/2014/main" id="{68070152-3D93-4207-AB20-8205F3891CED}"/>
              </a:ext>
            </a:extLst>
          </p:cNvPr>
          <p:cNvSpPr>
            <a:spLocks xmlns:a="http://schemas.openxmlformats.org/drawingml/2006/main" noGrp="1"/>
          </p:cNvSpPr>
          <p:nvPr/>
        </p:nvSpPr>
        <p:spPr>
          <a:xfrm xmlns:a="http://schemas.openxmlformats.org/drawingml/2006/main">
            <a:off x="7762875" y="3000375"/>
            <a:ext cx="19431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term[1:0] = 0</a:t>
            </a:r>
          </a:p>
        </p:txBody>
      </p:sp>
      <p:sp>
        <p:nvSpPr>
          <p:cNvPr id="18" name="R2-202">
            <a:extLst xmlns:a="http://schemas.openxmlformats.org/drawingml/2006/main">
              <a:ext uri="{FF2B5EF4-FFF2-40B4-BE49-F238E27FC236}">
                <a16:creationId xmlns:a16="http://schemas.microsoft.com/office/drawing/2014/main" id="{997FD504-F2D9-442B-9B80-8CC98D85D136}"/>
              </a:ext>
            </a:extLst>
          </p:cNvPr>
          <p:cNvSpPr>
            <a:spLocks xmlns:a="http://schemas.openxmlformats.org/drawingml/2006/main" noGrp="1"/>
          </p:cNvSpPr>
          <p:nvPr/>
        </p:nvSpPr>
        <p:spPr>
          <a:xfrm xmlns:a="http://schemas.openxmlformats.org/drawingml/2006/main">
            <a:off x="10267950" y="2581275"/>
            <a:ext cx="1466850" cy="1133475"/>
          </a:xfrm>
          <a:prstGeom xmlns:a="http://schemas.openxmlformats.org/drawingml/2006/main" prst="rect">
            <a:avLst/>
          </a:prstGeom>
          <a:solidFill xmlns:a="http://schemas.openxmlformats.org/drawingml/2006/main">
            <a:srgbClr val="EAF1FA"/>
          </a:solidFill>
          <a:ln xmlns:a="http://schemas.openxmlformats.org/drawingml/2006/main" w="19050">
            <a:solidFill>
              <a:srgbClr val="244B83"/>
            </a:solidFill>
          </a:ln>
        </p:spPr>
      </p:sp>
      <p:sp>
        <p:nvSpPr>
          <p:cNvPr id="19" name="clock-203">
            <a:extLst xmlns:a="http://schemas.openxmlformats.org/drawingml/2006/main">
              <a:ext uri="{FF2B5EF4-FFF2-40B4-BE49-F238E27FC236}">
                <a16:creationId xmlns:a16="http://schemas.microsoft.com/office/drawing/2014/main" id="{2F228D1D-0B2A-432E-9D92-D3E99541F7DF}"/>
              </a:ext>
            </a:extLst>
          </p:cNvPr>
          <p:cNvSpPr>
            <a:spLocks xmlns:a="http://schemas.openxmlformats.org/drawingml/2006/main" noGrp="1"/>
          </p:cNvSpPr>
          <p:nvPr/>
        </p:nvSpPr>
        <p:spPr>
          <a:xfrm xmlns:a="http://schemas.openxmlformats.org/drawingml/2006/main">
            <a:off x="10267950" y="3495675"/>
            <a:ext cx="95250" cy="133350"/>
          </a:xfrm>
          <a:custGeom xmlns:a="http://schemas.openxmlformats.org/drawingml/2006/main">
            <a:rect l="0" t="0" r="0" b="0"/>
            <a:pathLst>
              <a:path w="95250" h="133350">
                <a:moveTo>
                  <a:pt x="0" y="0"/>
                </a:moveTo>
                <a:lnTo>
                  <a:pt x="95250" y="66675"/>
                </a:lnTo>
                <a:lnTo>
                  <a:pt x="0" y="133350"/>
                </a:lnTo>
                <a:close/>
              </a:path>
            </a:pathLst>
          </a:custGeom>
          <a:solidFill xmlns:a="http://schemas.openxmlformats.org/drawingml/2006/main">
            <a:srgbClr val="FFFFFF"/>
          </a:solidFill>
          <a:ln xmlns:a="http://schemas.openxmlformats.org/drawingml/2006/main" w="19050">
            <a:solidFill>
              <a:srgbClr val="244B83"/>
            </a:solidFill>
          </a:ln>
        </p:spPr>
      </p:sp>
      <p:sp>
        <p:nvSpPr>
          <p:cNvPr id="20" name="text-204">
            <a:extLst xmlns:a="http://schemas.openxmlformats.org/drawingml/2006/main">
              <a:ext uri="{FF2B5EF4-FFF2-40B4-BE49-F238E27FC236}">
                <a16:creationId xmlns:a16="http://schemas.microsoft.com/office/drawing/2014/main" id="{07B9CD73-8723-4CCA-9126-5ABA36BF2C05}"/>
              </a:ext>
            </a:extLst>
          </p:cNvPr>
          <p:cNvSpPr>
            <a:spLocks xmlns:a="http://schemas.openxmlformats.org/drawingml/2006/main" noGrp="1"/>
          </p:cNvSpPr>
          <p:nvPr/>
        </p:nvSpPr>
        <p:spPr>
          <a:xfrm xmlns:a="http://schemas.openxmlformats.org/drawingml/2006/main">
            <a:off x="10306050" y="2724150"/>
            <a:ext cx="1390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244B83"/>
                </a:solidFill>
                <a:latin typeface="Arial"/>
                <a:ea typeface="Arial"/>
                <a:cs typeface="Arial"/>
              </a:defRPr>
            </a:defPPr>
          </a:lstStyle>
          <a:p xmlns:a="http://schemas.openxmlformats.org/drawingml/2006/main">
            <a:pPr algn="ctr">
              <a:buNone/>
              <a:defRPr sz="1800" b="1">
                <a:solidFill>
                  <a:srgbClr val="244B83"/>
                </a:solidFill>
                <a:latin typeface="Arial"/>
                <a:ea typeface="Arial"/>
                <a:cs typeface="Arial"/>
              </a:defRPr>
            </a:pPr>
            <a:r>
              <a:rPr sz="1800" b="1">
                <a:solidFill>
                  <a:srgbClr val="244B83"/>
                </a:solidFill>
                <a:latin typeface="Arial"/>
                <a:ea typeface="Arial"/>
                <a:cs typeface="Arial"/>
              </a:rPr>
              <a:t>R2</a:t>
            </a:r>
          </a:p>
        </p:txBody>
      </p:sp>
      <p:sp>
        <p:nvSpPr>
          <p:cNvPr id="21" name="text-205">
            <a:extLst xmlns:a="http://schemas.openxmlformats.org/drawingml/2006/main">
              <a:ext uri="{FF2B5EF4-FFF2-40B4-BE49-F238E27FC236}">
                <a16:creationId xmlns:a16="http://schemas.microsoft.com/office/drawing/2014/main" id="{1F9B75D3-AD5C-494C-B591-E1C572F1F228}"/>
              </a:ext>
            </a:extLst>
          </p:cNvPr>
          <p:cNvSpPr>
            <a:spLocks xmlns:a="http://schemas.openxmlformats.org/drawingml/2006/main" noGrp="1"/>
          </p:cNvSpPr>
          <p:nvPr/>
        </p:nvSpPr>
        <p:spPr>
          <a:xfrm xmlns:a="http://schemas.openxmlformats.org/drawingml/2006/main">
            <a:off x="10344150" y="3076575"/>
            <a:ext cx="1314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term / tail</a:t>
            </a:r>
          </a:p>
        </p:txBody>
      </p:sp>
      <p:sp>
        <p:nvSpPr>
          <p:cNvPr id="27" name="text-211">
            <a:extLst xmlns:a="http://schemas.openxmlformats.org/drawingml/2006/main">
              <a:ext uri="{FF2B5EF4-FFF2-40B4-BE49-F238E27FC236}">
                <a16:creationId xmlns:a16="http://schemas.microsoft.com/office/drawing/2014/main" id="{78694D76-E0EA-4E2D-9B1B-A670A8C41D7F}"/>
              </a:ext>
            </a:extLst>
          </p:cNvPr>
          <p:cNvSpPr>
            <a:spLocks xmlns:a="http://schemas.openxmlformats.org/drawingml/2006/main" noGrp="1"/>
          </p:cNvSpPr>
          <p:nvPr/>
        </p:nvSpPr>
        <p:spPr>
          <a:xfrm xmlns:a="http://schemas.openxmlformats.org/drawingml/2006/main">
            <a:off x="5257800" y="1609725"/>
            <a:ext cx="1581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A76807"/>
                </a:solidFill>
                <a:latin typeface="Arial"/>
                <a:ea typeface="Arial"/>
                <a:cs typeface="Arial"/>
              </a:defRPr>
            </a:defPPr>
          </a:lstStyle>
          <a:p xmlns:a="http://schemas.openxmlformats.org/drawingml/2006/main">
            <a:pPr algn="ctr">
              <a:buNone/>
              <a:defRPr sz="1725" b="0">
                <a:solidFill>
                  <a:srgbClr val="A76807"/>
                </a:solidFill>
                <a:latin typeface="Arial"/>
                <a:ea typeface="Arial"/>
                <a:cs typeface="Arial"/>
              </a:defRPr>
            </a:pPr>
            <a:r>
              <a:rPr sz="1725" b="0">
                <a:solidFill>
                  <a:srgbClr val="A76807"/>
                </a:solidFill>
                <a:latin typeface="Arial"/>
                <a:ea typeface="Arial"/>
                <a:cs typeface="Arial"/>
              </a:rPr>
              <a:t>S từ R1</a:t>
            </a:r>
          </a:p>
        </p:txBody>
      </p:sp>
      <p:sp>
        <p:nvSpPr>
          <p:cNvPr id="30" name="text-214">
            <a:extLst xmlns:a="http://schemas.openxmlformats.org/drawingml/2006/main">
              <a:ext uri="{FF2B5EF4-FFF2-40B4-BE49-F238E27FC236}">
                <a16:creationId xmlns:a16="http://schemas.microsoft.com/office/drawing/2014/main" id="{FB760A3B-C6DA-4C7D-A85A-7157A8509172}"/>
              </a:ext>
            </a:extLst>
          </p:cNvPr>
          <p:cNvSpPr>
            <a:spLocks xmlns:a="http://schemas.openxmlformats.org/drawingml/2006/main" noGrp="1"/>
          </p:cNvSpPr>
          <p:nvPr/>
        </p:nvSpPr>
        <p:spPr>
          <a:xfrm xmlns:a="http://schemas.openxmlformats.org/drawingml/2006/main">
            <a:off x="3333750" y="4981575"/>
            <a:ext cx="2981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6943B9"/>
                </a:solidFill>
                <a:latin typeface="Arial"/>
                <a:ea typeface="Arial"/>
                <a:cs typeface="Arial"/>
              </a:defRPr>
            </a:defPPr>
          </a:lstStyle>
          <a:p xmlns:a="http://schemas.openxmlformats.org/drawingml/2006/main">
            <a:pPr algn="ctr">
              <a:buNone/>
              <a:defRPr sz="1725" b="0">
                <a:solidFill>
                  <a:srgbClr val="6943B9"/>
                </a:solidFill>
                <a:latin typeface="Arial"/>
                <a:ea typeface="Arial"/>
                <a:cs typeface="Arial"/>
              </a:defRPr>
            </a:pPr>
            <a:r>
              <a:rPr sz="1725" b="0">
                <a:solidFill>
                  <a:srgbClr val="6943B9"/>
                </a:solidFill>
                <a:latin typeface="Arial"/>
                <a:ea typeface="Arial"/>
                <a:cs typeface="Arial"/>
              </a:rPr>
              <a:t>y_base tới accumulator</a:t>
            </a:r>
          </a:p>
        </p:txBody>
      </p:sp>
      <p:sp>
        <p:nvSpPr>
          <p:cNvPr id="31" name="OR phần bỏ-215">
            <a:extLst xmlns:a="http://schemas.openxmlformats.org/drawingml/2006/main">
              <a:ext uri="{FF2B5EF4-FFF2-40B4-BE49-F238E27FC236}">
                <a16:creationId xmlns:a16="http://schemas.microsoft.com/office/drawing/2014/main" id="{D4FF1256-7A9D-416A-A46D-DFED44C05417}"/>
              </a:ext>
            </a:extLst>
          </p:cNvPr>
          <p:cNvSpPr>
            <a:spLocks xmlns:a="http://schemas.openxmlformats.org/drawingml/2006/main" noGrp="1"/>
          </p:cNvSpPr>
          <p:nvPr/>
        </p:nvSpPr>
        <p:spPr>
          <a:xfrm xmlns:a="http://schemas.openxmlformats.org/drawingml/2006/main">
            <a:off x="6448425" y="4191000"/>
            <a:ext cx="2466975" cy="952500"/>
          </a:xfrm>
          <a:prstGeom xmlns:a="http://schemas.openxmlformats.org/drawingml/2006/main" prst="rect">
            <a:avLst/>
          </a:prstGeom>
          <a:solidFill xmlns:a="http://schemas.openxmlformats.org/drawingml/2006/main">
            <a:srgbClr val="FFF0EC"/>
          </a:solidFill>
          <a:ln xmlns:a="http://schemas.openxmlformats.org/drawingml/2006/main" w="19050">
            <a:solidFill>
              <a:srgbClr val="B44A3A"/>
            </a:solidFill>
          </a:ln>
        </p:spPr>
      </p:sp>
      <p:sp>
        <p:nvSpPr>
          <p:cNvPr id="32" name="text-216">
            <a:extLst xmlns:a="http://schemas.openxmlformats.org/drawingml/2006/main">
              <a:ext uri="{FF2B5EF4-FFF2-40B4-BE49-F238E27FC236}">
                <a16:creationId xmlns:a16="http://schemas.microsoft.com/office/drawing/2014/main" id="{D0CCED72-EAC2-4928-B403-45BD22CCA48C}"/>
              </a:ext>
            </a:extLst>
          </p:cNvPr>
          <p:cNvSpPr>
            <a:spLocks xmlns:a="http://schemas.openxmlformats.org/drawingml/2006/main" noGrp="1"/>
          </p:cNvSpPr>
          <p:nvPr/>
        </p:nvSpPr>
        <p:spPr>
          <a:xfrm xmlns:a="http://schemas.openxmlformats.org/drawingml/2006/main">
            <a:off x="6543675" y="4314825"/>
            <a:ext cx="22764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B44A3A"/>
                </a:solidFill>
                <a:latin typeface="Arial"/>
                <a:ea typeface="Arial"/>
                <a:cs typeface="Arial"/>
              </a:defRPr>
            </a:defPPr>
          </a:lstStyle>
          <a:p xmlns:a="http://schemas.openxmlformats.org/drawingml/2006/main">
            <a:pPr algn="ctr">
              <a:buNone/>
              <a:defRPr sz="1950" b="1">
                <a:solidFill>
                  <a:srgbClr val="B44A3A"/>
                </a:solidFill>
                <a:latin typeface="Arial"/>
                <a:ea typeface="Arial"/>
                <a:cs typeface="Arial"/>
              </a:defRPr>
            </a:pPr>
            <a:r>
              <a:rPr sz="1950" b="1">
                <a:solidFill>
                  <a:srgbClr val="B44A3A"/>
                </a:solidFill>
                <a:latin typeface="Arial"/>
                <a:ea typeface="Arial"/>
                <a:cs typeface="Arial"/>
              </a:rPr>
              <a:t>OR phần bỏ</a:t>
            </a:r>
          </a:p>
        </p:txBody>
      </p:sp>
      <p:sp>
        <p:nvSpPr>
          <p:cNvPr id="33" name="text-217">
            <a:extLst xmlns:a="http://schemas.openxmlformats.org/drawingml/2006/main">
              <a:ext uri="{FF2B5EF4-FFF2-40B4-BE49-F238E27FC236}">
                <a16:creationId xmlns:a16="http://schemas.microsoft.com/office/drawing/2014/main" id="{DEE48A5D-F3A3-406F-A237-851F8F42EB67}"/>
              </a:ext>
            </a:extLst>
          </p:cNvPr>
          <p:cNvSpPr>
            <a:spLocks xmlns:a="http://schemas.openxmlformats.org/drawingml/2006/main" noGrp="1"/>
          </p:cNvSpPr>
          <p:nvPr/>
        </p:nvSpPr>
        <p:spPr>
          <a:xfrm xmlns:a="http://schemas.openxmlformats.org/drawingml/2006/main">
            <a:off x="6543675" y="4686300"/>
            <a:ext cx="22764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term_tail</a:t>
            </a:r>
          </a:p>
        </p:txBody>
      </p:sp>
      <p:sp>
        <p:nvSpPr>
          <p:cNvPr id="38" name="text-222">
            <a:extLst xmlns:a="http://schemas.openxmlformats.org/drawingml/2006/main">
              <a:ext uri="{FF2B5EF4-FFF2-40B4-BE49-F238E27FC236}">
                <a16:creationId xmlns:a16="http://schemas.microsoft.com/office/drawing/2014/main" id="{1AF28F07-7B38-46C7-A7E4-CB30317D2239}"/>
              </a:ext>
            </a:extLst>
          </p:cNvPr>
          <p:cNvSpPr>
            <a:spLocks xmlns:a="http://schemas.openxmlformats.org/drawingml/2006/main" noGrp="1"/>
          </p:cNvSpPr>
          <p:nvPr/>
        </p:nvSpPr>
        <p:spPr>
          <a:xfrm xmlns:a="http://schemas.openxmlformats.org/drawingml/2006/main">
            <a:off x="457200" y="54673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3657D"/>
                </a:solidFill>
                <a:latin typeface="Arial"/>
                <a:ea typeface="Arial"/>
                <a:cs typeface="Arial"/>
              </a:defRPr>
            </a:defPPr>
          </a:lstStyle>
          <a:p xmlns:a="http://schemas.openxmlformats.org/drawingml/2006/main">
            <a:pPr algn="l">
              <a:buNone/>
              <a:defRPr sz="1800" b="0">
                <a:solidFill>
                  <a:srgbClr val="53657D"/>
                </a:solidFill>
                <a:latin typeface="Arial"/>
                <a:ea typeface="Arial"/>
                <a:cs typeface="Arial"/>
              </a:defRPr>
            </a:pPr>
            <a:r>
              <a:rPr sz="1800" b="0">
                <a:solidFill>
                  <a:srgbClr val="53657D"/>
                </a:solidFill>
                <a:latin typeface="Arial"/>
                <a:ea typeface="Arial"/>
                <a:cs typeface="Arial"/>
              </a:rPr>
              <a:t>FLOOR: term_tail đi vào metadata mất thông tin. sticky_acc vẫn bằng0.</a:t>
            </a:r>
          </a:p>
        </p:txBody>
      </p:sp>
      <p:sp>
        <p:nvSpPr>
          <p:cNvPr id="39" name="text-223">
            <a:extLst xmlns:a="http://schemas.openxmlformats.org/drawingml/2006/main">
              <a:ext uri="{FF2B5EF4-FFF2-40B4-BE49-F238E27FC236}">
                <a16:creationId xmlns:a16="http://schemas.microsoft.com/office/drawing/2014/main" id="{52AFF317-ABAF-41DD-9B1A-DEBF5D6B513F}"/>
              </a:ext>
            </a:extLst>
          </p:cNvPr>
          <p:cNvSpPr>
            <a:spLocks xmlns:a="http://schemas.openxmlformats.org/drawingml/2006/main" noGrp="1"/>
          </p:cNvSpPr>
          <p:nvPr/>
        </p:nvSpPr>
        <p:spPr>
          <a:xfrm xmlns:a="http://schemas.openxmlformats.org/drawingml/2006/main">
            <a:off x="457200" y="6057900"/>
            <a:ext cx="11115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172B4D"/>
                </a:solidFill>
                <a:latin typeface="Arial"/>
                <a:ea typeface="Arial"/>
                <a:cs typeface="Arial"/>
              </a:defRPr>
            </a:defPPr>
          </a:lstStyle>
          <a:p xmlns:a="http://schemas.openxmlformats.org/drawingml/2006/main">
            <a:pPr algn="l">
              <a:buNone/>
              <a:defRPr sz="1800" b="1">
                <a:solidFill>
                  <a:srgbClr val="172B4D"/>
                </a:solidFill>
                <a:latin typeface="Arial"/>
                <a:ea typeface="Arial"/>
                <a:cs typeface="Arial"/>
              </a:defRPr>
            </a:pPr>
            <a:r>
              <a:rPr sz="1800" b="1">
                <a:solidFill>
                  <a:srgbClr val="172B4D"/>
                </a:solidFill>
                <a:latin typeface="Arial"/>
                <a:ea typeface="Arial"/>
                <a:cs typeface="Arial"/>
              </a:rPr>
              <a:t>ACC_W vật lý = 54 bit     Payload approx = 16 bit     P_hat hữu ích = Q12 / 14 bit</a:t>
            </a:r>
          </a:p>
        </p:txBody>
      </p:sp>
    </p:spTree>
    <p:extLst>
      <p:ext uri="{BB962C8B-B14F-4D97-AF65-F5344CB8AC3E}">
        <p14:creationId xmlns:p14="http://schemas.microsoft.com/office/powerpoint/2010/main" val="144023942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9" name="wire-262">
            <a:extLst xmlns:a="http://schemas.openxmlformats.org/drawingml/2006/main">
              <a:ext uri="{FF2B5EF4-FFF2-40B4-BE49-F238E27FC236}">
                <a16:creationId xmlns:a16="http://schemas.microsoft.com/office/drawing/2014/main" id="{9CD5F82B-559A-4C9D-9DF9-4D4736DF8996}"/>
              </a:ext>
            </a:extLst>
          </p:cNvPr>
          <p:cNvCxnSpPr/>
          <p:nvPr/>
        </p:nvCxnSpPr>
        <p:spPr>
          <a:xfrm xmlns:a="http://schemas.openxmlformats.org/drawingml/2006/main">
            <a:off x="8696325" y="1685925"/>
            <a:ext cx="0" cy="457200"/>
          </a:xfrm>
          <a:prstGeom xmlns:a="http://schemas.openxmlformats.org/drawingml/2006/main" prst="straightConnector1">
            <a:avLst/>
          </a:prstGeom>
          <a:ln xmlns:a="http://schemas.openxmlformats.org/drawingml/2006/main" w="23813">
            <a:solidFill>
              <a:srgbClr val="425672"/>
            </a:solidFill>
            <a:prstDash val="dash"/>
            <a:tailEnd type="triangle" w="sm" len="sm"/>
          </a:ln>
        </p:spPr>
      </p:cxnSp>
      <p:cxnSp>
        <p:nvCxnSpPr>
          <p:cNvPr id="37" name="wire-260">
            <a:extLst xmlns:a="http://schemas.openxmlformats.org/drawingml/2006/main">
              <a:ext uri="{FF2B5EF4-FFF2-40B4-BE49-F238E27FC236}">
                <a16:creationId xmlns:a16="http://schemas.microsoft.com/office/drawing/2014/main" id="{D8A566B3-4433-47FE-90EB-9A0CAECA1FAB}"/>
              </a:ext>
            </a:extLst>
          </p:cNvPr>
          <p:cNvCxnSpPr/>
          <p:nvPr/>
        </p:nvCxnSpPr>
        <p:spPr>
          <a:xfrm xmlns:a="http://schemas.openxmlformats.org/drawingml/2006/main" flipV="1">
            <a:off x="1609725" y="3705225"/>
            <a:ext cx="0" cy="1590675"/>
          </a:xfrm>
          <a:prstGeom xmlns:a="http://schemas.openxmlformats.org/drawingml/2006/main" prst="straightConnector1">
            <a:avLst/>
          </a:prstGeom>
          <a:ln xmlns:a="http://schemas.openxmlformats.org/drawingml/2006/main" w="23813">
            <a:solidFill>
              <a:srgbClr val="6943B9"/>
            </a:solidFill>
            <a:prstDash val="solid"/>
            <a:tailEnd type="triangle" w="sm" len="sm"/>
          </a:ln>
        </p:spPr>
      </p:cxnSp>
      <p:cxnSp>
        <p:nvCxnSpPr>
          <p:cNvPr id="36" name="wire-259">
            <a:extLst xmlns:a="http://schemas.openxmlformats.org/drawingml/2006/main">
              <a:ext uri="{FF2B5EF4-FFF2-40B4-BE49-F238E27FC236}">
                <a16:creationId xmlns:a16="http://schemas.microsoft.com/office/drawing/2014/main" id="{384F46C6-72E1-4B5E-BDB5-BF550778DE10}"/>
              </a:ext>
            </a:extLst>
          </p:cNvPr>
          <p:cNvCxnSpPr/>
          <p:nvPr/>
        </p:nvCxnSpPr>
        <p:spPr>
          <a:xfrm xmlns:a="http://schemas.openxmlformats.org/drawingml/2006/main" flipH="1">
            <a:off x="1609725" y="5295900"/>
            <a:ext cx="6505575" cy="0"/>
          </a:xfrm>
          <a:prstGeom xmlns:a="http://schemas.openxmlformats.org/drawingml/2006/main" prst="straightConnector1">
            <a:avLst/>
          </a:prstGeom>
          <a:ln xmlns:a="http://schemas.openxmlformats.org/drawingml/2006/main" w="23813">
            <a:solidFill>
              <a:srgbClr val="6943B9"/>
            </a:solidFill>
            <a:prstDash val="solid"/>
            <a:tailEnd type="none" w="sm" len="sm"/>
          </a:ln>
        </p:spPr>
      </p:cxnSp>
      <p:cxnSp>
        <p:nvCxnSpPr>
          <p:cNvPr id="35" name="wire-258">
            <a:extLst xmlns:a="http://schemas.openxmlformats.org/drawingml/2006/main">
              <a:ext uri="{FF2B5EF4-FFF2-40B4-BE49-F238E27FC236}">
                <a16:creationId xmlns:a16="http://schemas.microsoft.com/office/drawing/2014/main" id="{98C7EAEA-5525-4B2D-9F7B-9023F7B0C3EB}"/>
              </a:ext>
            </a:extLst>
          </p:cNvPr>
          <p:cNvCxnSpPr/>
          <p:nvPr/>
        </p:nvCxnSpPr>
        <p:spPr>
          <a:xfrm xmlns:a="http://schemas.openxmlformats.org/drawingml/2006/main">
            <a:off x="8115300" y="3381375"/>
            <a:ext cx="0" cy="1914525"/>
          </a:xfrm>
          <a:prstGeom xmlns:a="http://schemas.openxmlformats.org/drawingml/2006/main" prst="straightConnector1">
            <a:avLst/>
          </a:prstGeom>
          <a:ln xmlns:a="http://schemas.openxmlformats.org/drawingml/2006/main" w="23813">
            <a:solidFill>
              <a:srgbClr val="6943B9"/>
            </a:solidFill>
            <a:prstDash val="solid"/>
            <a:tailEnd type="none" w="sm" len="sm"/>
          </a:ln>
        </p:spPr>
      </p:cxnSp>
      <p:cxnSp>
        <p:nvCxnSpPr>
          <p:cNvPr id="34" name="wire-257">
            <a:extLst xmlns:a="http://schemas.openxmlformats.org/drawingml/2006/main">
              <a:ext uri="{FF2B5EF4-FFF2-40B4-BE49-F238E27FC236}">
                <a16:creationId xmlns:a16="http://schemas.microsoft.com/office/drawing/2014/main" id="{E0E8A258-6D94-4E4B-A076-BE9B180F8A61}"/>
              </a:ext>
            </a:extLst>
          </p:cNvPr>
          <p:cNvCxnSpPr/>
          <p:nvPr/>
        </p:nvCxnSpPr>
        <p:spPr>
          <a:xfrm xmlns:a="http://schemas.openxmlformats.org/drawingml/2006/main" flipV="1">
            <a:off x="5324475" y="3076575"/>
            <a:ext cx="0" cy="600075"/>
          </a:xfrm>
          <a:prstGeom xmlns:a="http://schemas.openxmlformats.org/drawingml/2006/main" prst="straightConnector1">
            <a:avLst/>
          </a:prstGeom>
          <a:ln xmlns:a="http://schemas.openxmlformats.org/drawingml/2006/main" w="23813">
            <a:solidFill>
              <a:srgbClr val="6943B9"/>
            </a:solidFill>
            <a:prstDash val="solid"/>
            <a:tailEnd type="triangle" w="sm" len="sm"/>
          </a:ln>
        </p:spPr>
      </p:cxnSp>
      <p:cxnSp>
        <p:nvCxnSpPr>
          <p:cNvPr id="33" name="wire-256">
            <a:extLst xmlns:a="http://schemas.openxmlformats.org/drawingml/2006/main">
              <a:ext uri="{FF2B5EF4-FFF2-40B4-BE49-F238E27FC236}">
                <a16:creationId xmlns:a16="http://schemas.microsoft.com/office/drawing/2014/main" id="{CB79B85C-B1B1-4A2F-81DE-78EB24C8A871}"/>
              </a:ext>
            </a:extLst>
          </p:cNvPr>
          <p:cNvCxnSpPr/>
          <p:nvPr/>
        </p:nvCxnSpPr>
        <p:spPr>
          <a:xfrm xmlns:a="http://schemas.openxmlformats.org/drawingml/2006/main" flipH="1">
            <a:off x="5324475" y="3676650"/>
            <a:ext cx="704850" cy="0"/>
          </a:xfrm>
          <a:prstGeom xmlns:a="http://schemas.openxmlformats.org/drawingml/2006/main" prst="straightConnector1">
            <a:avLst/>
          </a:prstGeom>
          <a:ln xmlns:a="http://schemas.openxmlformats.org/drawingml/2006/main" w="23813">
            <a:solidFill>
              <a:srgbClr val="6943B9"/>
            </a:solidFill>
            <a:prstDash val="solid"/>
            <a:tailEnd type="none" w="sm" len="sm"/>
          </a:ln>
        </p:spPr>
      </p:cxnSp>
      <p:cxnSp>
        <p:nvCxnSpPr>
          <p:cNvPr id="32" name="wire-255">
            <a:extLst xmlns:a="http://schemas.openxmlformats.org/drawingml/2006/main">
              <a:ext uri="{FF2B5EF4-FFF2-40B4-BE49-F238E27FC236}">
                <a16:creationId xmlns:a16="http://schemas.microsoft.com/office/drawing/2014/main" id="{3FA5A7F8-3F9E-4B25-8B2E-95A6A3FF63F4}"/>
              </a:ext>
            </a:extLst>
          </p:cNvPr>
          <p:cNvCxnSpPr/>
          <p:nvPr/>
        </p:nvCxnSpPr>
        <p:spPr>
          <a:xfrm xmlns:a="http://schemas.openxmlformats.org/drawingml/2006/main" flipV="1">
            <a:off x="6029325" y="3676650"/>
            <a:ext cx="0" cy="942975"/>
          </a:xfrm>
          <a:prstGeom xmlns:a="http://schemas.openxmlformats.org/drawingml/2006/main" prst="straightConnector1">
            <a:avLst/>
          </a:prstGeom>
          <a:ln xmlns:a="http://schemas.openxmlformats.org/drawingml/2006/main" w="23813">
            <a:solidFill>
              <a:srgbClr val="6943B9"/>
            </a:solidFill>
            <a:prstDash val="solid"/>
            <a:tailEnd type="none" w="sm" len="sm"/>
          </a:ln>
        </p:spPr>
      </p:cxnSp>
      <p:cxnSp>
        <p:nvCxnSpPr>
          <p:cNvPr id="31" name="wire-254">
            <a:extLst xmlns:a="http://schemas.openxmlformats.org/drawingml/2006/main">
              <a:ext uri="{FF2B5EF4-FFF2-40B4-BE49-F238E27FC236}">
                <a16:creationId xmlns:a16="http://schemas.microsoft.com/office/drawing/2014/main" id="{AFAC2D20-CE3A-4CB5-8C73-DD6AA1894996}"/>
              </a:ext>
            </a:extLst>
          </p:cNvPr>
          <p:cNvCxnSpPr/>
          <p:nvPr/>
        </p:nvCxnSpPr>
        <p:spPr>
          <a:xfrm xmlns:a="http://schemas.openxmlformats.org/drawingml/2006/main">
            <a:off x="5448300" y="4619625"/>
            <a:ext cx="581025" cy="0"/>
          </a:xfrm>
          <a:prstGeom xmlns:a="http://schemas.openxmlformats.org/drawingml/2006/main" prst="straightConnector1">
            <a:avLst/>
          </a:prstGeom>
          <a:ln xmlns:a="http://schemas.openxmlformats.org/drawingml/2006/main" w="23813">
            <a:solidFill>
              <a:srgbClr val="6943B9"/>
            </a:solidFill>
            <a:prstDash val="solid"/>
            <a:tailEnd type="none" w="sm" len="sm"/>
          </a:ln>
        </p:spPr>
      </p:cxnSp>
      <p:cxnSp>
        <p:nvCxnSpPr>
          <p:cNvPr id="29" name="wire-252">
            <a:extLst xmlns:a="http://schemas.openxmlformats.org/drawingml/2006/main">
              <a:ext uri="{FF2B5EF4-FFF2-40B4-BE49-F238E27FC236}">
                <a16:creationId xmlns:a16="http://schemas.microsoft.com/office/drawing/2014/main" id="{1EF7551F-F308-4907-A3F4-D31E55B7FADC}"/>
              </a:ext>
            </a:extLst>
          </p:cNvPr>
          <p:cNvCxnSpPr/>
          <p:nvPr/>
        </p:nvCxnSpPr>
        <p:spPr>
          <a:xfrm xmlns:a="http://schemas.openxmlformats.org/drawingml/2006/main">
            <a:off x="619125" y="4619625"/>
            <a:ext cx="2914650" cy="0"/>
          </a:xfrm>
          <a:prstGeom xmlns:a="http://schemas.openxmlformats.org/drawingml/2006/main" prst="straightConnector1">
            <a:avLst/>
          </a:prstGeom>
          <a:ln xmlns:a="http://schemas.openxmlformats.org/drawingml/2006/main" w="23813">
            <a:solidFill>
              <a:srgbClr val="6943B9"/>
            </a:solidFill>
            <a:prstDash val="solid"/>
            <a:tailEnd type="triangle" w="sm" len="sm"/>
          </a:ln>
        </p:spPr>
      </p:cxnSp>
      <p:cxnSp>
        <p:nvCxnSpPr>
          <p:cNvPr id="24" name="wire-247">
            <a:extLst xmlns:a="http://schemas.openxmlformats.org/drawingml/2006/main">
              <a:ext uri="{FF2B5EF4-FFF2-40B4-BE49-F238E27FC236}">
                <a16:creationId xmlns:a16="http://schemas.microsoft.com/office/drawing/2014/main" id="{614AE5A9-D4F2-46F1-A4ED-2AA588ACB21F}"/>
              </a:ext>
            </a:extLst>
          </p:cNvPr>
          <p:cNvCxnSpPr/>
          <p:nvPr/>
        </p:nvCxnSpPr>
        <p:spPr>
          <a:xfrm xmlns:a="http://schemas.openxmlformats.org/drawingml/2006/main">
            <a:off x="9058275" y="2771775"/>
            <a:ext cx="2676525" cy="0"/>
          </a:xfrm>
          <a:prstGeom xmlns:a="http://schemas.openxmlformats.org/drawingml/2006/main" prst="straightConnector1">
            <a:avLst/>
          </a:prstGeom>
          <a:ln xmlns:a="http://schemas.openxmlformats.org/drawingml/2006/main" w="23813">
            <a:solidFill>
              <a:srgbClr val="6943B9"/>
            </a:solidFill>
            <a:prstDash val="solid"/>
            <a:tailEnd type="triangle" w="sm" len="sm"/>
          </a:ln>
        </p:spPr>
      </p:cxnSp>
      <p:cxnSp>
        <p:nvCxnSpPr>
          <p:cNvPr id="22" name="wire-245">
            <a:extLst xmlns:a="http://schemas.openxmlformats.org/drawingml/2006/main">
              <a:ext uri="{FF2B5EF4-FFF2-40B4-BE49-F238E27FC236}">
                <a16:creationId xmlns:a16="http://schemas.microsoft.com/office/drawing/2014/main" id="{A2D052EE-9762-4B84-8A2B-0A24F944F218}"/>
              </a:ext>
            </a:extLst>
          </p:cNvPr>
          <p:cNvCxnSpPr/>
          <p:nvPr/>
        </p:nvCxnSpPr>
        <p:spPr>
          <a:xfrm xmlns:a="http://schemas.openxmlformats.org/drawingml/2006/main">
            <a:off x="5686425" y="2695575"/>
            <a:ext cx="1628775" cy="0"/>
          </a:xfrm>
          <a:prstGeom xmlns:a="http://schemas.openxmlformats.org/drawingml/2006/main" prst="straightConnector1">
            <a:avLst/>
          </a:prstGeom>
          <a:ln xmlns:a="http://schemas.openxmlformats.org/drawingml/2006/main" w="23813">
            <a:solidFill>
              <a:srgbClr val="6943B9"/>
            </a:solidFill>
            <a:prstDash val="solid"/>
            <a:tailEnd type="triangle" w="sm" len="sm"/>
          </a:ln>
        </p:spPr>
      </p:cxnSp>
      <p:cxnSp>
        <p:nvCxnSpPr>
          <p:cNvPr id="17" name="wire-240">
            <a:extLst xmlns:a="http://schemas.openxmlformats.org/drawingml/2006/main">
              <a:ext uri="{FF2B5EF4-FFF2-40B4-BE49-F238E27FC236}">
                <a16:creationId xmlns:a16="http://schemas.microsoft.com/office/drawing/2014/main" id="{621DD85D-09A1-4141-BEBE-63CED3269023}"/>
              </a:ext>
            </a:extLst>
          </p:cNvPr>
          <p:cNvCxnSpPr/>
          <p:nvPr/>
        </p:nvCxnSpPr>
        <p:spPr>
          <a:xfrm xmlns:a="http://schemas.openxmlformats.org/drawingml/2006/main">
            <a:off x="3324225" y="2695575"/>
            <a:ext cx="1638300" cy="0"/>
          </a:xfrm>
          <a:prstGeom xmlns:a="http://schemas.openxmlformats.org/drawingml/2006/main" prst="straightConnector1">
            <a:avLst/>
          </a:prstGeom>
          <a:ln xmlns:a="http://schemas.openxmlformats.org/drawingml/2006/main" w="23813">
            <a:solidFill>
              <a:srgbClr val="6943B9"/>
            </a:solidFill>
            <a:prstDash val="solid"/>
            <a:tailEnd type="triangle" w="sm" len="sm"/>
          </a:ln>
        </p:spPr>
      </p:cxnSp>
      <p:cxnSp>
        <p:nvCxnSpPr>
          <p:cNvPr id="13" name="wire-236">
            <a:extLst xmlns:a="http://schemas.openxmlformats.org/drawingml/2006/main">
              <a:ext uri="{FF2B5EF4-FFF2-40B4-BE49-F238E27FC236}">
                <a16:creationId xmlns:a16="http://schemas.microsoft.com/office/drawing/2014/main" id="{BCEFD42D-8755-426B-AE3D-5DC305753FC7}"/>
              </a:ext>
            </a:extLst>
          </p:cNvPr>
          <p:cNvCxnSpPr/>
          <p:nvPr/>
        </p:nvCxnSpPr>
        <p:spPr>
          <a:xfrm xmlns:a="http://schemas.openxmlformats.org/drawingml/2006/main">
            <a:off x="2847975" y="1714500"/>
            <a:ext cx="0" cy="371475"/>
          </a:xfrm>
          <a:prstGeom xmlns:a="http://schemas.openxmlformats.org/drawingml/2006/main" prst="straightConnector1">
            <a:avLst/>
          </a:prstGeom>
          <a:ln xmlns:a="http://schemas.openxmlformats.org/drawingml/2006/main" w="23813">
            <a:solidFill>
              <a:srgbClr val="425672"/>
            </a:solidFill>
            <a:prstDash val="dash"/>
            <a:tailEnd type="triangle" w="sm" len="sm"/>
          </a:ln>
        </p:spPr>
      </p:cxnSp>
      <p:cxnSp>
        <p:nvCxnSpPr>
          <p:cNvPr id="10" name="wire-233">
            <a:extLst xmlns:a="http://schemas.openxmlformats.org/drawingml/2006/main">
              <a:ext uri="{FF2B5EF4-FFF2-40B4-BE49-F238E27FC236}">
                <a16:creationId xmlns:a16="http://schemas.microsoft.com/office/drawing/2014/main" id="{B368D404-FF6F-4551-9801-CAD409658BDD}"/>
              </a:ext>
            </a:extLst>
          </p:cNvPr>
          <p:cNvCxnSpPr/>
          <p:nvPr/>
        </p:nvCxnSpPr>
        <p:spPr>
          <a:xfrm xmlns:a="http://schemas.openxmlformats.org/drawingml/2006/main">
            <a:off x="2133600" y="3009900"/>
            <a:ext cx="238125" cy="0"/>
          </a:xfrm>
          <a:prstGeom xmlns:a="http://schemas.openxmlformats.org/drawingml/2006/main" prst="straightConnector1">
            <a:avLst/>
          </a:prstGeom>
          <a:ln xmlns:a="http://schemas.openxmlformats.org/drawingml/2006/main" w="23813">
            <a:solidFill>
              <a:srgbClr val="6943B9"/>
            </a:solidFill>
            <a:prstDash val="solid"/>
            <a:tailEnd type="triangle" w="sm" len="sm"/>
          </a:ln>
        </p:spPr>
      </p:cxnSp>
      <p:cxnSp>
        <p:nvCxnSpPr>
          <p:cNvPr id="9" name="wire-232">
            <a:extLst xmlns:a="http://schemas.openxmlformats.org/drawingml/2006/main">
              <a:ext uri="{FF2B5EF4-FFF2-40B4-BE49-F238E27FC236}">
                <a16:creationId xmlns:a16="http://schemas.microsoft.com/office/drawing/2014/main" id="{967E8B1C-F5F9-4BE5-BB9F-0C3C5F369993}"/>
              </a:ext>
            </a:extLst>
          </p:cNvPr>
          <p:cNvCxnSpPr/>
          <p:nvPr/>
        </p:nvCxnSpPr>
        <p:spPr>
          <a:xfrm xmlns:a="http://schemas.openxmlformats.org/drawingml/2006/main" flipV="1">
            <a:off x="2133600" y="3009900"/>
            <a:ext cx="0" cy="695325"/>
          </a:xfrm>
          <a:prstGeom xmlns:a="http://schemas.openxmlformats.org/drawingml/2006/main" prst="straightConnector1">
            <a:avLst/>
          </a:prstGeom>
          <a:ln xmlns:a="http://schemas.openxmlformats.org/drawingml/2006/main" w="23813">
            <a:solidFill>
              <a:srgbClr val="6943B9"/>
            </a:solidFill>
            <a:prstDash val="solid"/>
            <a:tailEnd type="none" w="sm" len="sm"/>
          </a:ln>
        </p:spPr>
      </p:cxnSp>
      <p:cxnSp>
        <p:nvCxnSpPr>
          <p:cNvPr id="8" name="wire-231">
            <a:extLst xmlns:a="http://schemas.openxmlformats.org/drawingml/2006/main">
              <a:ext uri="{FF2B5EF4-FFF2-40B4-BE49-F238E27FC236}">
                <a16:creationId xmlns:a16="http://schemas.microsoft.com/office/drawing/2014/main" id="{ECAF9FE2-0042-4FAB-BD84-56727F66C428}"/>
              </a:ext>
            </a:extLst>
          </p:cNvPr>
          <p:cNvCxnSpPr/>
          <p:nvPr/>
        </p:nvCxnSpPr>
        <p:spPr>
          <a:xfrm xmlns:a="http://schemas.openxmlformats.org/drawingml/2006/main">
            <a:off x="609600" y="3705225"/>
            <a:ext cx="1524000" cy="0"/>
          </a:xfrm>
          <a:prstGeom xmlns:a="http://schemas.openxmlformats.org/drawingml/2006/main" prst="straightConnector1">
            <a:avLst/>
          </a:prstGeom>
          <a:ln xmlns:a="http://schemas.openxmlformats.org/drawingml/2006/main" w="23813">
            <a:solidFill>
              <a:srgbClr val="6943B9"/>
            </a:solidFill>
            <a:prstDash val="solid"/>
            <a:tailEnd type="none" w="sm" len="sm"/>
          </a:ln>
        </p:spPr>
      </p:cxnSp>
      <p:cxnSp>
        <p:nvCxnSpPr>
          <p:cNvPr id="7" name="wire-230">
            <a:extLst xmlns:a="http://schemas.openxmlformats.org/drawingml/2006/main">
              <a:ext uri="{FF2B5EF4-FFF2-40B4-BE49-F238E27FC236}">
                <a16:creationId xmlns:a16="http://schemas.microsoft.com/office/drawing/2014/main" id="{9F5A0679-406D-4B49-A733-2A3702AD9AF6}"/>
              </a:ext>
            </a:extLst>
          </p:cNvPr>
          <p:cNvCxnSpPr/>
          <p:nvPr/>
        </p:nvCxnSpPr>
        <p:spPr>
          <a:xfrm xmlns:a="http://schemas.openxmlformats.org/drawingml/2006/main">
            <a:off x="609600" y="2352675"/>
            <a:ext cx="1762125" cy="0"/>
          </a:xfrm>
          <a:prstGeom xmlns:a="http://schemas.openxmlformats.org/drawingml/2006/main" prst="straightConnector1">
            <a:avLst/>
          </a:prstGeom>
          <a:ln xmlns:a="http://schemas.openxmlformats.org/drawingml/2006/main" w="23813">
            <a:solidFill>
              <a:srgbClr val="6943B9"/>
            </a:solidFill>
            <a:prstDash val="solid"/>
            <a:tailEnd type="triangle" w="sm" len="sm"/>
          </a:ln>
        </p:spPr>
      </p:cxnSp>
      <p:cxnSp>
        <p:nvCxnSpPr>
          <p:cNvPr id="3" name="wire-226">
            <a:extLst xmlns:a="http://schemas.openxmlformats.org/drawingml/2006/main">
              <a:ext uri="{FF2B5EF4-FFF2-40B4-BE49-F238E27FC236}">
                <a16:creationId xmlns:a16="http://schemas.microsoft.com/office/drawing/2014/main" id="{DFD23C78-799B-4C96-8D49-AEC59E8F93B9}"/>
              </a:ext>
            </a:extLst>
          </p:cNvPr>
          <p:cNvCxnSpPr/>
          <p:nvPr/>
        </p:nvCxnSpPr>
        <p:spPr>
          <a:xfrm xmlns:a="http://schemas.openxmlformats.org/drawingml/2006/main">
            <a:off x="457200" y="1476375"/>
            <a:ext cx="11277600" cy="0"/>
          </a:xfrm>
          <a:prstGeom xmlns:a="http://schemas.openxmlformats.org/drawingml/2006/main" prst="straightConnector1">
            <a:avLst/>
          </a:prstGeom>
          <a:ln xmlns:a="http://schemas.openxmlformats.org/drawingml/2006/main" w="9525">
            <a:solidFill>
              <a:srgbClr val="CCD6E2"/>
            </a:solidFill>
            <a:prstDash val="solid"/>
            <a:tailEnd type="none" w="sm" len="sm"/>
          </a:ln>
        </p:spPr>
      </p:cxnSp>
      <p:sp>
        <p:nvSpPr>
          <p:cNvPr id="46" name="text-224">
            <a:extLst xmlns:a="http://schemas.openxmlformats.org/drawingml/2006/main">
              <a:ext uri="{FF2B5EF4-FFF2-40B4-BE49-F238E27FC236}">
                <a16:creationId xmlns:a16="http://schemas.microsoft.com/office/drawing/2014/main" id="{C3C47ADA-A72A-40D2-9BF1-3714009B7AFA}"/>
              </a:ext>
            </a:extLst>
          </p:cNvPr>
          <p:cNvSpPr>
            <a:spLocks xmlns:a="http://schemas.openxmlformats.org/drawingml/2006/main" noGrp="1"/>
          </p:cNvSpPr>
          <p:nvPr/>
        </p:nvSpPr>
        <p:spPr>
          <a:xfrm xmlns:a="http://schemas.openxmlformats.org/drawingml/2006/main">
            <a:off x="457200" y="304800"/>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2B4D"/>
                </a:solidFill>
                <a:latin typeface="Arial"/>
                <a:ea typeface="Arial"/>
                <a:cs typeface="Arial"/>
              </a:defRPr>
            </a:defPPr>
          </a:lstStyle>
          <a:p xmlns:a="http://schemas.openxmlformats.org/drawingml/2006/main">
            <a:pPr algn="l">
              <a:buNone/>
              <a:defRPr sz="3300" b="1">
                <a:solidFill>
                  <a:srgbClr val="172B4D"/>
                </a:solidFill>
                <a:latin typeface="Arial"/>
                <a:ea typeface="Arial"/>
                <a:cs typeface="Arial"/>
              </a:defRPr>
            </a:pPr>
            <a:r>
              <a:rPr sz="3300" b="1">
                <a:solidFill>
                  <a:srgbClr val="172B4D"/>
                </a:solidFill>
                <a:latin typeface="Arial"/>
                <a:ea typeface="Arial"/>
                <a:cs typeface="Arial"/>
              </a:rPr>
              <a:t>SBM Accumulator: commit term và giữ tổng</a:t>
            </a:r>
          </a:p>
        </p:txBody>
      </p:sp>
      <p:sp>
        <p:nvSpPr>
          <p:cNvPr id="2" name="text-225">
            <a:extLst xmlns:a="http://schemas.openxmlformats.org/drawingml/2006/main">
              <a:ext uri="{FF2B5EF4-FFF2-40B4-BE49-F238E27FC236}">
                <a16:creationId xmlns:a16="http://schemas.microsoft.com/office/drawing/2014/main" id="{19828900-7009-4C0C-9FC6-067DB0EBD3F2}"/>
              </a:ext>
            </a:extLst>
          </p:cNvPr>
          <p:cNvSpPr>
            <a:spLocks xmlns:a="http://schemas.openxmlformats.org/drawingml/2006/main" noGrp="1"/>
          </p:cNvSpPr>
          <p:nvPr/>
        </p:nvSpPr>
        <p:spPr>
          <a:xfrm xmlns:a="http://schemas.openxmlformats.org/drawingml/2006/main">
            <a:off x="457200" y="942975"/>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3657D"/>
                </a:solidFill>
                <a:latin typeface="Arial"/>
                <a:ea typeface="Arial"/>
                <a:cs typeface="Arial"/>
              </a:defRPr>
            </a:defPPr>
          </a:lstStyle>
          <a:p xmlns:a="http://schemas.openxmlformats.org/drawingml/2006/main">
            <a:pPr algn="l">
              <a:buNone/>
              <a:defRPr sz="1800" b="0">
                <a:solidFill>
                  <a:srgbClr val="53657D"/>
                </a:solidFill>
                <a:latin typeface="Arial"/>
                <a:ea typeface="Arial"/>
                <a:cs typeface="Arial"/>
              </a:defRPr>
            </a:pPr>
            <a:r>
              <a:rPr sz="1800" b="0">
                <a:solidFill>
                  <a:srgbClr val="53657D"/>
                </a:solidFill>
                <a:latin typeface="Arial"/>
                <a:ea typeface="Arial"/>
                <a:cs typeface="Arial"/>
              </a:rPr>
              <a:t>first chọn hidden term. init_only chỉ nạp Y. commit_valid cho phép cập nhật</a:t>
            </a:r>
          </a:p>
        </p:txBody>
      </p:sp>
      <p:sp>
        <p:nvSpPr>
          <p:cNvPr id="4" name="text-227">
            <a:extLst xmlns:a="http://schemas.openxmlformats.org/drawingml/2006/main">
              <a:ext uri="{FF2B5EF4-FFF2-40B4-BE49-F238E27FC236}">
                <a16:creationId xmlns:a16="http://schemas.microsoft.com/office/drawing/2014/main" id="{E12208A8-38A6-4198-8717-C45D96193194}"/>
              </a:ext>
            </a:extLst>
          </p:cNvPr>
          <p:cNvSpPr>
            <a:spLocks xmlns:a="http://schemas.openxmlformats.org/drawingml/2006/main" noGrp="1"/>
          </p:cNvSpPr>
          <p:nvPr/>
        </p:nvSpPr>
        <p:spPr>
          <a:xfrm xmlns:a="http://schemas.openxmlformats.org/drawingml/2006/main">
            <a:off x="11001375" y="6429375"/>
            <a:ext cx="723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57D"/>
                </a:solidFill>
                <a:latin typeface="Arial"/>
                <a:ea typeface="Arial"/>
                <a:cs typeface="Arial"/>
              </a:defRPr>
            </a:defPPr>
          </a:lstStyle>
          <a:p xmlns:a="http://schemas.openxmlformats.org/drawingml/2006/main">
            <a:pPr algn="r">
              <a:buNone/>
              <a:defRPr sz="1350" b="0">
                <a:solidFill>
                  <a:srgbClr val="53657D"/>
                </a:solidFill>
                <a:latin typeface="Arial"/>
                <a:ea typeface="Arial"/>
                <a:cs typeface="Arial"/>
              </a:defRPr>
            </a:pPr>
            <a:r>
              <a:rPr sz="1350" b="0">
                <a:solidFill>
                  <a:srgbClr val="53657D"/>
                </a:solidFill>
                <a:latin typeface="Arial"/>
                <a:ea typeface="Arial"/>
                <a:cs typeface="Arial"/>
              </a:rPr>
              <a:t>5 / 7</a:t>
            </a:r>
          </a:p>
        </p:txBody>
      </p:sp>
      <p:sp>
        <p:nvSpPr>
          <p:cNvPr id="5" name="text-228">
            <a:extLst xmlns:a="http://schemas.openxmlformats.org/drawingml/2006/main">
              <a:ext uri="{FF2B5EF4-FFF2-40B4-BE49-F238E27FC236}">
                <a16:creationId xmlns:a16="http://schemas.microsoft.com/office/drawing/2014/main" id="{1A452573-E175-4F7A-B750-6997FFBB9D00}"/>
              </a:ext>
            </a:extLst>
          </p:cNvPr>
          <p:cNvSpPr>
            <a:spLocks xmlns:a="http://schemas.openxmlformats.org/drawingml/2006/main" noGrp="1"/>
          </p:cNvSpPr>
          <p:nvPr/>
        </p:nvSpPr>
        <p:spPr>
          <a:xfrm xmlns:a="http://schemas.openxmlformats.org/drawingml/2006/main">
            <a:off x="457200" y="1924050"/>
            <a:ext cx="1581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6943B9"/>
                </a:solidFill>
                <a:latin typeface="Arial"/>
                <a:ea typeface="Arial"/>
                <a:cs typeface="Arial"/>
              </a:defRPr>
            </a:defPPr>
          </a:lstStyle>
          <a:p xmlns:a="http://schemas.openxmlformats.org/drawingml/2006/main">
            <a:pPr algn="ctr">
              <a:buNone/>
              <a:defRPr sz="1725" b="0">
                <a:solidFill>
                  <a:srgbClr val="6943B9"/>
                </a:solidFill>
                <a:latin typeface="Arial"/>
                <a:ea typeface="Arial"/>
                <a:cs typeface="Arial"/>
              </a:defRPr>
            </a:pPr>
            <a:r>
              <a:rPr sz="1725" b="0">
                <a:solidFill>
                  <a:srgbClr val="6943B9"/>
                </a:solidFill>
                <a:latin typeface="Arial"/>
                <a:ea typeface="Arial"/>
                <a:cs typeface="Arial"/>
              </a:rPr>
              <a:t>y_base</a:t>
            </a:r>
          </a:p>
        </p:txBody>
      </p:sp>
      <p:sp>
        <p:nvSpPr>
          <p:cNvPr id="6" name="text-229">
            <a:extLst xmlns:a="http://schemas.openxmlformats.org/drawingml/2006/main">
              <a:ext uri="{FF2B5EF4-FFF2-40B4-BE49-F238E27FC236}">
                <a16:creationId xmlns:a16="http://schemas.microsoft.com/office/drawing/2014/main" id="{F6243762-3610-4112-8CC4-DEEACA3ACA61}"/>
              </a:ext>
            </a:extLst>
          </p:cNvPr>
          <p:cNvSpPr>
            <a:spLocks xmlns:a="http://schemas.openxmlformats.org/drawingml/2006/main" noGrp="1"/>
          </p:cNvSpPr>
          <p:nvPr/>
        </p:nvSpPr>
        <p:spPr>
          <a:xfrm xmlns:a="http://schemas.openxmlformats.org/drawingml/2006/main">
            <a:off x="457200" y="3276600"/>
            <a:ext cx="1581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6943B9"/>
                </a:solidFill>
                <a:latin typeface="Arial"/>
                <a:ea typeface="Arial"/>
                <a:cs typeface="Arial"/>
              </a:defRPr>
            </a:defPPr>
          </a:lstStyle>
          <a:p xmlns:a="http://schemas.openxmlformats.org/drawingml/2006/main">
            <a:pPr algn="ctr">
              <a:buNone/>
              <a:defRPr sz="1725" b="0">
                <a:solidFill>
                  <a:srgbClr val="6943B9"/>
                </a:solidFill>
                <a:latin typeface="Arial"/>
                <a:ea typeface="Arial"/>
                <a:cs typeface="Arial"/>
              </a:defRPr>
            </a:pPr>
            <a:r>
              <a:rPr sz="1725" b="0">
                <a:solidFill>
                  <a:srgbClr val="6943B9"/>
                </a:solidFill>
                <a:latin typeface="Arial"/>
                <a:ea typeface="Arial"/>
                <a:cs typeface="Arial"/>
              </a:rPr>
              <a:t>acc_q</a:t>
            </a:r>
          </a:p>
        </p:txBody>
      </p:sp>
      <p:sp>
        <p:nvSpPr>
          <p:cNvPr id="11" name="mux-234">
            <a:extLst xmlns:a="http://schemas.openxmlformats.org/drawingml/2006/main">
              <a:ext uri="{FF2B5EF4-FFF2-40B4-BE49-F238E27FC236}">
                <a16:creationId xmlns:a16="http://schemas.microsoft.com/office/drawing/2014/main" id="{FABC60C3-94AA-4EB7-96EA-8C38F1436329}"/>
              </a:ext>
            </a:extLst>
          </p:cNvPr>
          <p:cNvSpPr>
            <a:spLocks xmlns:a="http://schemas.openxmlformats.org/drawingml/2006/main" noGrp="1"/>
          </p:cNvSpPr>
          <p:nvPr/>
        </p:nvSpPr>
        <p:spPr>
          <a:xfrm xmlns:a="http://schemas.openxmlformats.org/drawingml/2006/main">
            <a:off x="2371725" y="2085975"/>
            <a:ext cx="952500" cy="1219200"/>
          </a:xfrm>
          <a:custGeom xmlns:a="http://schemas.openxmlformats.org/drawingml/2006/main">
            <a:rect l="0" t="0" r="0" b="0"/>
            <a:pathLst>
              <a:path w="952500" h="1219200">
                <a:moveTo>
                  <a:pt x="0" y="0"/>
                </a:moveTo>
                <a:lnTo>
                  <a:pt x="952500" y="243840"/>
                </a:lnTo>
                <a:lnTo>
                  <a:pt x="952500" y="975360"/>
                </a:lnTo>
                <a:lnTo>
                  <a:pt x="0" y="1219200"/>
                </a:lnTo>
                <a:close/>
              </a:path>
            </a:pathLst>
          </a:custGeom>
          <a:solidFill xmlns:a="http://schemas.openxmlformats.org/drawingml/2006/main">
            <a:srgbClr val="F2ECFC"/>
          </a:solidFill>
          <a:ln xmlns:a="http://schemas.openxmlformats.org/drawingml/2006/main" w="19050">
            <a:solidFill>
              <a:srgbClr val="6943B9"/>
            </a:solidFill>
          </a:ln>
        </p:spPr>
      </p:sp>
      <p:sp>
        <p:nvSpPr>
          <p:cNvPr id="12" name="text-235">
            <a:extLst xmlns:a="http://schemas.openxmlformats.org/drawingml/2006/main">
              <a:ext uri="{FF2B5EF4-FFF2-40B4-BE49-F238E27FC236}">
                <a16:creationId xmlns:a16="http://schemas.microsoft.com/office/drawing/2014/main" id="{E9C419DA-D9D8-4D00-BDC0-1395C8D0D1C1}"/>
              </a:ext>
            </a:extLst>
          </p:cNvPr>
          <p:cNvSpPr>
            <a:spLocks xmlns:a="http://schemas.openxmlformats.org/drawingml/2006/main" noGrp="1"/>
          </p:cNvSpPr>
          <p:nvPr/>
        </p:nvSpPr>
        <p:spPr>
          <a:xfrm xmlns:a="http://schemas.openxmlformats.org/drawingml/2006/main">
            <a:off x="2400300" y="25241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6943B9"/>
                </a:solidFill>
                <a:latin typeface="Arial"/>
                <a:ea typeface="Arial"/>
                <a:cs typeface="Arial"/>
              </a:defRPr>
            </a:defPPr>
          </a:lstStyle>
          <a:p xmlns:a="http://schemas.openxmlformats.org/drawingml/2006/main">
            <a:pPr algn="ctr">
              <a:buNone/>
              <a:defRPr sz="1725" b="1">
                <a:solidFill>
                  <a:srgbClr val="6943B9"/>
                </a:solidFill>
                <a:latin typeface="Arial"/>
                <a:ea typeface="Arial"/>
                <a:cs typeface="Arial"/>
              </a:defRPr>
            </a:pPr>
            <a:r>
              <a:rPr sz="1725" b="1">
                <a:solidFill>
                  <a:srgbClr val="6943B9"/>
                </a:solidFill>
                <a:latin typeface="Arial"/>
                <a:ea typeface="Arial"/>
                <a:cs typeface="Arial"/>
              </a:rPr>
              <a:t>MUX</a:t>
            </a:r>
          </a:p>
        </p:txBody>
      </p:sp>
      <p:sp>
        <p:nvSpPr>
          <p:cNvPr id="14" name="text-237">
            <a:extLst xmlns:a="http://schemas.openxmlformats.org/drawingml/2006/main">
              <a:ext uri="{FF2B5EF4-FFF2-40B4-BE49-F238E27FC236}">
                <a16:creationId xmlns:a16="http://schemas.microsoft.com/office/drawing/2014/main" id="{7D6CD7D3-13DE-40F3-9999-71E7B2EA56DF}"/>
              </a:ext>
            </a:extLst>
          </p:cNvPr>
          <p:cNvSpPr>
            <a:spLocks xmlns:a="http://schemas.openxmlformats.org/drawingml/2006/main" noGrp="1"/>
          </p:cNvSpPr>
          <p:nvPr/>
        </p:nvSpPr>
        <p:spPr>
          <a:xfrm xmlns:a="http://schemas.openxmlformats.org/drawingml/2006/main">
            <a:off x="3276600" y="1590675"/>
            <a:ext cx="1247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53657D"/>
                </a:solidFill>
                <a:latin typeface="Arial"/>
                <a:ea typeface="Arial"/>
                <a:cs typeface="Arial"/>
              </a:defRPr>
            </a:defPPr>
          </a:lstStyle>
          <a:p xmlns:a="http://schemas.openxmlformats.org/drawingml/2006/main">
            <a:pPr algn="ctr">
              <a:buNone/>
              <a:defRPr sz="1725" b="0">
                <a:solidFill>
                  <a:srgbClr val="53657D"/>
                </a:solidFill>
                <a:latin typeface="Arial"/>
                <a:ea typeface="Arial"/>
                <a:cs typeface="Arial"/>
              </a:defRPr>
            </a:pPr>
            <a:r>
              <a:rPr sz="1725" b="0">
                <a:solidFill>
                  <a:srgbClr val="53657D"/>
                </a:solidFill>
                <a:latin typeface="Arial"/>
                <a:ea typeface="Arial"/>
                <a:cs typeface="Arial"/>
              </a:rPr>
              <a:t>first</a:t>
            </a:r>
          </a:p>
        </p:txBody>
      </p:sp>
      <p:sp>
        <p:nvSpPr>
          <p:cNvPr id="15" name="operator-238">
            <a:extLst xmlns:a="http://schemas.openxmlformats.org/drawingml/2006/main">
              <a:ext uri="{FF2B5EF4-FFF2-40B4-BE49-F238E27FC236}">
                <a16:creationId xmlns:a16="http://schemas.microsoft.com/office/drawing/2014/main" id="{557A4A2B-050D-490A-80F6-AF87D6D077FD}"/>
              </a:ext>
            </a:extLst>
          </p:cNvPr>
          <p:cNvSpPr>
            <a:spLocks xmlns:a="http://schemas.openxmlformats.org/drawingml/2006/main" noGrp="1"/>
          </p:cNvSpPr>
          <p:nvPr/>
        </p:nvSpPr>
        <p:spPr>
          <a:xfrm xmlns:a="http://schemas.openxmlformats.org/drawingml/2006/main">
            <a:off x="4962525" y="2352675"/>
            <a:ext cx="723900" cy="723900"/>
          </a:xfrm>
          <a:prstGeom xmlns:a="http://schemas.openxmlformats.org/drawingml/2006/main" prst="ellipse">
            <a:avLst/>
          </a:prstGeom>
          <a:solidFill xmlns:a="http://schemas.openxmlformats.org/drawingml/2006/main">
            <a:srgbClr val="F2ECFC"/>
          </a:solidFill>
          <a:ln xmlns:a="http://schemas.openxmlformats.org/drawingml/2006/main" w="19050">
            <a:solidFill>
              <a:srgbClr val="6943B9"/>
            </a:solidFill>
          </a:ln>
        </p:spPr>
      </p:sp>
      <p:sp>
        <p:nvSpPr>
          <p:cNvPr id="16" name="text-239">
            <a:extLst xmlns:a="http://schemas.openxmlformats.org/drawingml/2006/main">
              <a:ext uri="{FF2B5EF4-FFF2-40B4-BE49-F238E27FC236}">
                <a16:creationId xmlns:a16="http://schemas.microsoft.com/office/drawing/2014/main" id="{25809C0F-8331-4447-B287-89AC9076A5C2}"/>
              </a:ext>
            </a:extLst>
          </p:cNvPr>
          <p:cNvSpPr>
            <a:spLocks xmlns:a="http://schemas.openxmlformats.org/drawingml/2006/main" noGrp="1"/>
          </p:cNvSpPr>
          <p:nvPr/>
        </p:nvSpPr>
        <p:spPr>
          <a:xfrm xmlns:a="http://schemas.openxmlformats.org/drawingml/2006/main">
            <a:off x="4962525" y="2352675"/>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225" b="1">
                <a:solidFill>
                  <a:srgbClr val="6943B9"/>
                </a:solidFill>
                <a:latin typeface="Arial"/>
                <a:ea typeface="Arial"/>
                <a:cs typeface="Arial"/>
              </a:defRPr>
            </a:defPPr>
          </a:lstStyle>
          <a:p xmlns:a="http://schemas.openxmlformats.org/drawingml/2006/main">
            <a:pPr algn="ctr">
              <a:buNone/>
              <a:defRPr sz="3225" b="1">
                <a:solidFill>
                  <a:srgbClr val="6943B9"/>
                </a:solidFill>
                <a:latin typeface="Arial"/>
                <a:ea typeface="Arial"/>
                <a:cs typeface="Arial"/>
              </a:defRPr>
            </a:pPr>
            <a:r>
              <a:rPr sz="3225" b="1">
                <a:solidFill>
                  <a:srgbClr val="6943B9"/>
                </a:solidFill>
                <a:latin typeface="Arial"/>
                <a:ea typeface="Arial"/>
                <a:cs typeface="Arial"/>
              </a:rPr>
              <a:t>+</a:t>
            </a:r>
          </a:p>
        </p:txBody>
      </p:sp>
      <p:sp>
        <p:nvSpPr>
          <p:cNvPr id="18" name="acc_q-241">
            <a:extLst xmlns:a="http://schemas.openxmlformats.org/drawingml/2006/main">
              <a:ext uri="{FF2B5EF4-FFF2-40B4-BE49-F238E27FC236}">
                <a16:creationId xmlns:a16="http://schemas.microsoft.com/office/drawing/2014/main" id="{72425FD5-A631-4D4A-A642-48A238CFBBBB}"/>
              </a:ext>
            </a:extLst>
          </p:cNvPr>
          <p:cNvSpPr>
            <a:spLocks xmlns:a="http://schemas.openxmlformats.org/drawingml/2006/main" noGrp="1"/>
          </p:cNvSpPr>
          <p:nvPr/>
        </p:nvSpPr>
        <p:spPr>
          <a:xfrm xmlns:a="http://schemas.openxmlformats.org/drawingml/2006/main">
            <a:off x="7315200" y="2143125"/>
            <a:ext cx="1743075" cy="1238250"/>
          </a:xfrm>
          <a:prstGeom xmlns:a="http://schemas.openxmlformats.org/drawingml/2006/main" prst="rect">
            <a:avLst/>
          </a:prstGeom>
          <a:solidFill xmlns:a="http://schemas.openxmlformats.org/drawingml/2006/main">
            <a:srgbClr val="EAF1FA"/>
          </a:solidFill>
          <a:ln xmlns:a="http://schemas.openxmlformats.org/drawingml/2006/main" w="19050">
            <a:solidFill>
              <a:srgbClr val="244B83"/>
            </a:solidFill>
          </a:ln>
        </p:spPr>
      </p:sp>
      <p:sp>
        <p:nvSpPr>
          <p:cNvPr id="19" name="clock-242">
            <a:extLst xmlns:a="http://schemas.openxmlformats.org/drawingml/2006/main">
              <a:ext uri="{FF2B5EF4-FFF2-40B4-BE49-F238E27FC236}">
                <a16:creationId xmlns:a16="http://schemas.microsoft.com/office/drawing/2014/main" id="{F71D7304-9F7B-42DE-AA96-9ACEA6FCC8FE}"/>
              </a:ext>
            </a:extLst>
          </p:cNvPr>
          <p:cNvSpPr>
            <a:spLocks xmlns:a="http://schemas.openxmlformats.org/drawingml/2006/main" noGrp="1"/>
          </p:cNvSpPr>
          <p:nvPr/>
        </p:nvSpPr>
        <p:spPr>
          <a:xfrm xmlns:a="http://schemas.openxmlformats.org/drawingml/2006/main">
            <a:off x="7315200" y="3162300"/>
            <a:ext cx="95250" cy="133350"/>
          </a:xfrm>
          <a:custGeom xmlns:a="http://schemas.openxmlformats.org/drawingml/2006/main">
            <a:rect l="0" t="0" r="0" b="0"/>
            <a:pathLst>
              <a:path w="95250" h="133350">
                <a:moveTo>
                  <a:pt x="0" y="0"/>
                </a:moveTo>
                <a:lnTo>
                  <a:pt x="95250" y="66675"/>
                </a:lnTo>
                <a:lnTo>
                  <a:pt x="0" y="133350"/>
                </a:lnTo>
                <a:close/>
              </a:path>
            </a:pathLst>
          </a:custGeom>
          <a:solidFill xmlns:a="http://schemas.openxmlformats.org/drawingml/2006/main">
            <a:srgbClr val="FFFFFF"/>
          </a:solidFill>
          <a:ln xmlns:a="http://schemas.openxmlformats.org/drawingml/2006/main" w="19050">
            <a:solidFill>
              <a:srgbClr val="244B83"/>
            </a:solidFill>
          </a:ln>
        </p:spPr>
      </p:sp>
      <p:sp>
        <p:nvSpPr>
          <p:cNvPr id="20" name="text-243">
            <a:extLst xmlns:a="http://schemas.openxmlformats.org/drawingml/2006/main">
              <a:ext uri="{FF2B5EF4-FFF2-40B4-BE49-F238E27FC236}">
                <a16:creationId xmlns:a16="http://schemas.microsoft.com/office/drawing/2014/main" id="{2A605027-5EFC-452F-A996-A54031477F99}"/>
              </a:ext>
            </a:extLst>
          </p:cNvPr>
          <p:cNvSpPr>
            <a:spLocks xmlns:a="http://schemas.openxmlformats.org/drawingml/2006/main" noGrp="1"/>
          </p:cNvSpPr>
          <p:nvPr/>
        </p:nvSpPr>
        <p:spPr>
          <a:xfrm xmlns:a="http://schemas.openxmlformats.org/drawingml/2006/main">
            <a:off x="7353300" y="2286000"/>
            <a:ext cx="1666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244B83"/>
                </a:solidFill>
                <a:latin typeface="Arial"/>
                <a:ea typeface="Arial"/>
                <a:cs typeface="Arial"/>
              </a:defRPr>
            </a:defPPr>
          </a:lstStyle>
          <a:p xmlns:a="http://schemas.openxmlformats.org/drawingml/2006/main">
            <a:pPr algn="ctr">
              <a:buNone/>
              <a:defRPr sz="1800" b="1">
                <a:solidFill>
                  <a:srgbClr val="244B83"/>
                </a:solidFill>
                <a:latin typeface="Arial"/>
                <a:ea typeface="Arial"/>
                <a:cs typeface="Arial"/>
              </a:defRPr>
            </a:pPr>
            <a:r>
              <a:rPr sz="1800" b="1">
                <a:solidFill>
                  <a:srgbClr val="244B83"/>
                </a:solidFill>
                <a:latin typeface="Arial"/>
                <a:ea typeface="Arial"/>
                <a:cs typeface="Arial"/>
              </a:rPr>
              <a:t>acc_q</a:t>
            </a:r>
          </a:p>
        </p:txBody>
      </p:sp>
      <p:sp>
        <p:nvSpPr>
          <p:cNvPr id="21" name="text-244">
            <a:extLst xmlns:a="http://schemas.openxmlformats.org/drawingml/2006/main">
              <a:ext uri="{FF2B5EF4-FFF2-40B4-BE49-F238E27FC236}">
                <a16:creationId xmlns:a16="http://schemas.microsoft.com/office/drawing/2014/main" id="{1F8A901A-6AF2-4C34-984A-1431CFA61C02}"/>
              </a:ext>
            </a:extLst>
          </p:cNvPr>
          <p:cNvSpPr>
            <a:spLocks xmlns:a="http://schemas.openxmlformats.org/drawingml/2006/main" noGrp="1"/>
          </p:cNvSpPr>
          <p:nvPr/>
        </p:nvSpPr>
        <p:spPr>
          <a:xfrm xmlns:a="http://schemas.openxmlformats.org/drawingml/2006/main">
            <a:off x="7391400" y="2638425"/>
            <a:ext cx="1590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54 bit</a:t>
            </a:r>
          </a:p>
        </p:txBody>
      </p:sp>
      <p:sp>
        <p:nvSpPr>
          <p:cNvPr id="23" name="text-246">
            <a:extLst xmlns:a="http://schemas.openxmlformats.org/drawingml/2006/main">
              <a:ext uri="{FF2B5EF4-FFF2-40B4-BE49-F238E27FC236}">
                <a16:creationId xmlns:a16="http://schemas.microsoft.com/office/drawing/2014/main" id="{CD80A3A0-759E-4306-8402-F75BF7BB4974}"/>
              </a:ext>
            </a:extLst>
          </p:cNvPr>
          <p:cNvSpPr>
            <a:spLocks xmlns:a="http://schemas.openxmlformats.org/drawingml/2006/main" noGrp="1"/>
          </p:cNvSpPr>
          <p:nvPr/>
        </p:nvSpPr>
        <p:spPr>
          <a:xfrm xmlns:a="http://schemas.openxmlformats.org/drawingml/2006/main">
            <a:off x="5667375" y="2124075"/>
            <a:ext cx="1657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6943B9"/>
                </a:solidFill>
                <a:latin typeface="Arial"/>
                <a:ea typeface="Arial"/>
                <a:cs typeface="Arial"/>
              </a:defRPr>
            </a:defPPr>
          </a:lstStyle>
          <a:p xmlns:a="http://schemas.openxmlformats.org/drawingml/2006/main">
            <a:pPr algn="ctr">
              <a:buNone/>
              <a:defRPr sz="1725" b="0">
                <a:solidFill>
                  <a:srgbClr val="6943B9"/>
                </a:solidFill>
                <a:latin typeface="Arial"/>
                <a:ea typeface="Arial"/>
                <a:cs typeface="Arial"/>
              </a:defRPr>
            </a:pPr>
            <a:r>
              <a:rPr sz="1725" b="0">
                <a:solidFill>
                  <a:srgbClr val="6943B9"/>
                </a:solidFill>
                <a:latin typeface="Arial"/>
                <a:ea typeface="Arial"/>
                <a:cs typeface="Arial"/>
              </a:rPr>
              <a:t>sum[53:0]</a:t>
            </a:r>
          </a:p>
        </p:txBody>
      </p:sp>
      <p:sp>
        <p:nvSpPr>
          <p:cNvPr id="25" name="text-248">
            <a:extLst xmlns:a="http://schemas.openxmlformats.org/drawingml/2006/main">
              <a:ext uri="{FF2B5EF4-FFF2-40B4-BE49-F238E27FC236}">
                <a16:creationId xmlns:a16="http://schemas.microsoft.com/office/drawing/2014/main" id="{4BD52D3A-8635-4550-8DE7-8A731AA6BCBA}"/>
              </a:ext>
            </a:extLst>
          </p:cNvPr>
          <p:cNvSpPr>
            <a:spLocks xmlns:a="http://schemas.openxmlformats.org/drawingml/2006/main" noGrp="1"/>
          </p:cNvSpPr>
          <p:nvPr/>
        </p:nvSpPr>
        <p:spPr>
          <a:xfrm xmlns:a="http://schemas.openxmlformats.org/drawingml/2006/main">
            <a:off x="9477375" y="2238375"/>
            <a:ext cx="2181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6943B9"/>
                </a:solidFill>
                <a:latin typeface="Arial"/>
                <a:ea typeface="Arial"/>
                <a:cs typeface="Arial"/>
              </a:defRPr>
            </a:defPPr>
          </a:lstStyle>
          <a:p xmlns:a="http://schemas.openxmlformats.org/drawingml/2006/main">
            <a:pPr algn="ctr">
              <a:buNone/>
              <a:defRPr sz="1725" b="0">
                <a:solidFill>
                  <a:srgbClr val="6943B9"/>
                </a:solidFill>
                <a:latin typeface="Arial"/>
                <a:ea typeface="Arial"/>
                <a:cs typeface="Arial"/>
              </a:defRPr>
            </a:pPr>
            <a:r>
              <a:rPr sz="1725" b="0">
                <a:solidFill>
                  <a:srgbClr val="6943B9"/>
                </a:solidFill>
                <a:latin typeface="Arial"/>
                <a:ea typeface="Arial"/>
                <a:cs typeface="Arial"/>
              </a:rPr>
              <a:t>acc / P_hat</a:t>
            </a:r>
          </a:p>
        </p:txBody>
      </p:sp>
      <p:sp>
        <p:nvSpPr>
          <p:cNvPr id="26" name="Term / 0-249">
            <a:extLst xmlns:a="http://schemas.openxmlformats.org/drawingml/2006/main">
              <a:ext uri="{FF2B5EF4-FFF2-40B4-BE49-F238E27FC236}">
                <a16:creationId xmlns:a16="http://schemas.microsoft.com/office/drawing/2014/main" id="{756D8BC3-CF17-467B-8357-762EBD7B0300}"/>
              </a:ext>
            </a:extLst>
          </p:cNvPr>
          <p:cNvSpPr>
            <a:spLocks xmlns:a="http://schemas.openxmlformats.org/drawingml/2006/main" noGrp="1"/>
          </p:cNvSpPr>
          <p:nvPr/>
        </p:nvSpPr>
        <p:spPr>
          <a:xfrm xmlns:a="http://schemas.openxmlformats.org/drawingml/2006/main">
            <a:off x="3533775" y="4124325"/>
            <a:ext cx="1914525" cy="1000125"/>
          </a:xfrm>
          <a:prstGeom xmlns:a="http://schemas.openxmlformats.org/drawingml/2006/main" prst="rect">
            <a:avLst/>
          </a:prstGeom>
          <a:solidFill xmlns:a="http://schemas.openxmlformats.org/drawingml/2006/main">
            <a:srgbClr val="F2ECFC"/>
          </a:solidFill>
          <a:ln xmlns:a="http://schemas.openxmlformats.org/drawingml/2006/main" w="19050">
            <a:solidFill>
              <a:srgbClr val="6943B9"/>
            </a:solidFill>
          </a:ln>
        </p:spPr>
      </p:sp>
      <p:sp>
        <p:nvSpPr>
          <p:cNvPr id="27" name="text-250">
            <a:extLst xmlns:a="http://schemas.openxmlformats.org/drawingml/2006/main">
              <a:ext uri="{FF2B5EF4-FFF2-40B4-BE49-F238E27FC236}">
                <a16:creationId xmlns:a16="http://schemas.microsoft.com/office/drawing/2014/main" id="{5C3F14E9-945D-4C86-90EC-0AA92D5D72DA}"/>
              </a:ext>
            </a:extLst>
          </p:cNvPr>
          <p:cNvSpPr>
            <a:spLocks xmlns:a="http://schemas.openxmlformats.org/drawingml/2006/main" noGrp="1"/>
          </p:cNvSpPr>
          <p:nvPr/>
        </p:nvSpPr>
        <p:spPr>
          <a:xfrm xmlns:a="http://schemas.openxmlformats.org/drawingml/2006/main">
            <a:off x="3629025" y="4248150"/>
            <a:ext cx="17240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6943B9"/>
                </a:solidFill>
                <a:latin typeface="Arial"/>
                <a:ea typeface="Arial"/>
                <a:cs typeface="Arial"/>
              </a:defRPr>
            </a:defPPr>
          </a:lstStyle>
          <a:p xmlns:a="http://schemas.openxmlformats.org/drawingml/2006/main">
            <a:pPr algn="ctr">
              <a:buNone/>
              <a:defRPr sz="1950" b="1">
                <a:solidFill>
                  <a:srgbClr val="6943B9"/>
                </a:solidFill>
                <a:latin typeface="Arial"/>
                <a:ea typeface="Arial"/>
                <a:cs typeface="Arial"/>
              </a:defRPr>
            </a:pPr>
            <a:r>
              <a:rPr sz="1950" b="1">
                <a:solidFill>
                  <a:srgbClr val="6943B9"/>
                </a:solidFill>
                <a:latin typeface="Arial"/>
                <a:ea typeface="Arial"/>
                <a:cs typeface="Arial"/>
              </a:rPr>
              <a:t>Term / 0</a:t>
            </a:r>
          </a:p>
        </p:txBody>
      </p:sp>
      <p:sp>
        <p:nvSpPr>
          <p:cNvPr id="28" name="text-251">
            <a:extLst xmlns:a="http://schemas.openxmlformats.org/drawingml/2006/main">
              <a:ext uri="{FF2B5EF4-FFF2-40B4-BE49-F238E27FC236}">
                <a16:creationId xmlns:a16="http://schemas.microsoft.com/office/drawing/2014/main" id="{59CD5C6B-D5EF-4923-A361-8D70E68FB483}"/>
              </a:ext>
            </a:extLst>
          </p:cNvPr>
          <p:cNvSpPr>
            <a:spLocks xmlns:a="http://schemas.openxmlformats.org/drawingml/2006/main" noGrp="1"/>
          </p:cNvSpPr>
          <p:nvPr/>
        </p:nvSpPr>
        <p:spPr>
          <a:xfrm xmlns:a="http://schemas.openxmlformats.org/drawingml/2006/main">
            <a:off x="3629025" y="4619625"/>
            <a:ext cx="17240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init_only</a:t>
            </a:r>
          </a:p>
        </p:txBody>
      </p:sp>
      <p:sp>
        <p:nvSpPr>
          <p:cNvPr id="30" name="text-253">
            <a:extLst xmlns:a="http://schemas.openxmlformats.org/drawingml/2006/main">
              <a:ext uri="{FF2B5EF4-FFF2-40B4-BE49-F238E27FC236}">
                <a16:creationId xmlns:a16="http://schemas.microsoft.com/office/drawing/2014/main" id="{E92A20A3-7905-47C1-8BB5-40CBE1B16D9D}"/>
              </a:ext>
            </a:extLst>
          </p:cNvPr>
          <p:cNvSpPr>
            <a:spLocks xmlns:a="http://schemas.openxmlformats.org/drawingml/2006/main" noGrp="1"/>
          </p:cNvSpPr>
          <p:nvPr/>
        </p:nvSpPr>
        <p:spPr>
          <a:xfrm xmlns:a="http://schemas.openxmlformats.org/drawingml/2006/main">
            <a:off x="1762125" y="4171950"/>
            <a:ext cx="1695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6943B9"/>
                </a:solidFill>
                <a:latin typeface="Arial"/>
                <a:ea typeface="Arial"/>
                <a:cs typeface="Arial"/>
              </a:defRPr>
            </a:defPPr>
          </a:lstStyle>
          <a:p xmlns:a="http://schemas.openxmlformats.org/drawingml/2006/main">
            <a:pPr algn="ctr">
              <a:buNone/>
              <a:defRPr sz="1725" b="0">
                <a:solidFill>
                  <a:srgbClr val="6943B9"/>
                </a:solidFill>
                <a:latin typeface="Arial"/>
                <a:ea typeface="Arial"/>
                <a:cs typeface="Arial"/>
              </a:defRPr>
            </a:pPr>
            <a:r>
              <a:rPr sz="1725" b="0">
                <a:solidFill>
                  <a:srgbClr val="6943B9"/>
                </a:solidFill>
                <a:latin typeface="Arial"/>
                <a:ea typeface="Arial"/>
                <a:cs typeface="Arial"/>
              </a:rPr>
              <a:t>term từ R2</a:t>
            </a:r>
          </a:p>
        </p:txBody>
      </p:sp>
      <p:sp>
        <p:nvSpPr>
          <p:cNvPr id="38" name="text-261">
            <a:extLst xmlns:a="http://schemas.openxmlformats.org/drawingml/2006/main">
              <a:ext uri="{FF2B5EF4-FFF2-40B4-BE49-F238E27FC236}">
                <a16:creationId xmlns:a16="http://schemas.microsoft.com/office/drawing/2014/main" id="{78B876CA-2BED-42EA-842F-6A6D0A97EC29}"/>
              </a:ext>
            </a:extLst>
          </p:cNvPr>
          <p:cNvSpPr>
            <a:spLocks xmlns:a="http://schemas.openxmlformats.org/drawingml/2006/main" noGrp="1"/>
          </p:cNvSpPr>
          <p:nvPr/>
        </p:nvSpPr>
        <p:spPr>
          <a:xfrm xmlns:a="http://schemas.openxmlformats.org/drawingml/2006/main">
            <a:off x="6296025" y="5400675"/>
            <a:ext cx="5191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6943B9"/>
                </a:solidFill>
                <a:latin typeface="Arial"/>
                <a:ea typeface="Arial"/>
                <a:cs typeface="Arial"/>
              </a:defRPr>
            </a:defPPr>
          </a:lstStyle>
          <a:p xmlns:a="http://schemas.openxmlformats.org/drawingml/2006/main">
            <a:pPr algn="ctr">
              <a:buNone/>
              <a:defRPr sz="1725" b="0">
                <a:solidFill>
                  <a:srgbClr val="6943B9"/>
                </a:solidFill>
                <a:latin typeface="Arial"/>
                <a:ea typeface="Arial"/>
                <a:cs typeface="Arial"/>
              </a:defRPr>
            </a:pPr>
            <a:r>
              <a:rPr sz="1725" b="0">
                <a:solidFill>
                  <a:srgbClr val="6943B9"/>
                </a:solidFill>
                <a:latin typeface="Arial"/>
                <a:ea typeface="Arial"/>
                <a:cs typeface="Arial"/>
              </a:rPr>
              <a:t>Feedback tổng cũ cho commit kế tiếp</a:t>
            </a:r>
          </a:p>
        </p:txBody>
      </p:sp>
      <p:sp>
        <p:nvSpPr>
          <p:cNvPr id="40" name="text-263">
            <a:extLst xmlns:a="http://schemas.openxmlformats.org/drawingml/2006/main">
              <a:ext uri="{FF2B5EF4-FFF2-40B4-BE49-F238E27FC236}">
                <a16:creationId xmlns:a16="http://schemas.microsoft.com/office/drawing/2014/main" id="{F648280F-DB4F-4980-BE60-799B5643CF27}"/>
              </a:ext>
            </a:extLst>
          </p:cNvPr>
          <p:cNvSpPr>
            <a:spLocks xmlns:a="http://schemas.openxmlformats.org/drawingml/2006/main" noGrp="1"/>
          </p:cNvSpPr>
          <p:nvPr/>
        </p:nvSpPr>
        <p:spPr>
          <a:xfrm xmlns:a="http://schemas.openxmlformats.org/drawingml/2006/main">
            <a:off x="8039100" y="14287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53657D"/>
                </a:solidFill>
                <a:latin typeface="Arial"/>
                <a:ea typeface="Arial"/>
                <a:cs typeface="Arial"/>
              </a:defRPr>
            </a:defPPr>
          </a:lstStyle>
          <a:p xmlns:a="http://schemas.openxmlformats.org/drawingml/2006/main">
            <a:pPr algn="ctr">
              <a:buNone/>
              <a:defRPr sz="1725" b="0">
                <a:solidFill>
                  <a:srgbClr val="53657D"/>
                </a:solidFill>
                <a:latin typeface="Arial"/>
                <a:ea typeface="Arial"/>
                <a:cs typeface="Arial"/>
              </a:defRPr>
            </a:pPr>
            <a:r>
              <a:rPr sz="1725" b="0">
                <a:solidFill>
                  <a:srgbClr val="53657D"/>
                </a:solidFill>
                <a:latin typeface="Arial"/>
                <a:ea typeface="Arial"/>
                <a:cs typeface="Arial"/>
              </a:rPr>
              <a:t>commit_valid</a:t>
            </a:r>
          </a:p>
        </p:txBody>
      </p:sp>
      <p:sp>
        <p:nvSpPr>
          <p:cNvPr id="41" name="Done-264">
            <a:extLst xmlns:a="http://schemas.openxmlformats.org/drawingml/2006/main">
              <a:ext uri="{FF2B5EF4-FFF2-40B4-BE49-F238E27FC236}">
                <a16:creationId xmlns:a16="http://schemas.microsoft.com/office/drawing/2014/main" id="{6CEEA28E-FF07-4C2F-9CD5-02B4702B4848}"/>
              </a:ext>
            </a:extLst>
          </p:cNvPr>
          <p:cNvSpPr>
            <a:spLocks xmlns:a="http://schemas.openxmlformats.org/drawingml/2006/main" noGrp="1"/>
          </p:cNvSpPr>
          <p:nvPr/>
        </p:nvSpPr>
        <p:spPr>
          <a:xfrm xmlns:a="http://schemas.openxmlformats.org/drawingml/2006/main">
            <a:off x="9648825" y="4000500"/>
            <a:ext cx="2085975" cy="1143000"/>
          </a:xfrm>
          <a:prstGeom xmlns:a="http://schemas.openxmlformats.org/drawingml/2006/main" prst="rect">
            <a:avLst/>
          </a:prstGeom>
          <a:solidFill xmlns:a="http://schemas.openxmlformats.org/drawingml/2006/main">
            <a:srgbClr val="EAF1FA"/>
          </a:solidFill>
          <a:ln xmlns:a="http://schemas.openxmlformats.org/drawingml/2006/main" w="19050">
            <a:solidFill>
              <a:srgbClr val="244B83"/>
            </a:solidFill>
          </a:ln>
        </p:spPr>
      </p:sp>
      <p:sp>
        <p:nvSpPr>
          <p:cNvPr id="42" name="text-265">
            <a:extLst xmlns:a="http://schemas.openxmlformats.org/drawingml/2006/main">
              <a:ext uri="{FF2B5EF4-FFF2-40B4-BE49-F238E27FC236}">
                <a16:creationId xmlns:a16="http://schemas.microsoft.com/office/drawing/2014/main" id="{3FF26E96-EEF9-488E-A383-1CA2A1299DB5}"/>
              </a:ext>
            </a:extLst>
          </p:cNvPr>
          <p:cNvSpPr>
            <a:spLocks xmlns:a="http://schemas.openxmlformats.org/drawingml/2006/main" noGrp="1"/>
          </p:cNvSpPr>
          <p:nvPr/>
        </p:nvSpPr>
        <p:spPr>
          <a:xfrm xmlns:a="http://schemas.openxmlformats.org/drawingml/2006/main">
            <a:off x="9744075" y="4124325"/>
            <a:ext cx="18954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44B83"/>
                </a:solidFill>
                <a:latin typeface="Arial"/>
                <a:ea typeface="Arial"/>
                <a:cs typeface="Arial"/>
              </a:defRPr>
            </a:defPPr>
          </a:lstStyle>
          <a:p xmlns:a="http://schemas.openxmlformats.org/drawingml/2006/main">
            <a:pPr algn="ctr">
              <a:buNone/>
              <a:defRPr sz="1875" b="1">
                <a:solidFill>
                  <a:srgbClr val="244B83"/>
                </a:solidFill>
                <a:latin typeface="Arial"/>
                <a:ea typeface="Arial"/>
                <a:cs typeface="Arial"/>
              </a:defRPr>
            </a:pPr>
            <a:r>
              <a:rPr sz="1875" b="1">
                <a:solidFill>
                  <a:srgbClr val="244B83"/>
                </a:solidFill>
                <a:latin typeface="Arial"/>
                <a:ea typeface="Arial"/>
                <a:cs typeface="Arial"/>
              </a:rPr>
              <a:t>Done</a:t>
            </a:r>
          </a:p>
        </p:txBody>
      </p:sp>
      <p:sp>
        <p:nvSpPr>
          <p:cNvPr id="43" name="text-266">
            <a:extLst xmlns:a="http://schemas.openxmlformats.org/drawingml/2006/main">
              <a:ext uri="{FF2B5EF4-FFF2-40B4-BE49-F238E27FC236}">
                <a16:creationId xmlns:a16="http://schemas.microsoft.com/office/drawing/2014/main" id="{2391C173-2B49-4E46-8E3E-5155D6E09677}"/>
              </a:ext>
            </a:extLst>
          </p:cNvPr>
          <p:cNvSpPr>
            <a:spLocks xmlns:a="http://schemas.openxmlformats.org/drawingml/2006/main" noGrp="1"/>
          </p:cNvSpPr>
          <p:nvPr/>
        </p:nvSpPr>
        <p:spPr>
          <a:xfrm xmlns:a="http://schemas.openxmlformats.org/drawingml/2006/main">
            <a:off x="9744075" y="4495800"/>
            <a:ext cx="18954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commit_valid</a:t>
            </a:r>
          </a:p>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&amp;&amp; last</a:t>
            </a:r>
          </a:p>
        </p:txBody>
      </p:sp>
      <p:sp>
        <p:nvSpPr>
          <p:cNvPr id="44" name="clock-done-267">
            <a:extLst xmlns:a="http://schemas.openxmlformats.org/drawingml/2006/main">
              <a:ext uri="{FF2B5EF4-FFF2-40B4-BE49-F238E27FC236}">
                <a16:creationId xmlns:a16="http://schemas.microsoft.com/office/drawing/2014/main" id="{F2441D7C-2325-4960-8B72-ADC33E996D7A}"/>
              </a:ext>
            </a:extLst>
          </p:cNvPr>
          <p:cNvSpPr>
            <a:spLocks xmlns:a="http://schemas.openxmlformats.org/drawingml/2006/main" noGrp="1"/>
          </p:cNvSpPr>
          <p:nvPr/>
        </p:nvSpPr>
        <p:spPr>
          <a:xfrm xmlns:a="http://schemas.openxmlformats.org/drawingml/2006/main">
            <a:off x="9648825" y="4895850"/>
            <a:ext cx="95250" cy="133350"/>
          </a:xfrm>
          <a:custGeom xmlns:a="http://schemas.openxmlformats.org/drawingml/2006/main">
            <a:rect l="0" t="0" r="0" b="0"/>
            <a:pathLst>
              <a:path w="95250" h="133350">
                <a:moveTo>
                  <a:pt x="0" y="0"/>
                </a:moveTo>
                <a:lnTo>
                  <a:pt x="95250" y="66675"/>
                </a:lnTo>
                <a:lnTo>
                  <a:pt x="0" y="133350"/>
                </a:lnTo>
                <a:close/>
              </a:path>
            </a:pathLst>
          </a:custGeom>
          <a:solidFill xmlns:a="http://schemas.openxmlformats.org/drawingml/2006/main">
            <a:srgbClr val="FFFFFF"/>
          </a:solidFill>
          <a:ln xmlns:a="http://schemas.openxmlformats.org/drawingml/2006/main" w="19050">
            <a:solidFill>
              <a:srgbClr val="244B83"/>
            </a:solidFill>
          </a:ln>
        </p:spPr>
      </p:sp>
      <p:sp>
        <p:nvSpPr>
          <p:cNvPr id="45" name="text-268">
            <a:extLst xmlns:a="http://schemas.openxmlformats.org/drawingml/2006/main">
              <a:ext uri="{FF2B5EF4-FFF2-40B4-BE49-F238E27FC236}">
                <a16:creationId xmlns:a16="http://schemas.microsoft.com/office/drawing/2014/main" id="{15E4F512-772E-44B1-AD2D-6E5018943214}"/>
              </a:ext>
            </a:extLst>
          </p:cNvPr>
          <p:cNvSpPr>
            <a:spLocks xmlns:a="http://schemas.openxmlformats.org/drawingml/2006/main" noGrp="1"/>
          </p:cNvSpPr>
          <p:nvPr/>
        </p:nvSpPr>
        <p:spPr>
          <a:xfrm xmlns:a="http://schemas.openxmlformats.org/drawingml/2006/main">
            <a:off x="457200" y="5810250"/>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172B4D"/>
                </a:solidFill>
                <a:latin typeface="Arial"/>
                <a:ea typeface="Arial"/>
                <a:cs typeface="Arial"/>
              </a:defRPr>
            </a:defPPr>
          </a:lstStyle>
          <a:p xmlns:a="http://schemas.openxmlformats.org/drawingml/2006/main">
            <a:pPr algn="l">
              <a:buNone/>
              <a:defRPr sz="1950" b="1">
                <a:solidFill>
                  <a:srgbClr val="172B4D"/>
                </a:solidFill>
                <a:latin typeface="Arial"/>
                <a:ea typeface="Arial"/>
                <a:cs typeface="Arial"/>
              </a:defRPr>
            </a:pPr>
            <a:r>
              <a:rPr sz="1950" b="1">
                <a:solidFill>
                  <a:srgbClr val="172B4D"/>
                </a:solidFill>
                <a:latin typeface="Arial"/>
                <a:ea typeface="Arial"/>
                <a:cs typeface="Arial"/>
              </a:rPr>
              <a:t>first=1: acc_next = y_base + term</a:t>
            </a:r>
          </a:p>
          <a:p xmlns:a="http://schemas.openxmlformats.org/drawingml/2006/main">
            <a:pPr algn="l">
              <a:buNone/>
              <a:defRPr sz="1950" b="1">
                <a:solidFill>
                  <a:srgbClr val="172B4D"/>
                </a:solidFill>
                <a:latin typeface="Arial"/>
                <a:ea typeface="Arial"/>
                <a:cs typeface="Arial"/>
              </a:defRPr>
            </a:pPr>
            <a:r>
              <a:rPr sz="1950" b="1">
                <a:solidFill>
                  <a:srgbClr val="172B4D"/>
                </a:solidFill>
                <a:latin typeface="Arial"/>
                <a:ea typeface="Arial"/>
                <a:cs typeface="Arial"/>
              </a:rPr>
              <a:t>init_only=1: acc_next = y_base</a:t>
            </a:r>
          </a:p>
        </p:txBody>
      </p:sp>
    </p:spTree>
    <p:extLst>
      <p:ext uri="{BB962C8B-B14F-4D97-AF65-F5344CB8AC3E}">
        <p14:creationId xmlns:p14="http://schemas.microsoft.com/office/powerpoint/2010/main" val="18392695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wire-283">
            <a:extLst xmlns:a="http://schemas.openxmlformats.org/drawingml/2006/main">
              <a:ext uri="{FF2B5EF4-FFF2-40B4-BE49-F238E27FC236}">
                <a16:creationId xmlns:a16="http://schemas.microsoft.com/office/drawing/2014/main" id="{2D1A4FFC-5476-4761-9DFA-87D776A4202F}"/>
              </a:ext>
            </a:extLst>
          </p:cNvPr>
          <p:cNvCxnSpPr/>
          <p:nvPr/>
        </p:nvCxnSpPr>
        <p:spPr>
          <a:xfrm xmlns:a="http://schemas.openxmlformats.org/drawingml/2006/main">
            <a:off x="7353300" y="2209800"/>
            <a:ext cx="1266825" cy="0"/>
          </a:xfrm>
          <a:prstGeom xmlns:a="http://schemas.openxmlformats.org/drawingml/2006/main" prst="straightConnector1">
            <a:avLst/>
          </a:prstGeom>
          <a:ln xmlns:a="http://schemas.openxmlformats.org/drawingml/2006/main" w="23813">
            <a:solidFill>
              <a:srgbClr val="425672"/>
            </a:solidFill>
            <a:prstDash val="solid"/>
            <a:tailEnd type="triangle" w="sm" len="sm"/>
          </a:ln>
        </p:spPr>
      </p:cxnSp>
      <p:cxnSp>
        <p:nvCxnSpPr>
          <p:cNvPr id="14" name="wire-282">
            <a:extLst xmlns:a="http://schemas.openxmlformats.org/drawingml/2006/main">
              <a:ext uri="{FF2B5EF4-FFF2-40B4-BE49-F238E27FC236}">
                <a16:creationId xmlns:a16="http://schemas.microsoft.com/office/drawing/2014/main" id="{CC669480-5422-493D-8411-E931777571CB}"/>
              </a:ext>
            </a:extLst>
          </p:cNvPr>
          <p:cNvCxnSpPr/>
          <p:nvPr/>
        </p:nvCxnSpPr>
        <p:spPr>
          <a:xfrm xmlns:a="http://schemas.openxmlformats.org/drawingml/2006/main">
            <a:off x="3581400" y="2209800"/>
            <a:ext cx="1238250" cy="0"/>
          </a:xfrm>
          <a:prstGeom xmlns:a="http://schemas.openxmlformats.org/drawingml/2006/main" prst="straightConnector1">
            <a:avLst/>
          </a:prstGeom>
          <a:ln xmlns:a="http://schemas.openxmlformats.org/drawingml/2006/main" w="23813">
            <a:solidFill>
              <a:srgbClr val="425672"/>
            </a:solidFill>
            <a:prstDash val="solid"/>
            <a:tailEnd type="triangle" w="sm" len="sm"/>
          </a:ln>
        </p:spPr>
      </p:cxnSp>
      <p:cxnSp>
        <p:nvCxnSpPr>
          <p:cNvPr id="3" name="wire-271">
            <a:extLst xmlns:a="http://schemas.openxmlformats.org/drawingml/2006/main">
              <a:ext uri="{FF2B5EF4-FFF2-40B4-BE49-F238E27FC236}">
                <a16:creationId xmlns:a16="http://schemas.microsoft.com/office/drawing/2014/main" id="{F7470C0D-2E01-48AF-9CA2-E9D8E4AC5DFF}"/>
              </a:ext>
            </a:extLst>
          </p:cNvPr>
          <p:cNvCxnSpPr/>
          <p:nvPr/>
        </p:nvCxnSpPr>
        <p:spPr>
          <a:xfrm xmlns:a="http://schemas.openxmlformats.org/drawingml/2006/main">
            <a:off x="457200" y="1476375"/>
            <a:ext cx="11277600" cy="0"/>
          </a:xfrm>
          <a:prstGeom xmlns:a="http://schemas.openxmlformats.org/drawingml/2006/main" prst="straightConnector1">
            <a:avLst/>
          </a:prstGeom>
          <a:ln xmlns:a="http://schemas.openxmlformats.org/drawingml/2006/main" w="9525">
            <a:solidFill>
              <a:srgbClr val="CCD6E2"/>
            </a:solidFill>
            <a:prstDash val="solid"/>
            <a:tailEnd type="none" w="sm" len="sm"/>
          </a:ln>
        </p:spPr>
      </p:cxnSp>
      <p:sp>
        <p:nvSpPr>
          <p:cNvPr id="19" name="text-269">
            <a:extLst xmlns:a="http://schemas.openxmlformats.org/drawingml/2006/main">
              <a:ext uri="{FF2B5EF4-FFF2-40B4-BE49-F238E27FC236}">
                <a16:creationId xmlns:a16="http://schemas.microsoft.com/office/drawing/2014/main" id="{6918787C-FBBB-46AE-A403-5F8C46C5D62D}"/>
              </a:ext>
            </a:extLst>
          </p:cNvPr>
          <p:cNvSpPr>
            <a:spLocks xmlns:a="http://schemas.openxmlformats.org/drawingml/2006/main" noGrp="1"/>
          </p:cNvSpPr>
          <p:nvPr/>
        </p:nvSpPr>
        <p:spPr>
          <a:xfrm xmlns:a="http://schemas.openxmlformats.org/drawingml/2006/main">
            <a:off x="457200" y="304800"/>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2B4D"/>
                </a:solidFill>
                <a:latin typeface="Arial"/>
                <a:ea typeface="Arial"/>
                <a:cs typeface="Arial"/>
              </a:defRPr>
            </a:defPPr>
          </a:lstStyle>
          <a:p xmlns:a="http://schemas.openxmlformats.org/drawingml/2006/main">
            <a:pPr algn="l">
              <a:buNone/>
              <a:defRPr sz="3300" b="1">
                <a:solidFill>
                  <a:srgbClr val="172B4D"/>
                </a:solidFill>
                <a:latin typeface="Arial"/>
                <a:ea typeface="Arial"/>
                <a:cs typeface="Arial"/>
              </a:defRPr>
            </a:pPr>
            <a:r>
              <a:rPr sz="3300" b="1">
                <a:solidFill>
                  <a:srgbClr val="172B4D"/>
                </a:solidFill>
                <a:latin typeface="Arial"/>
                <a:ea typeface="Arial"/>
                <a:cs typeface="Arial"/>
              </a:rPr>
              <a:t>Pipeline core: token đi cùng số hạng</a:t>
            </a:r>
          </a:p>
        </p:txBody>
      </p:sp>
      <p:sp>
        <p:nvSpPr>
          <p:cNvPr id="2" name="text-270">
            <a:extLst xmlns:a="http://schemas.openxmlformats.org/drawingml/2006/main">
              <a:ext uri="{FF2B5EF4-FFF2-40B4-BE49-F238E27FC236}">
                <a16:creationId xmlns:a16="http://schemas.microsoft.com/office/drawing/2014/main" id="{26034BAB-28B4-4BB1-BDDB-421A89A52EEB}"/>
              </a:ext>
            </a:extLst>
          </p:cNvPr>
          <p:cNvSpPr>
            <a:spLocks xmlns:a="http://schemas.openxmlformats.org/drawingml/2006/main" noGrp="1"/>
          </p:cNvSpPr>
          <p:nvPr/>
        </p:nvSpPr>
        <p:spPr>
          <a:xfrm xmlns:a="http://schemas.openxmlformats.org/drawingml/2006/main">
            <a:off x="457200" y="942975"/>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3657D"/>
                </a:solidFill>
                <a:latin typeface="Arial"/>
                <a:ea typeface="Arial"/>
                <a:cs typeface="Arial"/>
              </a:defRPr>
            </a:defPPr>
          </a:lstStyle>
          <a:p xmlns:a="http://schemas.openxmlformats.org/drawingml/2006/main">
            <a:pPr algn="l">
              <a:buNone/>
              <a:defRPr sz="1800" b="0">
                <a:solidFill>
                  <a:srgbClr val="53657D"/>
                </a:solidFill>
                <a:latin typeface="Arial"/>
                <a:ea typeface="Arial"/>
                <a:cs typeface="Arial"/>
              </a:defRPr>
            </a:pPr>
            <a:r>
              <a:rPr sz="1800" b="0">
                <a:solidFill>
                  <a:srgbClr val="53657D"/>
                </a:solidFill>
                <a:latin typeface="Arial"/>
                <a:ea typeface="Arial"/>
                <a:cs typeface="Arial"/>
              </a:rPr>
              <a:t>Ví dụ hai vòng fraction. L0 là cạnh launch được core chấp nhận</a:t>
            </a:r>
          </a:p>
        </p:txBody>
      </p:sp>
      <p:sp>
        <p:nvSpPr>
          <p:cNvPr id="4" name="text-272">
            <a:extLst xmlns:a="http://schemas.openxmlformats.org/drawingml/2006/main">
              <a:ext uri="{FF2B5EF4-FFF2-40B4-BE49-F238E27FC236}">
                <a16:creationId xmlns:a16="http://schemas.microsoft.com/office/drawing/2014/main" id="{2102D16A-8E78-4FAD-BFCB-5D017D5DE304}"/>
              </a:ext>
            </a:extLst>
          </p:cNvPr>
          <p:cNvSpPr>
            <a:spLocks xmlns:a="http://schemas.openxmlformats.org/drawingml/2006/main" noGrp="1"/>
          </p:cNvSpPr>
          <p:nvPr/>
        </p:nvSpPr>
        <p:spPr>
          <a:xfrm xmlns:a="http://schemas.openxmlformats.org/drawingml/2006/main">
            <a:off x="11001375" y="6429375"/>
            <a:ext cx="723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57D"/>
                </a:solidFill>
                <a:latin typeface="Arial"/>
                <a:ea typeface="Arial"/>
                <a:cs typeface="Arial"/>
              </a:defRPr>
            </a:defPPr>
          </a:lstStyle>
          <a:p xmlns:a="http://schemas.openxmlformats.org/drawingml/2006/main">
            <a:pPr algn="r">
              <a:buNone/>
              <a:defRPr sz="1350" b="0">
                <a:solidFill>
                  <a:srgbClr val="53657D"/>
                </a:solidFill>
                <a:latin typeface="Arial"/>
                <a:ea typeface="Arial"/>
                <a:cs typeface="Arial"/>
              </a:defRPr>
            </a:pPr>
            <a:r>
              <a:rPr sz="1350" b="0">
                <a:solidFill>
                  <a:srgbClr val="53657D"/>
                </a:solidFill>
                <a:latin typeface="Arial"/>
                <a:ea typeface="Arial"/>
                <a:cs typeface="Arial"/>
              </a:rPr>
              <a:t>6 / 7</a:t>
            </a:r>
          </a:p>
        </p:txBody>
      </p:sp>
      <p:sp>
        <p:nvSpPr>
          <p:cNvPr id="5" name="L1: SAC-273">
            <a:extLst xmlns:a="http://schemas.openxmlformats.org/drawingml/2006/main">
              <a:ext uri="{FF2B5EF4-FFF2-40B4-BE49-F238E27FC236}">
                <a16:creationId xmlns:a16="http://schemas.microsoft.com/office/drawing/2014/main" id="{A0D18BAF-6DAF-47B3-8D5D-223934FE78BF}"/>
              </a:ext>
            </a:extLst>
          </p:cNvPr>
          <p:cNvSpPr>
            <a:spLocks xmlns:a="http://schemas.openxmlformats.org/drawingml/2006/main" noGrp="1"/>
          </p:cNvSpPr>
          <p:nvPr/>
        </p:nvSpPr>
        <p:spPr>
          <a:xfrm xmlns:a="http://schemas.openxmlformats.org/drawingml/2006/main">
            <a:off x="1047750" y="1752600"/>
            <a:ext cx="2533650" cy="895350"/>
          </a:xfrm>
          <a:prstGeom xmlns:a="http://schemas.openxmlformats.org/drawingml/2006/main" prst="rect">
            <a:avLst/>
          </a:prstGeom>
          <a:solidFill xmlns:a="http://schemas.openxmlformats.org/drawingml/2006/main">
            <a:srgbClr val="FFF4DD"/>
          </a:solidFill>
          <a:ln xmlns:a="http://schemas.openxmlformats.org/drawingml/2006/main" w="19050">
            <a:solidFill>
              <a:srgbClr val="A76807"/>
            </a:solidFill>
          </a:ln>
        </p:spPr>
      </p:sp>
      <p:sp>
        <p:nvSpPr>
          <p:cNvPr id="6" name="text-274">
            <a:extLst xmlns:a="http://schemas.openxmlformats.org/drawingml/2006/main">
              <a:ext uri="{FF2B5EF4-FFF2-40B4-BE49-F238E27FC236}">
                <a16:creationId xmlns:a16="http://schemas.microsoft.com/office/drawing/2014/main" id="{7A45E393-DA85-49BA-BF1C-23DC175A45D8}"/>
              </a:ext>
            </a:extLst>
          </p:cNvPr>
          <p:cNvSpPr>
            <a:spLocks xmlns:a="http://schemas.openxmlformats.org/drawingml/2006/main" noGrp="1"/>
          </p:cNvSpPr>
          <p:nvPr/>
        </p:nvSpPr>
        <p:spPr>
          <a:xfrm xmlns:a="http://schemas.openxmlformats.org/drawingml/2006/main">
            <a:off x="1143000" y="1876425"/>
            <a:ext cx="2343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A76807"/>
                </a:solidFill>
                <a:latin typeface="Arial"/>
                <a:ea typeface="Arial"/>
                <a:cs typeface="Arial"/>
              </a:defRPr>
            </a:defPPr>
          </a:lstStyle>
          <a:p xmlns:a="http://schemas.openxmlformats.org/drawingml/2006/main">
            <a:pPr algn="ctr">
              <a:buNone/>
              <a:defRPr sz="1875" b="1">
                <a:solidFill>
                  <a:srgbClr val="A76807"/>
                </a:solidFill>
                <a:latin typeface="Arial"/>
                <a:ea typeface="Arial"/>
                <a:cs typeface="Arial"/>
              </a:defRPr>
            </a:pPr>
            <a:r>
              <a:rPr sz="1875" b="1">
                <a:solidFill>
                  <a:srgbClr val="A76807"/>
                </a:solidFill>
                <a:latin typeface="Arial"/>
                <a:ea typeface="Arial"/>
                <a:cs typeface="Arial"/>
              </a:rPr>
              <a:t>L1: SAC</a:t>
            </a:r>
          </a:p>
        </p:txBody>
      </p:sp>
      <p:sp>
        <p:nvSpPr>
          <p:cNvPr id="7" name="text-275">
            <a:extLst xmlns:a="http://schemas.openxmlformats.org/drawingml/2006/main">
              <a:ext uri="{FF2B5EF4-FFF2-40B4-BE49-F238E27FC236}">
                <a16:creationId xmlns:a16="http://schemas.microsoft.com/office/drawing/2014/main" id="{9F0F2B77-62FA-49DB-9D26-D65582989CA4}"/>
              </a:ext>
            </a:extLst>
          </p:cNvPr>
          <p:cNvSpPr>
            <a:spLocks xmlns:a="http://schemas.openxmlformats.org/drawingml/2006/main" noGrp="1"/>
          </p:cNvSpPr>
          <p:nvPr/>
        </p:nvSpPr>
        <p:spPr>
          <a:xfrm xmlns:a="http://schemas.openxmlformats.org/drawingml/2006/main">
            <a:off x="1143000" y="2247900"/>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scale / first / last</a:t>
            </a:r>
          </a:p>
        </p:txBody>
      </p:sp>
      <p:sp>
        <p:nvSpPr>
          <p:cNvPr id="8" name="L2: Shift-276">
            <a:extLst xmlns:a="http://schemas.openxmlformats.org/drawingml/2006/main">
              <a:ext uri="{FF2B5EF4-FFF2-40B4-BE49-F238E27FC236}">
                <a16:creationId xmlns:a16="http://schemas.microsoft.com/office/drawing/2014/main" id="{50D8A5FE-0728-4DC6-B9CE-24642200E6BB}"/>
              </a:ext>
            </a:extLst>
          </p:cNvPr>
          <p:cNvSpPr>
            <a:spLocks xmlns:a="http://schemas.openxmlformats.org/drawingml/2006/main" noGrp="1"/>
          </p:cNvSpPr>
          <p:nvPr/>
        </p:nvSpPr>
        <p:spPr>
          <a:xfrm xmlns:a="http://schemas.openxmlformats.org/drawingml/2006/main">
            <a:off x="4819650" y="1752600"/>
            <a:ext cx="2533650" cy="895350"/>
          </a:xfrm>
          <a:prstGeom xmlns:a="http://schemas.openxmlformats.org/drawingml/2006/main" prst="rect">
            <a:avLst/>
          </a:prstGeom>
          <a:solidFill xmlns:a="http://schemas.openxmlformats.org/drawingml/2006/main">
            <a:srgbClr val="F2ECFC"/>
          </a:solidFill>
          <a:ln xmlns:a="http://schemas.openxmlformats.org/drawingml/2006/main" w="19050">
            <a:solidFill>
              <a:srgbClr val="6943B9"/>
            </a:solidFill>
          </a:ln>
        </p:spPr>
      </p:sp>
      <p:sp>
        <p:nvSpPr>
          <p:cNvPr id="9" name="text-277">
            <a:extLst xmlns:a="http://schemas.openxmlformats.org/drawingml/2006/main">
              <a:ext uri="{FF2B5EF4-FFF2-40B4-BE49-F238E27FC236}">
                <a16:creationId xmlns:a16="http://schemas.microsoft.com/office/drawing/2014/main" id="{E1FA277E-7149-434B-A74A-00CF00B0B108}"/>
              </a:ext>
            </a:extLst>
          </p:cNvPr>
          <p:cNvSpPr>
            <a:spLocks xmlns:a="http://schemas.openxmlformats.org/drawingml/2006/main" noGrp="1"/>
          </p:cNvSpPr>
          <p:nvPr/>
        </p:nvSpPr>
        <p:spPr>
          <a:xfrm xmlns:a="http://schemas.openxmlformats.org/drawingml/2006/main">
            <a:off x="4914900" y="1876425"/>
            <a:ext cx="2343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6943B9"/>
                </a:solidFill>
                <a:latin typeface="Arial"/>
                <a:ea typeface="Arial"/>
                <a:cs typeface="Arial"/>
              </a:defRPr>
            </a:defPPr>
          </a:lstStyle>
          <a:p xmlns:a="http://schemas.openxmlformats.org/drawingml/2006/main">
            <a:pPr algn="ctr">
              <a:buNone/>
              <a:defRPr sz="1875" b="1">
                <a:solidFill>
                  <a:srgbClr val="6943B9"/>
                </a:solidFill>
                <a:latin typeface="Arial"/>
                <a:ea typeface="Arial"/>
                <a:cs typeface="Arial"/>
              </a:defRPr>
            </a:pPr>
            <a:r>
              <a:rPr sz="1875" b="1">
                <a:solidFill>
                  <a:srgbClr val="6943B9"/>
                </a:solidFill>
                <a:latin typeface="Arial"/>
                <a:ea typeface="Arial"/>
                <a:cs typeface="Arial"/>
              </a:rPr>
              <a:t>L2: Shift</a:t>
            </a:r>
          </a:p>
        </p:txBody>
      </p:sp>
      <p:sp>
        <p:nvSpPr>
          <p:cNvPr id="10" name="text-278">
            <a:extLst xmlns:a="http://schemas.openxmlformats.org/drawingml/2006/main">
              <a:ext uri="{FF2B5EF4-FFF2-40B4-BE49-F238E27FC236}">
                <a16:creationId xmlns:a16="http://schemas.microsoft.com/office/drawing/2014/main" id="{66C28468-838F-4E7B-BDA0-635C4328A9D4}"/>
              </a:ext>
            </a:extLst>
          </p:cNvPr>
          <p:cNvSpPr>
            <a:spLocks xmlns:a="http://schemas.openxmlformats.org/drawingml/2006/main" noGrp="1"/>
          </p:cNvSpPr>
          <p:nvPr/>
        </p:nvSpPr>
        <p:spPr>
          <a:xfrm xmlns:a="http://schemas.openxmlformats.org/drawingml/2006/main">
            <a:off x="4914900" y="2247900"/>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term / tail / token</a:t>
            </a:r>
          </a:p>
        </p:txBody>
      </p:sp>
      <p:sp>
        <p:nvSpPr>
          <p:cNvPr id="11" name="L3: Acc-279">
            <a:extLst xmlns:a="http://schemas.openxmlformats.org/drawingml/2006/main">
              <a:ext uri="{FF2B5EF4-FFF2-40B4-BE49-F238E27FC236}">
                <a16:creationId xmlns:a16="http://schemas.microsoft.com/office/drawing/2014/main" id="{C453F51F-38ED-458F-AD0C-76B99D07D2CA}"/>
              </a:ext>
            </a:extLst>
          </p:cNvPr>
          <p:cNvSpPr>
            <a:spLocks xmlns:a="http://schemas.openxmlformats.org/drawingml/2006/main" noGrp="1"/>
          </p:cNvSpPr>
          <p:nvPr/>
        </p:nvSpPr>
        <p:spPr>
          <a:xfrm xmlns:a="http://schemas.openxmlformats.org/drawingml/2006/main">
            <a:off x="8620125" y="1752600"/>
            <a:ext cx="2533650" cy="895350"/>
          </a:xfrm>
          <a:prstGeom xmlns:a="http://schemas.openxmlformats.org/drawingml/2006/main" prst="rect">
            <a:avLst/>
          </a:prstGeom>
          <a:solidFill xmlns:a="http://schemas.openxmlformats.org/drawingml/2006/main">
            <a:srgbClr val="F2ECFC"/>
          </a:solidFill>
          <a:ln xmlns:a="http://schemas.openxmlformats.org/drawingml/2006/main" w="19050">
            <a:solidFill>
              <a:srgbClr val="6943B9"/>
            </a:solidFill>
          </a:ln>
        </p:spPr>
      </p:sp>
      <p:sp>
        <p:nvSpPr>
          <p:cNvPr id="12" name="text-280">
            <a:extLst xmlns:a="http://schemas.openxmlformats.org/drawingml/2006/main">
              <a:ext uri="{FF2B5EF4-FFF2-40B4-BE49-F238E27FC236}">
                <a16:creationId xmlns:a16="http://schemas.microsoft.com/office/drawing/2014/main" id="{77967B25-C7A7-4BF7-BDC0-046910677087}"/>
              </a:ext>
            </a:extLst>
          </p:cNvPr>
          <p:cNvSpPr>
            <a:spLocks xmlns:a="http://schemas.openxmlformats.org/drawingml/2006/main" noGrp="1"/>
          </p:cNvSpPr>
          <p:nvPr/>
        </p:nvSpPr>
        <p:spPr>
          <a:xfrm xmlns:a="http://schemas.openxmlformats.org/drawingml/2006/main">
            <a:off x="8715375" y="1876425"/>
            <a:ext cx="2343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6943B9"/>
                </a:solidFill>
                <a:latin typeface="Arial"/>
                <a:ea typeface="Arial"/>
                <a:cs typeface="Arial"/>
              </a:defRPr>
            </a:defPPr>
          </a:lstStyle>
          <a:p xmlns:a="http://schemas.openxmlformats.org/drawingml/2006/main">
            <a:pPr algn="ctr">
              <a:buNone/>
              <a:defRPr sz="1875" b="1">
                <a:solidFill>
                  <a:srgbClr val="6943B9"/>
                </a:solidFill>
                <a:latin typeface="Arial"/>
                <a:ea typeface="Arial"/>
                <a:cs typeface="Arial"/>
              </a:defRPr>
            </a:pPr>
            <a:r>
              <a:rPr sz="1875" b="1">
                <a:solidFill>
                  <a:srgbClr val="6943B9"/>
                </a:solidFill>
                <a:latin typeface="Arial"/>
                <a:ea typeface="Arial"/>
                <a:cs typeface="Arial"/>
              </a:rPr>
              <a:t>L3: Acc</a:t>
            </a:r>
          </a:p>
        </p:txBody>
      </p:sp>
      <p:sp>
        <p:nvSpPr>
          <p:cNvPr id="13" name="text-281">
            <a:extLst xmlns:a="http://schemas.openxmlformats.org/drawingml/2006/main">
              <a:ext uri="{FF2B5EF4-FFF2-40B4-BE49-F238E27FC236}">
                <a16:creationId xmlns:a16="http://schemas.microsoft.com/office/drawing/2014/main" id="{22F545E5-A631-46FF-9E85-26F08B20371A}"/>
              </a:ext>
            </a:extLst>
          </p:cNvPr>
          <p:cNvSpPr>
            <a:spLocks xmlns:a="http://schemas.openxmlformats.org/drawingml/2006/main" noGrp="1"/>
          </p:cNvSpPr>
          <p:nvPr/>
        </p:nvSpPr>
        <p:spPr>
          <a:xfrm xmlns:a="http://schemas.openxmlformats.org/drawingml/2006/main">
            <a:off x="8715375" y="2247900"/>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72B4D"/>
                </a:solidFill>
                <a:latin typeface="Arial"/>
                <a:ea typeface="Arial"/>
                <a:cs typeface="Arial"/>
              </a:defRPr>
            </a:defPPr>
          </a:lstStyle>
          <a:p xmlns:a="http://schemas.openxmlformats.org/drawingml/2006/main">
            <a:pPr algn="ctr">
              <a:buNone/>
              <a:defRPr sz="1725" b="0">
                <a:solidFill>
                  <a:srgbClr val="172B4D"/>
                </a:solidFill>
                <a:latin typeface="Arial"/>
                <a:ea typeface="Arial"/>
                <a:cs typeface="Arial"/>
              </a:defRPr>
            </a:pPr>
            <a:r>
              <a:rPr sz="1725" b="0">
                <a:solidFill>
                  <a:srgbClr val="172B4D"/>
                </a:solidFill>
                <a:latin typeface="Arial"/>
                <a:ea typeface="Arial"/>
                <a:cs typeface="Arial"/>
              </a:rPr>
              <a:t>commit / done</a:t>
            </a:r>
          </a:p>
        </p:txBody>
      </p:sp>
      <p:graphicFrame>
        <p:nvGraphicFramePr>
          <p:cNvPr id="16" name="Table 15">
            <a:extLst xmlns:a="http://schemas.openxmlformats.org/drawingml/2006/main">
              <a:ext uri="{FF2B5EF4-FFF2-40B4-BE49-F238E27FC236}">
                <a16:creationId xmlns:a16="http://schemas.microsoft.com/office/drawing/2014/main" id="{70A6F28B-2C5D-4ABD-891C-79CEEFA22970}"/>
              </a:ext>
            </a:extLst>
          </p:cNvPr>
          <p:cNvGraphicFramePr/>
          <p:nvPr/>
        </p:nvGraphicFramePr>
        <p:xfrm>
          <a:off xmlns:a="http://schemas.openxmlformats.org/drawingml/2006/main" x="457200" y="3009900"/>
          <a:ext xmlns:a="http://schemas.openxmlformats.org/drawingml/2006/main" cx="11277600" cy="2682240"/>
        </p:xfrm>
        <a:graphic xmlns:a="http://schemas.openxmlformats.org/drawingml/2006/main">
          <a:graphicData uri="http://schemas.openxmlformats.org/drawingml/2006/table">
            <a:tbl>
              <a:tblPr/>
              <a:tblGrid>
                <a:gridCol w="2419350"/>
                <a:gridCol w="1771650"/>
                <a:gridCol w="1771650"/>
                <a:gridCol w="1771650"/>
                <a:gridCol w="1771650"/>
                <a:gridCol w="1771650"/>
              </a:tblGrid>
              <a:tr h="516255">
                <a:tc>
                  <a:txBody>
                    <a:bodyPr/>
                    <a:lstStyle/>
                    <a:p>
                      <a:pPr algn="ctr">
                        <a:buNone/>
                      </a:pPr>
                      <a:r>
                        <a:rPr sz="1725" b="1">
                          <a:solidFill>
                            <a:srgbClr val="172B4D"/>
                          </a:solidFill>
                          <a:latin typeface="Arial"/>
                          <a:ea typeface="Arial"/>
                          <a:cs typeface="Arial"/>
                        </a:rPr>
                        <a:t>Khối / cạnh</a:t>
                      </a:r>
                    </a:p>
                  </a:txBody>
                  <a:tcPr marL="91440" marR="91440" marT="45720" marB="45720" anchor="ctr">
                    <a:lnL w="9525">
                      <a:solidFill>
                        <a:srgbClr val="CCD6E2"/>
                      </a:solidFill>
                      <a:prstDash val="solid"/>
                    </a:lnL>
                    <a:lnR w="9525">
                      <a:solidFill>
                        <a:srgbClr val="CCD6E2"/>
                      </a:solidFill>
                      <a:prstDash val="solid"/>
                    </a:lnR>
                    <a:lnT w="9525">
                      <a:solidFill>
                        <a:srgbClr val="CCD6E2"/>
                      </a:solidFill>
                      <a:prstDash val="solid"/>
                    </a:lnT>
                    <a:lnB w="9525">
                      <a:solidFill>
                        <a:srgbClr val="CCD6E2"/>
                      </a:solidFill>
                      <a:prstDash val="solid"/>
                    </a:lnB>
                    <a:solidFill>
                      <a:srgbClr val="EAF1FA"/>
                    </a:solidFill>
                  </a:tcPr>
                </a:tc>
                <a:tc>
                  <a:txBody>
                    <a:bodyPr/>
                    <a:lstStyle/>
                    <a:p>
                      <a:pPr algn="ctr">
                        <a:buNone/>
                      </a:pPr>
                      <a:r>
                        <a:rPr sz="1725" b="1">
                          <a:solidFill>
                            <a:srgbClr val="172B4D"/>
                          </a:solidFill>
                          <a:latin typeface="Arial"/>
                          <a:ea typeface="Arial"/>
                          <a:cs typeface="Arial"/>
                        </a:rPr>
                        <a:t>L0</a:t>
                      </a:r>
                    </a:p>
                  </a:txBody>
                  <a:tcPr marL="91440" marR="91440" marT="45720" marB="45720" anchor="ctr">
                    <a:lnL w="9525" cmpd="sng">
                      <a:solidFill>
                        <a:srgbClr val="CCD6E2"/>
                      </a:solidFill>
                      <a:prstDash val="solid"/>
                    </a:lnL>
                    <a:lnR w="9525">
                      <a:solidFill>
                        <a:srgbClr val="CCD6E2"/>
                      </a:solidFill>
                      <a:prstDash val="solid"/>
                    </a:lnR>
                    <a:lnT w="9525">
                      <a:solidFill>
                        <a:srgbClr val="CCD6E2"/>
                      </a:solidFill>
                      <a:prstDash val="solid"/>
                    </a:lnT>
                    <a:lnB w="9525">
                      <a:solidFill>
                        <a:srgbClr val="CCD6E2"/>
                      </a:solidFill>
                      <a:prstDash val="solid"/>
                    </a:lnB>
                    <a:solidFill>
                      <a:srgbClr val="EAF1FA"/>
                    </a:solidFill>
                  </a:tcPr>
                </a:tc>
                <a:tc>
                  <a:txBody>
                    <a:bodyPr/>
                    <a:lstStyle/>
                    <a:p>
                      <a:pPr algn="ctr">
                        <a:buNone/>
                      </a:pPr>
                      <a:r>
                        <a:rPr sz="1725" b="1">
                          <a:solidFill>
                            <a:srgbClr val="172B4D"/>
                          </a:solidFill>
                          <a:latin typeface="Arial"/>
                          <a:ea typeface="Arial"/>
                          <a:cs typeface="Arial"/>
                        </a:rPr>
                        <a:t>L1</a:t>
                      </a:r>
                    </a:p>
                  </a:txBody>
                  <a:tcPr marL="91440" marR="91440" marT="45720" marB="45720" anchor="ctr">
                    <a:lnL w="9525" cmpd="sng">
                      <a:solidFill>
                        <a:srgbClr val="CCD6E2"/>
                      </a:solidFill>
                      <a:prstDash val="solid"/>
                    </a:lnL>
                    <a:lnR w="9525">
                      <a:solidFill>
                        <a:srgbClr val="CCD6E2"/>
                      </a:solidFill>
                      <a:prstDash val="solid"/>
                    </a:lnR>
                    <a:lnT w="9525">
                      <a:solidFill>
                        <a:srgbClr val="CCD6E2"/>
                      </a:solidFill>
                      <a:prstDash val="solid"/>
                    </a:lnT>
                    <a:lnB w="9525">
                      <a:solidFill>
                        <a:srgbClr val="CCD6E2"/>
                      </a:solidFill>
                      <a:prstDash val="solid"/>
                    </a:lnB>
                    <a:solidFill>
                      <a:srgbClr val="EAF1FA"/>
                    </a:solidFill>
                  </a:tcPr>
                </a:tc>
                <a:tc>
                  <a:txBody>
                    <a:bodyPr/>
                    <a:lstStyle/>
                    <a:p>
                      <a:pPr algn="ctr">
                        <a:buNone/>
                      </a:pPr>
                      <a:r>
                        <a:rPr sz="1725" b="1">
                          <a:solidFill>
                            <a:srgbClr val="172B4D"/>
                          </a:solidFill>
                          <a:latin typeface="Arial"/>
                          <a:ea typeface="Arial"/>
                          <a:cs typeface="Arial"/>
                        </a:rPr>
                        <a:t>L2</a:t>
                      </a:r>
                    </a:p>
                  </a:txBody>
                  <a:tcPr marL="91440" marR="91440" marT="45720" marB="45720" anchor="ctr">
                    <a:lnL w="9525" cmpd="sng">
                      <a:solidFill>
                        <a:srgbClr val="CCD6E2"/>
                      </a:solidFill>
                      <a:prstDash val="solid"/>
                    </a:lnL>
                    <a:lnR w="9525">
                      <a:solidFill>
                        <a:srgbClr val="CCD6E2"/>
                      </a:solidFill>
                      <a:prstDash val="solid"/>
                    </a:lnR>
                    <a:lnT w="9525">
                      <a:solidFill>
                        <a:srgbClr val="CCD6E2"/>
                      </a:solidFill>
                      <a:prstDash val="solid"/>
                    </a:lnT>
                    <a:lnB w="9525">
                      <a:solidFill>
                        <a:srgbClr val="CCD6E2"/>
                      </a:solidFill>
                      <a:prstDash val="solid"/>
                    </a:lnB>
                    <a:solidFill>
                      <a:srgbClr val="EAF1FA"/>
                    </a:solidFill>
                  </a:tcPr>
                </a:tc>
                <a:tc>
                  <a:txBody>
                    <a:bodyPr/>
                    <a:lstStyle/>
                    <a:p>
                      <a:pPr algn="ctr">
                        <a:buNone/>
                      </a:pPr>
                      <a:r>
                        <a:rPr sz="1725" b="1">
                          <a:solidFill>
                            <a:srgbClr val="172B4D"/>
                          </a:solidFill>
                          <a:latin typeface="Arial"/>
                          <a:ea typeface="Arial"/>
                          <a:cs typeface="Arial"/>
                        </a:rPr>
                        <a:t>L3</a:t>
                      </a:r>
                    </a:p>
                  </a:txBody>
                  <a:tcPr marL="91440" marR="91440" marT="45720" marB="45720" anchor="ctr">
                    <a:lnL w="9525" cmpd="sng">
                      <a:solidFill>
                        <a:srgbClr val="CCD6E2"/>
                      </a:solidFill>
                      <a:prstDash val="solid"/>
                    </a:lnL>
                    <a:lnR w="9525">
                      <a:solidFill>
                        <a:srgbClr val="CCD6E2"/>
                      </a:solidFill>
                      <a:prstDash val="solid"/>
                    </a:lnR>
                    <a:lnT w="9525">
                      <a:solidFill>
                        <a:srgbClr val="CCD6E2"/>
                      </a:solidFill>
                      <a:prstDash val="solid"/>
                    </a:lnT>
                    <a:lnB w="9525">
                      <a:solidFill>
                        <a:srgbClr val="CCD6E2"/>
                      </a:solidFill>
                      <a:prstDash val="solid"/>
                    </a:lnB>
                    <a:solidFill>
                      <a:srgbClr val="EAF1FA"/>
                    </a:solidFill>
                  </a:tcPr>
                </a:tc>
                <a:tc>
                  <a:txBody>
                    <a:bodyPr/>
                    <a:lstStyle/>
                    <a:p>
                      <a:pPr algn="ctr">
                        <a:buNone/>
                      </a:pPr>
                      <a:r>
                        <a:rPr sz="1725" b="1">
                          <a:solidFill>
                            <a:srgbClr val="172B4D"/>
                          </a:solidFill>
                          <a:latin typeface="Arial"/>
                          <a:ea typeface="Arial"/>
                          <a:cs typeface="Arial"/>
                        </a:rPr>
                        <a:t>L4</a:t>
                      </a:r>
                    </a:p>
                  </a:txBody>
                  <a:tcPr marL="91440" marR="91440" marT="45720" marB="45720" anchor="ctr">
                    <a:lnL w="9525" cmpd="sng">
                      <a:solidFill>
                        <a:srgbClr val="CCD6E2"/>
                      </a:solidFill>
                      <a:prstDash val="solid"/>
                    </a:lnL>
                    <a:lnR w="9525">
                      <a:solidFill>
                        <a:srgbClr val="CCD6E2"/>
                      </a:solidFill>
                      <a:prstDash val="solid"/>
                    </a:lnR>
                    <a:lnT w="9525">
                      <a:solidFill>
                        <a:srgbClr val="CCD6E2"/>
                      </a:solidFill>
                      <a:prstDash val="solid"/>
                    </a:lnT>
                    <a:lnB w="9525">
                      <a:solidFill>
                        <a:srgbClr val="CCD6E2"/>
                      </a:solidFill>
                      <a:prstDash val="solid"/>
                    </a:lnB>
                    <a:solidFill>
                      <a:srgbClr val="EAF1FA"/>
                    </a:solidFill>
                  </a:tcPr>
                </a:tc>
              </a:tr>
              <a:tr h="516255">
                <a:tc>
                  <a:txBody>
                    <a:bodyPr/>
                    <a:lstStyle/>
                    <a:p>
                      <a:pPr algn="ctr">
                        <a:buNone/>
                      </a:pPr>
                      <a:r>
                        <a:rPr sz="1725" b="0">
                          <a:solidFill>
                            <a:srgbClr val="425672"/>
                          </a:solidFill>
                          <a:latin typeface="Arial"/>
                          <a:ea typeface="Arial"/>
                          <a:cs typeface="Arial"/>
                        </a:rPr>
                        <a:t>Context</a:t>
                      </a:r>
                    </a:p>
                  </a:txBody>
                  <a:tcPr marL="91440" marR="91440" marT="45720" marB="45720" anchor="ctr">
                    <a:lnL w="9525">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pPr algn="ctr">
                        <a:buNone/>
                      </a:pPr>
                      <a:r>
                        <a:rPr sz="1725" b="0">
                          <a:solidFill>
                            <a:srgbClr val="425672"/>
                          </a:solidFill>
                          <a:latin typeface="Arial"/>
                          <a:ea typeface="Arial"/>
                          <a:cs typeface="Arial"/>
                        </a:rPr>
                        <a:t>Chốt X,Y</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pPr algn="ctr">
                        <a:buNone/>
                      </a:pPr>
                      <a:r>
                        <a:rPr sz="1725" b="0">
                          <a:solidFill>
                            <a:srgbClr val="425672"/>
                          </a:solidFill>
                          <a:latin typeface="Arial"/>
                          <a:ea typeface="Arial"/>
                          <a:cs typeface="Arial"/>
                        </a:rPr>
                        <a:t>Giữ Y</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pPr algn="ctr">
                        <a:buNone/>
                      </a:pPr>
                      <a:r>
                        <a:rPr sz="1725" b="0">
                          <a:solidFill>
                            <a:srgbClr val="425672"/>
                          </a:solidFill>
                          <a:latin typeface="Arial"/>
                          <a:ea typeface="Arial"/>
                          <a:cs typeface="Arial"/>
                        </a:rPr>
                        <a:t>Giữ Y</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pPr algn="ctr">
                        <a:buNone/>
                      </a:pPr>
                      <a:r>
                        <a:rPr sz="1725" b="0">
                          <a:solidFill>
                            <a:srgbClr val="425672"/>
                          </a:solidFill>
                          <a:latin typeface="Arial"/>
                          <a:ea typeface="Arial"/>
                          <a:cs typeface="Arial"/>
                        </a:rPr>
                        <a:t>Giữ Y</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pPr algn="ctr">
                        <a:buNone/>
                      </a:pPr>
                      <a:r>
                        <a:rPr sz="1725" b="0">
                          <a:solidFill>
                            <a:srgbClr val="425672"/>
                          </a:solidFill>
                          <a:latin typeface="Arial"/>
                          <a:ea typeface="Arial"/>
                          <a:cs typeface="Arial"/>
                        </a:rPr>
                        <a:t>Giữ Y</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r>
              <a:tr h="516255">
                <a:tc>
                  <a:txBody>
                    <a:bodyPr/>
                    <a:lstStyle/>
                    <a:p>
                      <a:pPr algn="ctr">
                        <a:buNone/>
                      </a:pPr>
                      <a:r>
                        <a:rPr sz="1725" b="0">
                          <a:solidFill>
                            <a:srgbClr val="425672"/>
                          </a:solidFill>
                          <a:latin typeface="Arial"/>
                          <a:ea typeface="Arial"/>
                          <a:cs typeface="Arial"/>
                        </a:rPr>
                        <a:t>SAC / R1</a:t>
                      </a:r>
                    </a:p>
                  </a:txBody>
                  <a:tcPr marL="91440" marR="91440" marT="45720" marB="45720" anchor="ctr">
                    <a:lnL w="9525">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7F9FC"/>
                    </a:solidFill>
                  </a:tcPr>
                </a:tc>
                <a:tc>
                  <a:txBody>
                    <a:bodyPr/>
                    <a:lstStyle/>
                    <a:p>
                      <a:pPr algn="ctr">
                        <a:buNone/>
                      </a:pPr>
                      <a:r>
                        <a:rPr sz="1725" b="0">
                          <a:solidFill>
                            <a:srgbClr val="425672"/>
                          </a:solidFill>
                          <a:latin typeface="Arial"/>
                          <a:ea typeface="Arial"/>
                          <a:cs typeface="Arial"/>
                        </a:rPr>
                        <a:t>Nạp state</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7F9FC"/>
                    </a:solidFill>
                  </a:tcPr>
                </a:tc>
                <a:tc>
                  <a:txBody>
                    <a:bodyPr/>
                    <a:lstStyle/>
                    <a:p>
                      <a:pPr algn="ctr">
                        <a:buNone/>
                      </a:pPr>
                      <a:r>
                        <a:rPr sz="1725" b="0">
                          <a:solidFill>
                            <a:srgbClr val="425672"/>
                          </a:solidFill>
                          <a:latin typeface="Arial"/>
                          <a:ea typeface="Arial"/>
                          <a:cs typeface="Arial"/>
                        </a:rPr>
                        <a:t>Token 1</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7F9FC"/>
                    </a:solidFill>
                  </a:tcPr>
                </a:tc>
                <a:tc>
                  <a:txBody>
                    <a:bodyPr/>
                    <a:lstStyle/>
                    <a:p>
                      <a:pPr algn="ctr">
                        <a:buNone/>
                      </a:pPr>
                      <a:r>
                        <a:rPr sz="1725" b="0">
                          <a:solidFill>
                            <a:srgbClr val="425672"/>
                          </a:solidFill>
                          <a:latin typeface="Arial"/>
                          <a:ea typeface="Arial"/>
                          <a:cs typeface="Arial"/>
                        </a:rPr>
                        <a:t>Token 2</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7F9FC"/>
                    </a:solidFill>
                  </a:tcPr>
                </a:tc>
                <a:tc>
                  <a:txBody>
                    <a:bodyPr/>
                    <a:lstStyle/>
                    <a:p>
                      <a:pPr algn="ctr">
                        <a:buNone/>
                      </a:pPr>
                      <a:r>
                        <a:rPr sz="1725" b="0">
                          <a:solidFill>
                            <a:srgbClr val="425672"/>
                          </a:solidFill>
                          <a:latin typeface="Arial"/>
                          <a:ea typeface="Arial"/>
                          <a:cs typeface="Arial"/>
                        </a:rPr>
                        <a:t>Dừng phát</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7F9FC"/>
                    </a:solidFill>
                  </a:tcPr>
                </a:tc>
                <a:tc>
                  <a:txBody>
                    <a:bodyPr/>
                    <a:lstStyle/>
                    <a:p>
                      <a:endParaRP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7F9FC"/>
                    </a:solidFill>
                  </a:tcPr>
                </a:tc>
              </a:tr>
              <a:tr h="516255">
                <a:tc>
                  <a:txBody>
                    <a:bodyPr/>
                    <a:lstStyle/>
                    <a:p>
                      <a:pPr algn="ctr">
                        <a:buNone/>
                      </a:pPr>
                      <a:r>
                        <a:rPr sz="1725" b="0">
                          <a:solidFill>
                            <a:srgbClr val="425672"/>
                          </a:solidFill>
                          <a:latin typeface="Arial"/>
                          <a:ea typeface="Arial"/>
                          <a:cs typeface="Arial"/>
                        </a:rPr>
                        <a:t>Shift / R2</a:t>
                      </a:r>
                    </a:p>
                  </a:txBody>
                  <a:tcPr marL="91440" marR="91440" marT="45720" marB="45720" anchor="ctr">
                    <a:lnL w="9525">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endParaRP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endParaRP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pPr algn="ctr">
                        <a:buNone/>
                      </a:pPr>
                      <a:r>
                        <a:rPr sz="1725" b="0">
                          <a:solidFill>
                            <a:srgbClr val="425672"/>
                          </a:solidFill>
                          <a:latin typeface="Arial"/>
                          <a:ea typeface="Arial"/>
                          <a:cs typeface="Arial"/>
                        </a:rPr>
                        <a:t>Term 1</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pPr algn="ctr">
                        <a:buNone/>
                      </a:pPr>
                      <a:r>
                        <a:rPr sz="1725" b="0">
                          <a:solidFill>
                            <a:srgbClr val="425672"/>
                          </a:solidFill>
                          <a:latin typeface="Arial"/>
                          <a:ea typeface="Arial"/>
                          <a:cs typeface="Arial"/>
                        </a:rPr>
                        <a:t>Term 2</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endParaRP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r>
              <a:tr h="516255">
                <a:tc>
                  <a:txBody>
                    <a:bodyPr/>
                    <a:lstStyle/>
                    <a:p>
                      <a:pPr algn="ctr">
                        <a:buNone/>
                      </a:pPr>
                      <a:r>
                        <a:rPr sz="1725" b="0">
                          <a:solidFill>
                            <a:srgbClr val="425672"/>
                          </a:solidFill>
                          <a:latin typeface="Arial"/>
                          <a:ea typeface="Arial"/>
                          <a:cs typeface="Arial"/>
                        </a:rPr>
                        <a:t>Accumulator</a:t>
                      </a:r>
                    </a:p>
                  </a:txBody>
                  <a:tcPr marL="91440" marR="91440" marT="45720" marB="45720" anchor="ctr">
                    <a:lnL w="9525">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7F9FC"/>
                    </a:solidFill>
                  </a:tcPr>
                </a:tc>
                <a:tc>
                  <a:txBody>
                    <a:bodyPr/>
                    <a:lstStyle/>
                    <a:p>
                      <a:endParaRP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7F9FC"/>
                    </a:solidFill>
                  </a:tcPr>
                </a:tc>
                <a:tc>
                  <a:txBody>
                    <a:bodyPr/>
                    <a:lstStyle/>
                    <a:p>
                      <a:endParaRP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7F9FC"/>
                    </a:solidFill>
                  </a:tcPr>
                </a:tc>
                <a:tc>
                  <a:txBody>
                    <a:bodyPr/>
                    <a:lstStyle/>
                    <a:p>
                      <a:endParaRP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7F9FC"/>
                    </a:solidFill>
                  </a:tcPr>
                </a:tc>
                <a:tc>
                  <a:txBody>
                    <a:bodyPr/>
                    <a:lstStyle/>
                    <a:p>
                      <a:pPr algn="ctr">
                        <a:buNone/>
                      </a:pPr>
                      <a:r>
                        <a:rPr sz="1725" b="0">
                          <a:solidFill>
                            <a:srgbClr val="425672"/>
                          </a:solidFill>
                          <a:latin typeface="Arial"/>
                          <a:ea typeface="Arial"/>
                          <a:cs typeface="Arial"/>
                        </a:rPr>
                        <a:t>Y + term 1</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7F9FC"/>
                    </a:solidFill>
                  </a:tcPr>
                </a:tc>
                <a:tc>
                  <a:txBody>
                    <a:bodyPr/>
                    <a:lstStyle/>
                    <a:p>
                      <a:pPr algn="ctr">
                        <a:buNone/>
                      </a:pPr>
                      <a:r>
                        <a:rPr sz="1725" b="0">
                          <a:solidFill>
                            <a:srgbClr val="425672"/>
                          </a:solidFill>
                          <a:latin typeface="Arial"/>
                          <a:ea typeface="Arial"/>
                          <a:cs typeface="Arial"/>
                        </a:rPr>
                        <a:t>+ term 2</a:t>
                      </a:r>
                    </a:p>
                    <a:p>
                      <a:pPr algn="ctr">
                        <a:buNone/>
                      </a:pPr>
                      <a:r>
                        <a:rPr sz="1725" b="0">
                          <a:solidFill>
                            <a:srgbClr val="425672"/>
                          </a:solidFill>
                          <a:latin typeface="Arial"/>
                          <a:ea typeface="Arial"/>
                          <a:cs typeface="Arial"/>
                        </a:rPr>
                        <a:t>done=1</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7F9FC"/>
                    </a:solidFill>
                  </a:tcPr>
                </a:tc>
              </a:tr>
            </a:tbl>
          </a:graphicData>
        </a:graphic>
      </p:graphicFrame>
      <p:sp>
        <p:nvSpPr>
          <p:cNvPr id="17" name="text-284">
            <a:extLst xmlns:a="http://schemas.openxmlformats.org/drawingml/2006/main">
              <a:ext uri="{FF2B5EF4-FFF2-40B4-BE49-F238E27FC236}">
                <a16:creationId xmlns:a16="http://schemas.microsoft.com/office/drawing/2014/main" id="{A3453A04-FBCF-4A8D-9EFD-75EB8FE56849}"/>
              </a:ext>
            </a:extLst>
          </p:cNvPr>
          <p:cNvSpPr>
            <a:spLocks xmlns:a="http://schemas.openxmlformats.org/drawingml/2006/main" noGrp="1"/>
          </p:cNvSpPr>
          <p:nvPr/>
        </p:nvSpPr>
        <p:spPr>
          <a:xfrm xmlns:a="http://schemas.openxmlformats.org/drawingml/2006/main">
            <a:off x="457200" y="58293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172B4D"/>
                </a:solidFill>
                <a:latin typeface="Arial"/>
                <a:ea typeface="Arial"/>
                <a:cs typeface="Arial"/>
              </a:defRPr>
            </a:defPPr>
          </a:lstStyle>
          <a:p xmlns:a="http://schemas.openxmlformats.org/drawingml/2006/main">
            <a:pPr algn="l">
              <a:buNone/>
              <a:defRPr sz="2025" b="1">
                <a:solidFill>
                  <a:srgbClr val="172B4D"/>
                </a:solidFill>
                <a:latin typeface="Arial"/>
                <a:ea typeface="Arial"/>
                <a:cs typeface="Arial"/>
              </a:defRPr>
            </a:pPr>
            <a:r>
              <a:rPr sz="2025" b="1">
                <a:solidFill>
                  <a:srgbClr val="172B4D"/>
                </a:solidFill>
                <a:latin typeface="Arial"/>
                <a:ea typeface="Arial"/>
                <a:cs typeface="Arial"/>
              </a:rPr>
              <a:t>core_done sau q + 2 cạnh từ launch, với q = max(1, số vòng thực tế)</a:t>
            </a:r>
          </a:p>
        </p:txBody>
      </p:sp>
      <p:sp>
        <p:nvSpPr>
          <p:cNvPr id="18" name="text-285">
            <a:extLst xmlns:a="http://schemas.openxmlformats.org/drawingml/2006/main">
              <a:ext uri="{FF2B5EF4-FFF2-40B4-BE49-F238E27FC236}">
                <a16:creationId xmlns:a16="http://schemas.microsoft.com/office/drawing/2014/main" id="{93892C33-4824-498C-961E-087C53A9EC22}"/>
              </a:ext>
            </a:extLst>
          </p:cNvPr>
          <p:cNvSpPr>
            <a:spLocks xmlns:a="http://schemas.openxmlformats.org/drawingml/2006/main" noGrp="1"/>
          </p:cNvSpPr>
          <p:nvPr/>
        </p:nvSpPr>
        <p:spPr>
          <a:xfrm xmlns:a="http://schemas.openxmlformats.org/drawingml/2006/main">
            <a:off x="457200" y="6191250"/>
            <a:ext cx="10496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3657D"/>
                </a:solidFill>
                <a:latin typeface="Arial"/>
                <a:ea typeface="Arial"/>
                <a:cs typeface="Arial"/>
              </a:defRPr>
            </a:defPPr>
          </a:lstStyle>
          <a:p xmlns:a="http://schemas.openxmlformats.org/drawingml/2006/main">
            <a:pPr algn="l">
              <a:buNone/>
              <a:defRPr sz="1725" b="0">
                <a:solidFill>
                  <a:srgbClr val="53657D"/>
                </a:solidFill>
                <a:latin typeface="Arial"/>
                <a:ea typeface="Arial"/>
                <a:cs typeface="Arial"/>
              </a:defRPr>
            </a:pPr>
            <a:r>
              <a:rPr sz="1725" b="0">
                <a:solidFill>
                  <a:srgbClr val="53657D"/>
                </a:solidFill>
                <a:latin typeface="Arial"/>
                <a:ea typeface="Arial"/>
                <a:cs typeface="Arial"/>
              </a:rPr>
              <a:t>n=0 vẫn đi qua token init_only. early-stop giảm số vòng. release_result nhả slot của core.</a:t>
            </a:r>
          </a:p>
        </p:txBody>
      </p:sp>
    </p:spTree>
    <p:extLst>
      <p:ext uri="{BB962C8B-B14F-4D97-AF65-F5344CB8AC3E}">
        <p14:creationId xmlns:p14="http://schemas.microsoft.com/office/powerpoint/2010/main" val="6873154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 name="wire-288">
            <a:extLst xmlns:a="http://schemas.openxmlformats.org/drawingml/2006/main">
              <a:ext uri="{FF2B5EF4-FFF2-40B4-BE49-F238E27FC236}">
                <a16:creationId xmlns:a16="http://schemas.microsoft.com/office/drawing/2014/main" id="{C624B543-E951-499E-8742-FB19971D6EE4}"/>
              </a:ext>
            </a:extLst>
          </p:cNvPr>
          <p:cNvCxnSpPr/>
          <p:nvPr/>
        </p:nvCxnSpPr>
        <p:spPr>
          <a:xfrm xmlns:a="http://schemas.openxmlformats.org/drawingml/2006/main">
            <a:off x="457200" y="1476375"/>
            <a:ext cx="11277600" cy="0"/>
          </a:xfrm>
          <a:prstGeom xmlns:a="http://schemas.openxmlformats.org/drawingml/2006/main" prst="straightConnector1">
            <a:avLst/>
          </a:prstGeom>
          <a:ln xmlns:a="http://schemas.openxmlformats.org/drawingml/2006/main" w="9525">
            <a:solidFill>
              <a:srgbClr val="CCD6E2"/>
            </a:solidFill>
            <a:prstDash val="solid"/>
            <a:tailEnd type="none" w="sm" len="sm"/>
          </a:ln>
        </p:spPr>
      </p:cxnSp>
      <p:sp>
        <p:nvSpPr>
          <p:cNvPr id="10" name="text-286">
            <a:extLst xmlns:a="http://schemas.openxmlformats.org/drawingml/2006/main">
              <a:ext uri="{FF2B5EF4-FFF2-40B4-BE49-F238E27FC236}">
                <a16:creationId xmlns:a16="http://schemas.microsoft.com/office/drawing/2014/main" id="{8874A553-F148-4F34-B757-62165FDBE441}"/>
              </a:ext>
            </a:extLst>
          </p:cNvPr>
          <p:cNvSpPr>
            <a:spLocks xmlns:a="http://schemas.openxmlformats.org/drawingml/2006/main" noGrp="1"/>
          </p:cNvSpPr>
          <p:nvPr/>
        </p:nvSpPr>
        <p:spPr>
          <a:xfrm xmlns:a="http://schemas.openxmlformats.org/drawingml/2006/main">
            <a:off x="457200" y="304800"/>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2B4D"/>
                </a:solidFill>
                <a:latin typeface="Arial"/>
                <a:ea typeface="Arial"/>
                <a:cs typeface="Arial"/>
              </a:defRPr>
            </a:defPPr>
          </a:lstStyle>
          <a:p xmlns:a="http://schemas.openxmlformats.org/drawingml/2006/main">
            <a:pPr algn="l">
              <a:buNone/>
              <a:defRPr sz="3300" b="1">
                <a:solidFill>
                  <a:srgbClr val="172B4D"/>
                </a:solidFill>
                <a:latin typeface="Arial"/>
                <a:ea typeface="Arial"/>
                <a:cs typeface="Arial"/>
              </a:defRPr>
            </a:pPr>
            <a:r>
              <a:rPr sz="3300" b="1">
                <a:solidFill>
                  <a:srgbClr val="172B4D"/>
                </a:solidFill>
                <a:latin typeface="Arial"/>
                <a:ea typeface="Arial"/>
                <a:cs typeface="Arial"/>
              </a:rPr>
              <a:t>Ví dụ 12 bit: hai vòng fraction</a:t>
            </a:r>
          </a:p>
        </p:txBody>
      </p:sp>
      <p:sp>
        <p:nvSpPr>
          <p:cNvPr id="2" name="text-287">
            <a:extLst xmlns:a="http://schemas.openxmlformats.org/drawingml/2006/main">
              <a:ext uri="{FF2B5EF4-FFF2-40B4-BE49-F238E27FC236}">
                <a16:creationId xmlns:a16="http://schemas.microsoft.com/office/drawing/2014/main" id="{C6B1F91B-EA14-4E22-916A-2EC6712DB583}"/>
              </a:ext>
            </a:extLst>
          </p:cNvPr>
          <p:cNvSpPr>
            <a:spLocks xmlns:a="http://schemas.openxmlformats.org/drawingml/2006/main" noGrp="1"/>
          </p:cNvSpPr>
          <p:nvPr/>
        </p:nvSpPr>
        <p:spPr>
          <a:xfrm xmlns:a="http://schemas.openxmlformats.org/drawingml/2006/main">
            <a:off x="457200" y="942975"/>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3657D"/>
                </a:solidFill>
                <a:latin typeface="Arial"/>
                <a:ea typeface="Arial"/>
                <a:cs typeface="Arial"/>
              </a:defRPr>
            </a:defPPr>
          </a:lstStyle>
          <a:p xmlns:a="http://schemas.openxmlformats.org/drawingml/2006/main">
            <a:pPr algn="l">
              <a:buNone/>
              <a:defRPr sz="1800" b="0">
                <a:solidFill>
                  <a:srgbClr val="53657D"/>
                </a:solidFill>
                <a:latin typeface="Arial"/>
                <a:ea typeface="Arial"/>
                <a:cs typeface="Arial"/>
              </a:defRPr>
            </a:pPr>
            <a:r>
              <a:rPr sz="1800" b="0">
                <a:solidFill>
                  <a:srgbClr val="53657D"/>
                </a:solidFill>
                <a:latin typeface="Arial"/>
                <a:ea typeface="Arial"/>
                <a:cs typeface="Arial"/>
              </a:rPr>
              <a:t>X = 1.010010000000₂        Y = 1.001000001000₂        n = 2</a:t>
            </a:r>
          </a:p>
        </p:txBody>
      </p:sp>
      <p:sp>
        <p:nvSpPr>
          <p:cNvPr id="4" name="text-289">
            <a:extLst xmlns:a="http://schemas.openxmlformats.org/drawingml/2006/main">
              <a:ext uri="{FF2B5EF4-FFF2-40B4-BE49-F238E27FC236}">
                <a16:creationId xmlns:a16="http://schemas.microsoft.com/office/drawing/2014/main" id="{44548C47-77F9-4E27-9D27-9AF34CF5F3FB}"/>
              </a:ext>
            </a:extLst>
          </p:cNvPr>
          <p:cNvSpPr>
            <a:spLocks xmlns:a="http://schemas.openxmlformats.org/drawingml/2006/main" noGrp="1"/>
          </p:cNvSpPr>
          <p:nvPr/>
        </p:nvSpPr>
        <p:spPr>
          <a:xfrm xmlns:a="http://schemas.openxmlformats.org/drawingml/2006/main">
            <a:off x="11001375" y="6429375"/>
            <a:ext cx="723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57D"/>
                </a:solidFill>
                <a:latin typeface="Arial"/>
                <a:ea typeface="Arial"/>
                <a:cs typeface="Arial"/>
              </a:defRPr>
            </a:defPPr>
          </a:lstStyle>
          <a:p xmlns:a="http://schemas.openxmlformats.org/drawingml/2006/main">
            <a:pPr algn="r">
              <a:buNone/>
              <a:defRPr sz="1350" b="0">
                <a:solidFill>
                  <a:srgbClr val="53657D"/>
                </a:solidFill>
                <a:latin typeface="Arial"/>
                <a:ea typeface="Arial"/>
                <a:cs typeface="Arial"/>
              </a:defRPr>
            </a:pPr>
            <a:r>
              <a:rPr sz="1350" b="0">
                <a:solidFill>
                  <a:srgbClr val="53657D"/>
                </a:solidFill>
                <a:latin typeface="Arial"/>
                <a:ea typeface="Arial"/>
                <a:cs typeface="Arial"/>
              </a:rPr>
              <a:t>7 / 7</a:t>
            </a:r>
          </a:p>
        </p:txBody>
      </p:sp>
      <p:sp>
        <p:nvSpPr>
          <p:cNvPr id="5" name="text-290">
            <a:extLst xmlns:a="http://schemas.openxmlformats.org/drawingml/2006/main">
              <a:ext uri="{FF2B5EF4-FFF2-40B4-BE49-F238E27FC236}">
                <a16:creationId xmlns:a16="http://schemas.microsoft.com/office/drawing/2014/main" id="{73289D93-6EF3-4C8C-A442-C1D3D99F8059}"/>
              </a:ext>
            </a:extLst>
          </p:cNvPr>
          <p:cNvSpPr>
            <a:spLocks xmlns:a="http://schemas.openxmlformats.org/drawingml/2006/main" noGrp="1"/>
          </p:cNvSpPr>
          <p:nvPr/>
        </p:nvSpPr>
        <p:spPr>
          <a:xfrm xmlns:a="http://schemas.openxmlformats.org/drawingml/2006/main">
            <a:off x="457200" y="17145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147D92"/>
                </a:solidFill>
                <a:latin typeface="Arial"/>
                <a:ea typeface="Arial"/>
                <a:cs typeface="Arial"/>
              </a:defRPr>
            </a:defPPr>
          </a:lstStyle>
          <a:p xmlns:a="http://schemas.openxmlformats.org/drawingml/2006/main">
            <a:pPr algn="l">
              <a:buNone/>
              <a:defRPr sz="1950" b="1">
                <a:solidFill>
                  <a:srgbClr val="147D92"/>
                </a:solidFill>
                <a:latin typeface="Arial"/>
                <a:ea typeface="Arial"/>
                <a:cs typeface="Arial"/>
              </a:defRPr>
            </a:pPr>
            <a:r>
              <a:rPr sz="1950" b="1">
                <a:solidFill>
                  <a:srgbClr val="147D92"/>
                </a:solidFill>
                <a:latin typeface="Arial"/>
                <a:ea typeface="Arial"/>
                <a:cs typeface="Arial"/>
              </a:rPr>
              <a:t>Popcount X = 2, popcount Y = 2. OPS hòa nên giữ A làm X.</a:t>
            </a:r>
          </a:p>
        </p:txBody>
      </p:sp>
      <p:graphicFrame>
        <p:nvGraphicFramePr>
          <p:cNvPr id="6" name="Table 5">
            <a:extLst xmlns:a="http://schemas.openxmlformats.org/drawingml/2006/main">
              <a:ext uri="{FF2B5EF4-FFF2-40B4-BE49-F238E27FC236}">
                <a16:creationId xmlns:a16="http://schemas.microsoft.com/office/drawing/2014/main" id="{47169981-85E7-41AD-B921-D22452877E2F}"/>
              </a:ext>
            </a:extLst>
          </p:cNvPr>
          <p:cNvGraphicFramePr/>
          <p:nvPr/>
        </p:nvGraphicFramePr>
        <p:xfrm>
          <a:off xmlns:a="http://schemas.openxmlformats.org/drawingml/2006/main" x="457200" y="2438400"/>
          <a:ext xmlns:a="http://schemas.openxmlformats.org/drawingml/2006/main" cx="11277600" cy="2333624"/>
        </p:xfrm>
        <a:graphic xmlns:a="http://schemas.openxmlformats.org/drawingml/2006/main">
          <a:graphicData uri="http://schemas.openxmlformats.org/drawingml/2006/table">
            <a:tbl>
              <a:tblPr/>
              <a:tblGrid>
                <a:gridCol w="1524000"/>
                <a:gridCol w="2686050"/>
                <a:gridCol w="857250"/>
                <a:gridCol w="857250"/>
                <a:gridCol w="857250"/>
                <a:gridCol w="2076450"/>
                <a:gridCol w="2419350"/>
              </a:tblGrid>
              <a:tr h="583406">
                <a:tc>
                  <a:txBody>
                    <a:bodyPr/>
                    <a:lstStyle/>
                    <a:p>
                      <a:pPr algn="ctr">
                        <a:buNone/>
                      </a:pPr>
                      <a:r>
                        <a:rPr sz="1800" b="1">
                          <a:solidFill>
                            <a:srgbClr val="172B4D"/>
                          </a:solidFill>
                          <a:latin typeface="Arial"/>
                          <a:ea typeface="Arial"/>
                          <a:cs typeface="Arial"/>
                        </a:rPr>
                        <a:t>Bước</a:t>
                      </a:r>
                    </a:p>
                  </a:txBody>
                  <a:tcPr marL="91440" marR="91440" marT="45720" marB="45720" anchor="ctr">
                    <a:lnL w="9525">
                      <a:solidFill>
                        <a:srgbClr val="CCD6E2"/>
                      </a:solidFill>
                      <a:prstDash val="solid"/>
                    </a:lnL>
                    <a:lnR w="9525">
                      <a:solidFill>
                        <a:srgbClr val="CCD6E2"/>
                      </a:solidFill>
                      <a:prstDash val="solid"/>
                    </a:lnR>
                    <a:lnT w="9525">
                      <a:solidFill>
                        <a:srgbClr val="CCD6E2"/>
                      </a:solidFill>
                      <a:prstDash val="solid"/>
                    </a:lnT>
                    <a:lnB w="9525">
                      <a:solidFill>
                        <a:srgbClr val="CCD6E2"/>
                      </a:solidFill>
                      <a:prstDash val="solid"/>
                    </a:lnB>
                    <a:solidFill>
                      <a:srgbClr val="FFF4DD"/>
                    </a:solidFill>
                  </a:tcPr>
                </a:tc>
                <a:tc>
                  <a:txBody>
                    <a:bodyPr/>
                    <a:lstStyle/>
                    <a:p>
                      <a:pPr algn="ctr">
                        <a:buNone/>
                      </a:pPr>
                      <a:r>
                        <a:rPr sz="1800" b="1">
                          <a:solidFill>
                            <a:srgbClr val="172B4D"/>
                          </a:solidFill>
                          <a:latin typeface="Arial"/>
                          <a:ea typeface="Arial"/>
                          <a:cs typeface="Arial"/>
                        </a:rPr>
                        <a:t>fx trước bước</a:t>
                      </a:r>
                    </a:p>
                  </a:txBody>
                  <a:tcPr marL="91440" marR="91440" marT="45720" marB="45720" anchor="ctr">
                    <a:lnL w="9525" cmpd="sng">
                      <a:solidFill>
                        <a:srgbClr val="CCD6E2"/>
                      </a:solidFill>
                      <a:prstDash val="solid"/>
                    </a:lnL>
                    <a:lnR w="9525">
                      <a:solidFill>
                        <a:srgbClr val="CCD6E2"/>
                      </a:solidFill>
                      <a:prstDash val="solid"/>
                    </a:lnR>
                    <a:lnT w="9525">
                      <a:solidFill>
                        <a:srgbClr val="CCD6E2"/>
                      </a:solidFill>
                      <a:prstDash val="solid"/>
                    </a:lnT>
                    <a:lnB w="9525">
                      <a:solidFill>
                        <a:srgbClr val="CCD6E2"/>
                      </a:solidFill>
                      <a:prstDash val="solid"/>
                    </a:lnB>
                    <a:solidFill>
                      <a:srgbClr val="FFF4DD"/>
                    </a:solidFill>
                  </a:tcPr>
                </a:tc>
                <a:tc>
                  <a:txBody>
                    <a:bodyPr/>
                    <a:lstStyle/>
                    <a:p>
                      <a:pPr algn="ctr">
                        <a:buNone/>
                      </a:pPr>
                      <a:r>
                        <a:rPr sz="1800" b="1">
                          <a:solidFill>
                            <a:srgbClr val="172B4D"/>
                          </a:solidFill>
                          <a:latin typeface="Arial"/>
                          <a:ea typeface="Arial"/>
                          <a:cs typeface="Arial"/>
                        </a:rPr>
                        <a:t>K</a:t>
                      </a:r>
                    </a:p>
                  </a:txBody>
                  <a:tcPr marL="91440" marR="91440" marT="45720" marB="45720" anchor="ctr">
                    <a:lnL w="9525" cmpd="sng">
                      <a:solidFill>
                        <a:srgbClr val="CCD6E2"/>
                      </a:solidFill>
                      <a:prstDash val="solid"/>
                    </a:lnL>
                    <a:lnR w="9525">
                      <a:solidFill>
                        <a:srgbClr val="CCD6E2"/>
                      </a:solidFill>
                      <a:prstDash val="solid"/>
                    </a:lnR>
                    <a:lnT w="9525">
                      <a:solidFill>
                        <a:srgbClr val="CCD6E2"/>
                      </a:solidFill>
                      <a:prstDash val="solid"/>
                    </a:lnT>
                    <a:lnB w="9525">
                      <a:solidFill>
                        <a:srgbClr val="CCD6E2"/>
                      </a:solidFill>
                      <a:prstDash val="solid"/>
                    </a:lnB>
                    <a:solidFill>
                      <a:srgbClr val="FFF4DD"/>
                    </a:solidFill>
                  </a:tcPr>
                </a:tc>
                <a:tc>
                  <a:txBody>
                    <a:bodyPr/>
                    <a:lstStyle/>
                    <a:p>
                      <a:pPr algn="ctr">
                        <a:buNone/>
                      </a:pPr>
                      <a:r>
                        <a:rPr sz="1800" b="1">
                          <a:solidFill>
                            <a:srgbClr val="172B4D"/>
                          </a:solidFill>
                          <a:latin typeface="Arial"/>
                          <a:ea typeface="Arial"/>
                          <a:cs typeface="Arial"/>
                        </a:rPr>
                        <a:t>sa</a:t>
                      </a:r>
                    </a:p>
                  </a:txBody>
                  <a:tcPr marL="91440" marR="91440" marT="45720" marB="45720" anchor="ctr">
                    <a:lnL w="9525" cmpd="sng">
                      <a:solidFill>
                        <a:srgbClr val="CCD6E2"/>
                      </a:solidFill>
                      <a:prstDash val="solid"/>
                    </a:lnL>
                    <a:lnR w="9525">
                      <a:solidFill>
                        <a:srgbClr val="CCD6E2"/>
                      </a:solidFill>
                      <a:prstDash val="solid"/>
                    </a:lnR>
                    <a:lnT w="9525">
                      <a:solidFill>
                        <a:srgbClr val="CCD6E2"/>
                      </a:solidFill>
                      <a:prstDash val="solid"/>
                    </a:lnT>
                    <a:lnB w="9525">
                      <a:solidFill>
                        <a:srgbClr val="CCD6E2"/>
                      </a:solidFill>
                      <a:prstDash val="solid"/>
                    </a:lnB>
                    <a:solidFill>
                      <a:srgbClr val="FFF4DD"/>
                    </a:solidFill>
                  </a:tcPr>
                </a:tc>
                <a:tc>
                  <a:txBody>
                    <a:bodyPr/>
                    <a:lstStyle/>
                    <a:p>
                      <a:pPr algn="ctr">
                        <a:buNone/>
                      </a:pPr>
                      <a:r>
                        <a:rPr sz="1800" b="1">
                          <a:solidFill>
                            <a:srgbClr val="172B4D"/>
                          </a:solidFill>
                          <a:latin typeface="Arial"/>
                          <a:ea typeface="Arial"/>
                          <a:cs typeface="Arial"/>
                        </a:rPr>
                        <a:t>S</a:t>
                      </a:r>
                    </a:p>
                  </a:txBody>
                  <a:tcPr marL="91440" marR="91440" marT="45720" marB="45720" anchor="ctr">
                    <a:lnL w="9525" cmpd="sng">
                      <a:solidFill>
                        <a:srgbClr val="CCD6E2"/>
                      </a:solidFill>
                      <a:prstDash val="solid"/>
                    </a:lnL>
                    <a:lnR w="9525">
                      <a:solidFill>
                        <a:srgbClr val="CCD6E2"/>
                      </a:solidFill>
                      <a:prstDash val="solid"/>
                    </a:lnR>
                    <a:lnT w="9525">
                      <a:solidFill>
                        <a:srgbClr val="CCD6E2"/>
                      </a:solidFill>
                      <a:prstDash val="solid"/>
                    </a:lnT>
                    <a:lnB w="9525">
                      <a:solidFill>
                        <a:srgbClr val="CCD6E2"/>
                      </a:solidFill>
                      <a:prstDash val="solid"/>
                    </a:lnB>
                    <a:solidFill>
                      <a:srgbClr val="FFF4DD"/>
                    </a:solidFill>
                  </a:tcPr>
                </a:tc>
                <a:tc>
                  <a:txBody>
                    <a:bodyPr/>
                    <a:lstStyle/>
                    <a:p>
                      <a:pPr algn="ctr">
                        <a:buNone/>
                      </a:pPr>
                      <a:r>
                        <a:rPr sz="1800" b="1">
                          <a:solidFill>
                            <a:srgbClr val="172B4D"/>
                          </a:solidFill>
                          <a:latin typeface="Arial"/>
                          <a:ea typeface="Arial"/>
                          <a:cs typeface="Arial"/>
                        </a:rPr>
                        <a:t>term Q12</a:t>
                      </a:r>
                    </a:p>
                  </a:txBody>
                  <a:tcPr marL="91440" marR="91440" marT="45720" marB="45720" anchor="ctr">
                    <a:lnL w="9525" cmpd="sng">
                      <a:solidFill>
                        <a:srgbClr val="CCD6E2"/>
                      </a:solidFill>
                      <a:prstDash val="solid"/>
                    </a:lnL>
                    <a:lnR w="9525">
                      <a:solidFill>
                        <a:srgbClr val="CCD6E2"/>
                      </a:solidFill>
                      <a:prstDash val="solid"/>
                    </a:lnR>
                    <a:lnT w="9525">
                      <a:solidFill>
                        <a:srgbClr val="CCD6E2"/>
                      </a:solidFill>
                      <a:prstDash val="solid"/>
                    </a:lnT>
                    <a:lnB w="9525">
                      <a:solidFill>
                        <a:srgbClr val="CCD6E2"/>
                      </a:solidFill>
                      <a:prstDash val="solid"/>
                    </a:lnB>
                    <a:solidFill>
                      <a:srgbClr val="FFF4DD"/>
                    </a:solidFill>
                  </a:tcPr>
                </a:tc>
                <a:tc>
                  <a:txBody>
                    <a:bodyPr/>
                    <a:lstStyle/>
                    <a:p>
                      <a:pPr algn="ctr">
                        <a:buNone/>
                      </a:pPr>
                      <a:r>
                        <a:rPr sz="1800" b="1">
                          <a:solidFill>
                            <a:srgbClr val="172B4D"/>
                          </a:solidFill>
                          <a:latin typeface="Arial"/>
                          <a:ea typeface="Arial"/>
                          <a:cs typeface="Arial"/>
                        </a:rPr>
                        <a:t>acc Q12</a:t>
                      </a:r>
                    </a:p>
                  </a:txBody>
                  <a:tcPr marL="91440" marR="91440" marT="45720" marB="45720" anchor="ctr">
                    <a:lnL w="9525" cmpd="sng">
                      <a:solidFill>
                        <a:srgbClr val="CCD6E2"/>
                      </a:solidFill>
                      <a:prstDash val="solid"/>
                    </a:lnL>
                    <a:lnR w="9525">
                      <a:solidFill>
                        <a:srgbClr val="CCD6E2"/>
                      </a:solidFill>
                      <a:prstDash val="solid"/>
                    </a:lnR>
                    <a:lnT w="9525">
                      <a:solidFill>
                        <a:srgbClr val="CCD6E2"/>
                      </a:solidFill>
                      <a:prstDash val="solid"/>
                    </a:lnT>
                    <a:lnB w="9525">
                      <a:solidFill>
                        <a:srgbClr val="CCD6E2"/>
                      </a:solidFill>
                      <a:prstDash val="solid"/>
                    </a:lnB>
                    <a:solidFill>
                      <a:srgbClr val="FFF4DD"/>
                    </a:solidFill>
                  </a:tcPr>
                </a:tc>
              </a:tr>
              <a:tr h="583406">
                <a:tc>
                  <a:txBody>
                    <a:bodyPr/>
                    <a:lstStyle/>
                    <a:p>
                      <a:pPr algn="ctr">
                        <a:buNone/>
                      </a:pPr>
                      <a:r>
                        <a:rPr sz="1800" b="0">
                          <a:solidFill>
                            <a:srgbClr val="425672"/>
                          </a:solidFill>
                          <a:latin typeface="Arial"/>
                          <a:ea typeface="Arial"/>
                          <a:cs typeface="Arial"/>
                        </a:rPr>
                        <a:t>Y_base</a:t>
                      </a:r>
                    </a:p>
                  </a:txBody>
                  <a:tcPr marL="91440" marR="91440" marT="45720" marB="45720" anchor="ctr">
                    <a:lnL w="9525">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pPr algn="ctr">
                        <a:buNone/>
                      </a:pPr>
                      <a:r>
                        <a:rPr sz="1800" b="0">
                          <a:solidFill>
                            <a:srgbClr val="425672"/>
                          </a:solidFill>
                          <a:latin typeface="Arial"/>
                          <a:ea typeface="Arial"/>
                          <a:cs typeface="Arial"/>
                        </a:rPr>
                        <a:t>010010000000</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pPr algn="ctr">
                        <a:buNone/>
                      </a:pPr>
                      <a:r>
                        <a:rPr sz="1800" b="0">
                          <a:solidFill>
                            <a:srgbClr val="425672"/>
                          </a:solidFill>
                          <a:latin typeface="Arial"/>
                          <a:ea typeface="Arial"/>
                          <a:cs typeface="Arial"/>
                        </a:rPr>
                        <a:t>—</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pPr algn="ctr">
                        <a:buNone/>
                      </a:pPr>
                      <a:r>
                        <a:rPr sz="1800" b="0">
                          <a:solidFill>
                            <a:srgbClr val="425672"/>
                          </a:solidFill>
                          <a:latin typeface="Arial"/>
                          <a:ea typeface="Arial"/>
                          <a:cs typeface="Arial"/>
                        </a:rPr>
                        <a:t>—</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pPr algn="ctr">
                        <a:buNone/>
                      </a:pPr>
                      <a:r>
                        <a:rPr sz="1800" b="0">
                          <a:solidFill>
                            <a:srgbClr val="425672"/>
                          </a:solidFill>
                          <a:latin typeface="Arial"/>
                          <a:ea typeface="Arial"/>
                          <a:cs typeface="Arial"/>
                        </a:rPr>
                        <a:t>0</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pPr algn="ctr">
                        <a:buNone/>
                      </a:pPr>
                      <a:r>
                        <a:rPr sz="1800" b="0">
                          <a:solidFill>
                            <a:srgbClr val="425672"/>
                          </a:solidFill>
                          <a:latin typeface="Arial"/>
                          <a:ea typeface="Arial"/>
                          <a:cs typeface="Arial"/>
                        </a:rPr>
                        <a:t>—</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pPr algn="ctr">
                        <a:buNone/>
                      </a:pPr>
                      <a:r>
                        <a:rPr sz="1800" b="0">
                          <a:solidFill>
                            <a:srgbClr val="425672"/>
                          </a:solidFill>
                          <a:latin typeface="Arial"/>
                          <a:ea typeface="Arial"/>
                          <a:cs typeface="Arial"/>
                        </a:rPr>
                        <a:t>4616</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r>
              <a:tr h="583406">
                <a:tc>
                  <a:txBody>
                    <a:bodyPr/>
                    <a:lstStyle/>
                    <a:p>
                      <a:pPr algn="ctr">
                        <a:buNone/>
                      </a:pPr>
                      <a:r>
                        <a:rPr sz="1800" b="0">
                          <a:solidFill>
                            <a:srgbClr val="425672"/>
                          </a:solidFill>
                          <a:latin typeface="Arial"/>
                          <a:ea typeface="Arial"/>
                          <a:cs typeface="Arial"/>
                        </a:rPr>
                        <a:t>Vòng 1</a:t>
                      </a:r>
                    </a:p>
                  </a:txBody>
                  <a:tcPr marL="91440" marR="91440" marT="45720" marB="45720" anchor="ctr">
                    <a:lnL w="9525">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7F9FC"/>
                    </a:solidFill>
                  </a:tcPr>
                </a:tc>
                <a:tc>
                  <a:txBody>
                    <a:bodyPr/>
                    <a:lstStyle/>
                    <a:p>
                      <a:pPr algn="ctr">
                        <a:buNone/>
                      </a:pPr>
                      <a:r>
                        <a:rPr sz="1800" b="0">
                          <a:solidFill>
                            <a:srgbClr val="425672"/>
                          </a:solidFill>
                          <a:latin typeface="Arial"/>
                          <a:ea typeface="Arial"/>
                          <a:cs typeface="Arial"/>
                        </a:rPr>
                        <a:t>010010000000</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7F9FC"/>
                    </a:solidFill>
                  </a:tcPr>
                </a:tc>
                <a:tc>
                  <a:txBody>
                    <a:bodyPr/>
                    <a:lstStyle/>
                    <a:p>
                      <a:pPr algn="ctr">
                        <a:buNone/>
                      </a:pPr>
                      <a:r>
                        <a:rPr sz="1800" b="0">
                          <a:solidFill>
                            <a:srgbClr val="425672"/>
                          </a:solidFill>
                          <a:latin typeface="Arial"/>
                          <a:ea typeface="Arial"/>
                          <a:cs typeface="Arial"/>
                        </a:rPr>
                        <a:t>1</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7F9FC"/>
                    </a:solidFill>
                  </a:tcPr>
                </a:tc>
                <a:tc>
                  <a:txBody>
                    <a:bodyPr/>
                    <a:lstStyle/>
                    <a:p>
                      <a:pPr algn="ctr">
                        <a:buNone/>
                      </a:pPr>
                      <a:r>
                        <a:rPr sz="1800" b="0">
                          <a:solidFill>
                            <a:srgbClr val="425672"/>
                          </a:solidFill>
                          <a:latin typeface="Arial"/>
                          <a:ea typeface="Arial"/>
                          <a:cs typeface="Arial"/>
                        </a:rPr>
                        <a:t>2</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7F9FC"/>
                    </a:solidFill>
                  </a:tcPr>
                </a:tc>
                <a:tc>
                  <a:txBody>
                    <a:bodyPr/>
                    <a:lstStyle/>
                    <a:p>
                      <a:pPr algn="ctr">
                        <a:buNone/>
                      </a:pPr>
                      <a:r>
                        <a:rPr sz="1800" b="0">
                          <a:solidFill>
                            <a:srgbClr val="425672"/>
                          </a:solidFill>
                          <a:latin typeface="Arial"/>
                          <a:ea typeface="Arial"/>
                          <a:cs typeface="Arial"/>
                        </a:rPr>
                        <a:t>2</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7F9FC"/>
                    </a:solidFill>
                  </a:tcPr>
                </a:tc>
                <a:tc>
                  <a:txBody>
                    <a:bodyPr/>
                    <a:lstStyle/>
                    <a:p>
                      <a:pPr algn="ctr">
                        <a:buNone/>
                      </a:pPr>
                      <a:r>
                        <a:rPr sz="1800" b="0">
                          <a:solidFill>
                            <a:srgbClr val="425672"/>
                          </a:solidFill>
                          <a:latin typeface="Arial"/>
                          <a:ea typeface="Arial"/>
                          <a:cs typeface="Arial"/>
                        </a:rPr>
                        <a:t>1154</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7F9FC"/>
                    </a:solidFill>
                  </a:tcPr>
                </a:tc>
                <a:tc>
                  <a:txBody>
                    <a:bodyPr/>
                    <a:lstStyle/>
                    <a:p>
                      <a:pPr algn="ctr">
                        <a:buNone/>
                      </a:pPr>
                      <a:r>
                        <a:rPr sz="1800" b="0">
                          <a:solidFill>
                            <a:srgbClr val="425672"/>
                          </a:solidFill>
                          <a:latin typeface="Arial"/>
                          <a:ea typeface="Arial"/>
                          <a:cs typeface="Arial"/>
                        </a:rPr>
                        <a:t>5770</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7F9FC"/>
                    </a:solidFill>
                  </a:tcPr>
                </a:tc>
              </a:tr>
              <a:tr h="583406">
                <a:tc>
                  <a:txBody>
                    <a:bodyPr/>
                    <a:lstStyle/>
                    <a:p>
                      <a:pPr algn="ctr">
                        <a:buNone/>
                      </a:pPr>
                      <a:r>
                        <a:rPr sz="1800" b="0">
                          <a:solidFill>
                            <a:srgbClr val="425672"/>
                          </a:solidFill>
                          <a:latin typeface="Arial"/>
                          <a:ea typeface="Arial"/>
                          <a:cs typeface="Arial"/>
                        </a:rPr>
                        <a:t>Vòng 2</a:t>
                      </a:r>
                    </a:p>
                  </a:txBody>
                  <a:tcPr marL="91440" marR="91440" marT="45720" marB="45720" anchor="ctr">
                    <a:lnL w="9525">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pPr algn="ctr">
                        <a:buNone/>
                      </a:pPr>
                      <a:r>
                        <a:rPr sz="1800" b="0">
                          <a:solidFill>
                            <a:srgbClr val="425672"/>
                          </a:solidFill>
                          <a:latin typeface="Arial"/>
                          <a:ea typeface="Arial"/>
                          <a:cs typeface="Arial"/>
                        </a:rPr>
                        <a:t>001000000000</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pPr algn="ctr">
                        <a:buNone/>
                      </a:pPr>
                      <a:r>
                        <a:rPr sz="1800" b="0">
                          <a:solidFill>
                            <a:srgbClr val="425672"/>
                          </a:solidFill>
                          <a:latin typeface="Arial"/>
                          <a:ea typeface="Arial"/>
                          <a:cs typeface="Arial"/>
                        </a:rPr>
                        <a:t>2</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pPr algn="ctr">
                        <a:buNone/>
                      </a:pPr>
                      <a:r>
                        <a:rPr sz="1800" b="0">
                          <a:solidFill>
                            <a:srgbClr val="425672"/>
                          </a:solidFill>
                          <a:latin typeface="Arial"/>
                          <a:ea typeface="Arial"/>
                          <a:cs typeface="Arial"/>
                        </a:rPr>
                        <a:t>3</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pPr algn="ctr">
                        <a:buNone/>
                      </a:pPr>
                      <a:r>
                        <a:rPr sz="1800" b="0">
                          <a:solidFill>
                            <a:srgbClr val="425672"/>
                          </a:solidFill>
                          <a:latin typeface="Arial"/>
                          <a:ea typeface="Arial"/>
                          <a:cs typeface="Arial"/>
                        </a:rPr>
                        <a:t>5</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pPr algn="ctr">
                        <a:buNone/>
                      </a:pPr>
                      <a:r>
                        <a:rPr sz="1800" b="0">
                          <a:solidFill>
                            <a:srgbClr val="425672"/>
                          </a:solidFill>
                          <a:latin typeface="Arial"/>
                          <a:ea typeface="Arial"/>
                          <a:cs typeface="Arial"/>
                        </a:rPr>
                        <a:t>144</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c>
                  <a:txBody>
                    <a:bodyPr/>
                    <a:lstStyle/>
                    <a:p>
                      <a:pPr algn="ctr">
                        <a:buNone/>
                      </a:pPr>
                      <a:r>
                        <a:rPr sz="1800" b="0">
                          <a:solidFill>
                            <a:srgbClr val="425672"/>
                          </a:solidFill>
                          <a:latin typeface="Arial"/>
                          <a:ea typeface="Arial"/>
                          <a:cs typeface="Arial"/>
                        </a:rPr>
                        <a:t>5914</a:t>
                      </a:r>
                    </a:p>
                  </a:txBody>
                  <a:tcPr marL="91440" marR="91440" marT="45720" marB="45720" anchor="ctr">
                    <a:lnL w="9525" cmpd="sng">
                      <a:solidFill>
                        <a:srgbClr val="CCD6E2"/>
                      </a:solidFill>
                      <a:prstDash val="solid"/>
                    </a:lnL>
                    <a:lnR w="9525">
                      <a:solidFill>
                        <a:srgbClr val="CCD6E2"/>
                      </a:solidFill>
                      <a:prstDash val="solid"/>
                    </a:lnR>
                    <a:lnT w="9525" cmpd="sng">
                      <a:solidFill>
                        <a:srgbClr val="CCD6E2"/>
                      </a:solidFill>
                      <a:prstDash val="solid"/>
                    </a:lnT>
                    <a:lnB w="9525">
                      <a:solidFill>
                        <a:srgbClr val="CCD6E2"/>
                      </a:solidFill>
                      <a:prstDash val="solid"/>
                    </a:lnB>
                    <a:solidFill>
                      <a:srgbClr val="FFFFFF"/>
                    </a:solidFill>
                  </a:tcPr>
                </a:tc>
              </a:tr>
            </a:tbl>
          </a:graphicData>
        </a:graphic>
      </p:graphicFrame>
      <p:sp>
        <p:nvSpPr>
          <p:cNvPr id="7" name="text-291">
            <a:extLst xmlns:a="http://schemas.openxmlformats.org/drawingml/2006/main">
              <a:ext uri="{FF2B5EF4-FFF2-40B4-BE49-F238E27FC236}">
                <a16:creationId xmlns:a16="http://schemas.microsoft.com/office/drawing/2014/main" id="{5CBA9D7B-79B9-4295-B5BA-5C4DA5840663}"/>
              </a:ext>
            </a:extLst>
          </p:cNvPr>
          <p:cNvSpPr>
            <a:spLocks xmlns:a="http://schemas.openxmlformats.org/drawingml/2006/main" noGrp="1"/>
          </p:cNvSpPr>
          <p:nvPr/>
        </p:nvSpPr>
        <p:spPr>
          <a:xfrm xmlns:a="http://schemas.openxmlformats.org/drawingml/2006/main">
            <a:off x="457200" y="50196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6943B9"/>
                </a:solidFill>
                <a:latin typeface="Arial"/>
                <a:ea typeface="Arial"/>
                <a:cs typeface="Arial"/>
              </a:defRPr>
            </a:defPPr>
          </a:lstStyle>
          <a:p xmlns:a="http://schemas.openxmlformats.org/drawingml/2006/main">
            <a:pPr algn="l">
              <a:buNone/>
              <a:defRPr sz="1950" b="1">
                <a:solidFill>
                  <a:srgbClr val="6943B9"/>
                </a:solidFill>
                <a:latin typeface="Arial"/>
                <a:ea typeface="Arial"/>
                <a:cs typeface="Arial"/>
              </a:defRPr>
            </a:pPr>
            <a:r>
              <a:rPr sz="1950" b="1">
                <a:solidFill>
                  <a:srgbClr val="6943B9"/>
                </a:solidFill>
                <a:latin typeface="Arial"/>
                <a:ea typeface="Arial"/>
                <a:cs typeface="Arial"/>
              </a:rPr>
              <a:t>Vòng 2: 4616 / 32 = 144,25. FLOOR giữ 144 và báo term_tail=1.</a:t>
            </a:r>
          </a:p>
        </p:txBody>
      </p:sp>
      <p:sp>
        <p:nvSpPr>
          <p:cNvPr id="8" name="text-292">
            <a:extLst xmlns:a="http://schemas.openxmlformats.org/drawingml/2006/main">
              <a:ext uri="{FF2B5EF4-FFF2-40B4-BE49-F238E27FC236}">
                <a16:creationId xmlns:a16="http://schemas.microsoft.com/office/drawing/2014/main" id="{17F1AEB3-61A1-4C2C-AE5D-15C7E4564A91}"/>
              </a:ext>
            </a:extLst>
          </p:cNvPr>
          <p:cNvSpPr>
            <a:spLocks xmlns:a="http://schemas.openxmlformats.org/drawingml/2006/main" noGrp="1"/>
          </p:cNvSpPr>
          <p:nvPr/>
        </p:nvSpPr>
        <p:spPr>
          <a:xfrm xmlns:a="http://schemas.openxmlformats.org/drawingml/2006/main">
            <a:off x="457200" y="55435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172B4D"/>
                </a:solidFill>
                <a:latin typeface="Arial"/>
                <a:ea typeface="Arial"/>
                <a:cs typeface="Arial"/>
              </a:defRPr>
            </a:defPPr>
          </a:lstStyle>
          <a:p xmlns:a="http://schemas.openxmlformats.org/drawingml/2006/main">
            <a:pPr algn="l">
              <a:buNone/>
              <a:defRPr sz="2400" b="1">
                <a:solidFill>
                  <a:srgbClr val="172B4D"/>
                </a:solidFill>
                <a:latin typeface="Arial"/>
                <a:ea typeface="Arial"/>
                <a:cs typeface="Arial"/>
              </a:defRPr>
            </a:pPr>
            <a:r>
              <a:rPr sz="2400" b="1">
                <a:solidFill>
                  <a:srgbClr val="172B4D"/>
                </a:solidFill>
                <a:latin typeface="Arial"/>
                <a:ea typeface="Arial"/>
                <a:cs typeface="Arial"/>
              </a:rPr>
              <a:t>P_hat = 5914 / 4096 = 1,44384765625</a:t>
            </a:r>
          </a:p>
        </p:txBody>
      </p:sp>
      <p:sp>
        <p:nvSpPr>
          <p:cNvPr id="9" name="text-293">
            <a:extLst xmlns:a="http://schemas.openxmlformats.org/drawingml/2006/main">
              <a:ext uri="{FF2B5EF4-FFF2-40B4-BE49-F238E27FC236}">
                <a16:creationId xmlns:a16="http://schemas.microsoft.com/office/drawing/2014/main" id="{E3B82DAB-CD15-4C43-BB53-F2DFC5B0CCB8}"/>
              </a:ext>
            </a:extLst>
          </p:cNvPr>
          <p:cNvSpPr>
            <a:spLocks xmlns:a="http://schemas.openxmlformats.org/drawingml/2006/main" noGrp="1"/>
          </p:cNvSpPr>
          <p:nvPr/>
        </p:nvSpPr>
        <p:spPr>
          <a:xfrm xmlns:a="http://schemas.openxmlformats.org/drawingml/2006/main">
            <a:off x="457200" y="6057900"/>
            <a:ext cx="10725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3657D"/>
                </a:solidFill>
                <a:latin typeface="Arial"/>
                <a:ea typeface="Arial"/>
                <a:cs typeface="Arial"/>
              </a:defRPr>
            </a:defPPr>
          </a:lstStyle>
          <a:p xmlns:a="http://schemas.openxmlformats.org/drawingml/2006/main">
            <a:pPr algn="l">
              <a:buNone/>
              <a:defRPr sz="1800" b="0">
                <a:solidFill>
                  <a:srgbClr val="53657D"/>
                </a:solidFill>
                <a:latin typeface="Arial"/>
                <a:ea typeface="Arial"/>
                <a:cs typeface="Arial"/>
              </a:defRPr>
            </a:pPr>
            <a:r>
              <a:rPr sz="1800" b="0">
                <a:solidFill>
                  <a:srgbClr val="53657D"/>
                </a:solidFill>
                <a:latin typeface="Arial"/>
                <a:ea typeface="Arial"/>
                <a:cs typeface="Arial"/>
              </a:rPr>
              <a:t>fx_next = 0: kết thúc quét fraction. Normalize và RNE tích tiếp tục sau core_done.</a:t>
            </a:r>
          </a:p>
        </p:txBody>
      </p:sp>
    </p:spTree>
    <p:extLst>
      <p:ext uri="{BB962C8B-B14F-4D97-AF65-F5344CB8AC3E}">
        <p14:creationId xmlns:p14="http://schemas.microsoft.com/office/powerpoint/2010/main" val="1397497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2026-10-14T16:37:45.3760000Z</dcterms:created>
  <dcterms:modified xsi:type="dcterms:W3CDTF">2026-10-14T16:37:45.3760000Z</dcterms:modified>
</coreProperties>
</file>