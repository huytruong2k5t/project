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47b43c05674d8c" /><Relationship Type="http://schemas.openxmlformats.org/officeDocument/2006/relationships/extended-properties" Target="/docProps/app.xml" Id="R5075455b8ea5464c" /><Relationship Type="http://schemas.openxmlformats.org/officeDocument/2006/relationships/officeDocument" Target="/ppt/presentation.xml" Id="R88193ef2de2d4c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01cbb95af84a62"/>
  </p:sldMasterIdLst>
  <p:notesMasterIdLst>
    <p:notesMasterId xmlns:r="http://schemas.openxmlformats.org/officeDocument/2006/relationships" r:id="Rc3b21606681842e6"/>
  </p:notesMasterIdLst>
  <p:sldIdLst>
    <p:sldId xmlns:r="http://schemas.openxmlformats.org/officeDocument/2006/relationships" id="256" r:id="R865b919ea9d346d7"/>
    <p:sldId xmlns:r="http://schemas.openxmlformats.org/officeDocument/2006/relationships" id="257" r:id="R6f6c8a26f3324d18"/>
    <p:sldId xmlns:r="http://schemas.openxmlformats.org/officeDocument/2006/relationships" id="258" r:id="R73df2331b0864546"/>
    <p:sldId xmlns:r="http://schemas.openxmlformats.org/officeDocument/2006/relationships" id="259" r:id="R2dfe175aa1ac4cac"/>
    <p:sldId xmlns:r="http://schemas.openxmlformats.org/officeDocument/2006/relationships" id="260" r:id="R5356fdf911bb4828"/>
    <p:sldId xmlns:r="http://schemas.openxmlformats.org/officeDocument/2006/relationships" id="261" r:id="R5b4dc2e0b6bd4a9d"/>
    <p:sldId xmlns:r="http://schemas.openxmlformats.org/officeDocument/2006/relationships" id="262" r:id="R56dca927514143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49f712f18d466e" /><Relationship Type="http://schemas.openxmlformats.org/officeDocument/2006/relationships/slideMaster" Target="/ppt/slideMasters/slideMaster1.xml" Id="R0e01cbb95af84a62" /><Relationship Type="http://schemas.openxmlformats.org/officeDocument/2006/relationships/notesMaster" Target="/ppt/notesMasters/notesMaster1.xml" Id="Rc3b21606681842e6" /><Relationship Type="http://schemas.openxmlformats.org/officeDocument/2006/relationships/presProps" Target="/ppt/presProps.xml" Id="Raf559502fede4fd8" /><Relationship Type="http://schemas.openxmlformats.org/officeDocument/2006/relationships/tableStyles" Target="/ppt/tableStyles.xml" Id="R72efe78059f44336" /><Relationship Type="http://schemas.openxmlformats.org/officeDocument/2006/relationships/slide" Target="/ppt/slides/slide1.xml" Id="R865b919ea9d346d7" /><Relationship Type="http://schemas.openxmlformats.org/officeDocument/2006/relationships/slide" Target="/ppt/slides/slide2.xml" Id="R6f6c8a26f3324d18" /><Relationship Type="http://schemas.openxmlformats.org/officeDocument/2006/relationships/slide" Target="/ppt/slides/slide3.xml" Id="R73df2331b0864546" /><Relationship Type="http://schemas.openxmlformats.org/officeDocument/2006/relationships/slide" Target="/ppt/slides/slide4.xml" Id="R2dfe175aa1ac4cac" /><Relationship Type="http://schemas.openxmlformats.org/officeDocument/2006/relationships/slide" Target="/ppt/slides/slide5.xml" Id="R5356fdf911bb4828" /><Relationship Type="http://schemas.openxmlformats.org/officeDocument/2006/relationships/slide" Target="/ppt/slides/slide6.xml" Id="R5b4dc2e0b6bd4a9d" /><Relationship Type="http://schemas.openxmlformats.org/officeDocument/2006/relationships/slide" Target="/ppt/slides/slide7.xml" Id="R56dca927514143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5ca8f3f24241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c5f6ac6f4c48cd" /><Relationship Type="http://schemas.openxmlformats.org/officeDocument/2006/relationships/notesMaster" Target="/ppt/notesMasters/notesMaster1.xml" Id="R980c65bb8fae4f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eeb39fd29a4ed4" /><Relationship Type="http://schemas.openxmlformats.org/officeDocument/2006/relationships/notesMaster" Target="/ppt/notesMasters/notesMaster1.xml" Id="R0e745df1c18c49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e796c46f8a4075" /><Relationship Type="http://schemas.openxmlformats.org/officeDocument/2006/relationships/notesMaster" Target="/ppt/notesMasters/notesMaster1.xml" Id="R52024dd6d57146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7fc2778d244032" /><Relationship Type="http://schemas.openxmlformats.org/officeDocument/2006/relationships/notesMaster" Target="/ppt/notesMasters/notesMaster1.xml" Id="R56f901550efd41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1702416db5d4645" /><Relationship Type="http://schemas.openxmlformats.org/officeDocument/2006/relationships/notesMaster" Target="/ppt/notesMasters/notesMaster1.xml" Id="R4d909c4f68c141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f60264cec7457c" /><Relationship Type="http://schemas.openxmlformats.org/officeDocument/2006/relationships/notesMaster" Target="/ppt/notesMasters/notesMaster1.xml" Id="R50cf8a88294447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efda91ae8c4701" /><Relationship Type="http://schemas.openxmlformats.org/officeDocument/2006/relationships/notesMaster" Target="/ppt/notesMasters/notesMaster1.xml" Id="R6eb640820f0c43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OPS là Operand Selector. SAC là Shift Amount Calculator. SBM là Shift-Based Multiplier. S là lượng dịch tích lũy, khác scale factor sf của Posit. Sơ đồ tổng rút gọn R0 thành bank context gồm y_q, mode/sign/sf và state SAC. R1 nằm trong iter_ctrl, R2 là t2_term và token trong mul_iter_core, L3 là acc trong sbm_accum. Các thanh ghi cùng clock. Y đi thẳng tới shifter và giữ ổn định cho toàn giao dịch. Core xử lý một giao dịch và giải phóng khi release_result; không có FIFO chồng lấn transaction. Công thức là trên mantissa/lưới FLOOR, dấu và sf được ghép sau core. ACC_W32/3=54 với EXACT_EN=1, dù payload approx chỉ16 bit.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Nguồn RTL và hợp đồng:</a:t>
            </a:r>
          </a:p>
          <a:p xmlns:a="http://schemas.openxmlformats.org/drawingml/2006/main">
            <a:r>
              <a:t>C:\HCMUT\HK261\Do an 2\Posit_MAC\rtl\ops_sel_comb.sv</a:t>
            </a:r>
          </a:p>
          <a:p xmlns:a="http://schemas.openxmlformats.org/drawingml/2006/main">
            <a:r>
              <a:t>C:\HCMUT\HK261\Do an 2\Posit_MAC\rtl\iter_ctrl.sv</a:t>
            </a:r>
          </a:p>
          <a:p xmlns:a="http://schemas.openxmlformats.org/drawingml/2006/main">
            <a:r>
              <a:t>C:\HCMUT\HK261\Do an 2\Posit_MAC\rtl\mul_iter_core.sv</a:t>
            </a:r>
          </a:p>
          <a:p xmlns:a="http://schemas.openxmlformats.org/drawingml/2006/main">
            <a:r>
              <a:t>C:\HCMUT\HK261\Do an 2\Posit_MAC\rtl\sbm_shift_comb.sv</a:t>
            </a:r>
          </a:p>
          <a:p xmlns:a="http://schemas.openxmlformats.org/drawingml/2006/main">
            <a:r>
              <a:t>C:\HCMUT\HK261\Do an 2\Posit_MAC\rtl\sbm_accum.sv</a:t>
            </a:r>
          </a:p>
          <a:p xmlns:a="http://schemas.openxmlformats.org/drawingml/2006/main">
            <a:r>
              <a:t>C:\HCMUT\HK261\Do an 2\Posit_MAC\SPEC_Posit_MAC_IP.md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OPS là khối tổ hợp, không chứa bank M0. Trong approx, cắt12 MSB rồi đặt vào12 LSB của vector26 bit effective, phần cao bằng0. Popcount đếm vector effective này. PAD_N=32 cho F26, hai cây count5 tầng logic cộng. cfg_ops0 luôn X=A; cfg_ops1 chọnB chỉ khi countB&lt;countA. Hai mux chọn X và Y ngược nhau, nên Y là toán hạng còn lại. Y hidden ở vị trí12 khi approx và26 khi exact, output27 bit. input_cut OR các bit thấp bị bỏ của A/B. sf là11 bit signed cho profile32/3. Các input cfg reserved bị wrapper từ chối. Sơ đồ chỉ vẽ datapath chính và nêu sign/sf ở dưới.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Nguồn RTL và hợp đồng:</a:t>
            </a:r>
          </a:p>
          <a:p xmlns:a="http://schemas.openxmlformats.org/drawingml/2006/main">
            <a:r>
              <a:t>C:\HCMUT\HK261\Do an 2\Posit_MAC\rtl\ops_sel_comb.sv</a:t>
            </a:r>
          </a:p>
          <a:p xmlns:a="http://schemas.openxmlformats.org/drawingml/2006/main">
            <a:r>
              <a:t>C:\HCMUT\HK261\Do an 2\Posit_MAC\rtl\mac_nf_wrapper.sv</a:t>
            </a:r>
          </a:p>
          <a:p xmlns:a="http://schemas.openxmlformats.org/drawingml/2006/main">
            <a:r>
              <a:t>C:\HCMUT\HK261\Do an 2\Posit_MAC\SPEC_Posit_MAC_IP.md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LOD MODE0 tìm bit1 đầu tiên từ MSB, trả số leading zeros K và leading_valid. Nếu vld=0, không tạo term, sa0, scale_next giữ scale, fx_next giữ fx và exhausted1. Với vld1, step=K+1, scale_sum tính rộngS_W+1 và kiểm không vượtW_X. state_error nếu scale&gt;W hoặc scale_sum&gt;W. Chỉ term_valid khi vld&amp;&amp;!error. Dịch trái sa loại leading zeros và bit1 vừa xử lý. Khoanh các bank fx_q,scale_q là state bên ngoài sac_step_comb trong iter_ctrl. R1 là token xuấtscale đã chốt, không phải bank feedback dùng lại để đếm vòng. ApproxW12, exactW26, S_W5 ở32/3. iter_ctrl có hai instance SAC và mux mode; hình vẽ một đường active để dễ đọc.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Nguồn RTL và hợp đồng:</a:t>
            </a:r>
          </a:p>
          <a:p xmlns:a="http://schemas.openxmlformats.org/drawingml/2006/main">
            <a:r>
              <a:t>C:\HCMUT\HK261\Do an 2\Posit_MAC\rtl\sac_step_comb.sv</a:t>
            </a:r>
          </a:p>
          <a:p xmlns:a="http://schemas.openxmlformats.org/drawingml/2006/main">
            <a:r>
              <a:t>C:\HCMUT\HK261\Do an 2\Posit_MAC\rtl\lod_lzd_core.sv</a:t>
            </a:r>
          </a:p>
          <a:p xmlns:a="http://schemas.openxmlformats.org/drawingml/2006/main">
            <a:r>
              <a:t>C:\HCMUT\HK261\Do an 2\Posit_MAC\rtl\iter_ctrl.sv</a:t>
            </a:r>
          </a:p>
          <a:p xmlns:a="http://schemas.openxmlformats.org/drawingml/2006/main">
            <a:r>
              <a:t>C:\HCMUT\HK261\Do an 2\Posit_MAC\SPEC_Posit_MAC_IP.md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sbm_shift_comb nhận y_mant right-aligned từ OPS: approximatehidden ởbit12, exacthidden ởbit26. Approx &lt;&lt;2 tạo Q14 trong bank vật lý54 bit. FLOORmask2LSB sau shift tạo term là bội4, nên chiaacc&gt;&gt;2 lấy Q12. Exact &lt;&lt;F tạo gridQ52. shift_discard=S+2 trongapproxFLOOR, hoặcS các modekhác; term_tail ORy_base bits thấp dưới shift_discard. init_only buộcterm0 vàtail0. VớiFLOOR, numerical_tail giữORterm_tail nhưng numerical_sticky cho R(P_hat) bằng0; không dùng metadata cut khôi phục giá trị. Có thể chọn JAM ởstandalonelegacy, NFtop hardwireFLOOR. R2 lưu term vàtail trongmul_iter_core, y_base vẫn là dây tổ hợp từ y_q ổn định. Slide không vẽ muxexact/approx vàinit đầy đủ; ghi rõ trongnotes.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Nguồn RTL và hợp đồng:</a:t>
            </a:r>
          </a:p>
          <a:p xmlns:a="http://schemas.openxmlformats.org/drawingml/2006/main">
            <a:r>
              <a:t>C:\HCMUT\HK261\Do an 2\Posit_MAC\rtl\sbm_shift_comb.sv</a:t>
            </a:r>
          </a:p>
          <a:p xmlns:a="http://schemas.openxmlformats.org/drawingml/2006/main">
            <a:r>
              <a:t>C:\HCMUT\HK261\Do an 2\Posit_MAC\rtl\mul_iter_core.sv</a:t>
            </a:r>
          </a:p>
          <a:p xmlns:a="http://schemas.openxmlformats.org/drawingml/2006/main">
            <a:r>
              <a:t>C:\HCMUT\HK261\Do an 2\Posit_MAC\rtl\sbm_accum_comb.sv</a:t>
            </a:r>
          </a:p>
          <a:p xmlns:a="http://schemas.openxmlformats.org/drawingml/2006/main">
            <a:r>
              <a:t>C:\HCMUT\HK261\Do an 2\Posit_MAC\rtl\mul_prepack_norm_comb.sv</a:t>
            </a:r>
          </a:p>
          <a:p xmlns:a="http://schemas.openxmlformats.org/drawingml/2006/main">
            <a:r>
              <a:t>C:\HCMUT\HK261\Do an 2\Posit_MAC\SPEC_Posit_MAC_IP.md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sbm_accum_comb sum rộng55bit đểkiểm carryerror bit54. first1 mux chọny_base thayacc; normalfirst cộngtermfraction đầu cùnghidden. init_only bỏphépcộngterm, khôngY+Y. first reset numericaltail/sticky. numericaltail ORtermtail; sticky chỉOR khi exact hoặcROUND_SCHEME1, NFapproxFLOORgiữ0. sbm_accum chốt acc, iterations_done, approx_cut_o vàtails khi commit_valid. done &lt;=commit_valid&amp;&amp;last, khôngphảiđoánkhibitfxhết ởSAC. Córesetleaf asyncassert/syncrelease2FF vàrun_ready; khôngvẽmạngresetđểgiữdatapathdễđọc. Diagram first control arrows representboolean first, labelsnearport. Bankacc giữ output khi khôngcommit. Kếtquả cầnnormalize vàRNE bênngoàicore; khôngpacktrongaccumulator.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Nguồn RTL và hợp đồng:</a:t>
            </a:r>
          </a:p>
          <a:p xmlns:a="http://schemas.openxmlformats.org/drawingml/2006/main">
            <a:r>
              <a:t>C:\HCMUT\HK261\Do an 2\Posit_MAC\rtl\sbm_accum_comb.sv</a:t>
            </a:r>
          </a:p>
          <a:p xmlns:a="http://schemas.openxmlformats.org/drawingml/2006/main">
            <a:r>
              <a:t>C:\HCMUT\HK261\Do an 2\Posit_MAC\rtl\sbm_accum.sv</a:t>
            </a:r>
          </a:p>
          <a:p xmlns:a="http://schemas.openxmlformats.org/drawingml/2006/main">
            <a:r>
              <a:t>C:\HCMUT\HK261\Do an 2\Posit_MAC\rtl\mul_iter_core.sv</a:t>
            </a:r>
          </a:p>
          <a:p xmlns:a="http://schemas.openxmlformats.org/drawingml/2006/main">
            <a:r>
              <a:t>C:\HCMUT\HK261\Do an 2\Posit_MAC\SPEC_Posit_MAC_IP.md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L0khácE0inputhandshake củaMAC. iter_ctrl nạpstate tạiL0, phát token1sauL1. mul_iter_core R2 chốt shift/token1L2. sbm_accum commit1L3. Token2 phátL2, R2L3, commitlastL4. t=2,q2doneL4=t+2. t0init vẫnR1L1,R2L2,accL3 nênq1done3. token_valid/first/last/init_only/iteration/cut phải đi quaR2đồngbộterm. count/n giới hạn số termfraction, hidden nằmtrongfirstkhôngđếmthêm. core vẫnbusyđếnrelease_resultdo wrapperoutputretire. Các stage khác giao dịchkhôngchồnglấptrongbaseline hiện tại. Khônggánlịchcorecho latencycảMAC. Resetflushcảvalid/datacontexttheoguideline.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Nguồn RTL và hợp đồng:</a:t>
            </a:r>
          </a:p>
          <a:p xmlns:a="http://schemas.openxmlformats.org/drawingml/2006/main">
            <a:r>
              <a:t>C:\HCMUT\HK261\Do an 2\Posit_MAC\rtl\iter_ctrl.sv</a:t>
            </a:r>
          </a:p>
          <a:p xmlns:a="http://schemas.openxmlformats.org/drawingml/2006/main">
            <a:r>
              <a:t>C:\HCMUT\HK261\Do an 2\Posit_MAC\rtl\mul_iter_core.sv</a:t>
            </a:r>
          </a:p>
          <a:p xmlns:a="http://schemas.openxmlformats.org/drawingml/2006/main">
            <a:r>
              <a:t>C:\HCMUT\HK261\Do an 2\Posit_MAC\rtl\sbm_accum.sv</a:t>
            </a:r>
          </a:p>
          <a:p xmlns:a="http://schemas.openxmlformats.org/drawingml/2006/main">
            <a:r>
              <a:t>C:\HCMUT\HK261\Do an 2\Posit_MAC\SPEC_Posit_MAC_IP.md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Đây là ví dụmantissa12bitvớisf_base0,dấudương. Cắtinputkhôngmấtbitvìphầnbỏ0. Xa=1.28125,Yb=1.126953125,y_baseQ12=4616. Vòng1fx010010000000,clz1,sa2,S2,fx_next001000000000;term4616&gt;&gt;2=1154,first cộng4616+1154=5770. Vòng2clz2,sa3,S5,fx_next0;termFLOOR4616&gt;&gt;5=144,đuôi8/32=.25Q12units,numericaltail1,acc5914. PayloadvậtlýQ14 ybase18464,term1=4616,term2=576,acc23656;divide4raQ12giátrị5914. Tíchmantissathật=1.44390869140625,khácprepackmộtquarterQ12LSBdoFLOOR. numerical_stickyFLOOR0,metadata inexact1. Khônggọi ví dụnàylàbằngchứngtáihiệnbaselinepaper; chỉminhhọarecurrence đãchốt. last nhậnởR1vòng2,doneởR3commitvòng2.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Nguồn RTL và hợp đồng:</a:t>
            </a:r>
          </a:p>
          <a:p xmlns:a="http://schemas.openxmlformats.org/drawingml/2006/main">
            <a:r>
              <a:t>C:\HCMUT\HK261\Do an 2\Posit_MAC\rtl\ops_sel_comb.sv</a:t>
            </a:r>
          </a:p>
          <a:p xmlns:a="http://schemas.openxmlformats.org/drawingml/2006/main">
            <a:r>
              <a:t>C:\HCMUT\HK261\Do an 2\Posit_MAC\rtl\sac_step_comb.sv</a:t>
            </a:r>
          </a:p>
          <a:p xmlns:a="http://schemas.openxmlformats.org/drawingml/2006/main">
            <a:r>
              <a:t>C:\HCMUT\HK261\Do an 2\Posit_MAC\rtl\sbm_shift_comb.sv</a:t>
            </a:r>
          </a:p>
          <a:p xmlns:a="http://schemas.openxmlformats.org/drawingml/2006/main">
            <a:r>
              <a:t>C:\HCMUT\HK261\Do an 2\Posit_MAC\rtl\sbm_accum_comb.sv</a:t>
            </a:r>
          </a:p>
          <a:p xmlns:a="http://schemas.openxmlformats.org/drawingml/2006/main">
            <a:r>
              <a:t>C:\HCMUT\HK261\Do an 2\Posit_MAC\SPEC_Posit_MAC_IP.md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535d8186ae44a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1abe3a84dc490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315b05d765444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81fc75e70f45f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725e76d05e4f8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aa9cac0b2643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CB6E9A8-9EC9-463B-BC8B-5EFEC4016A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44168EE-18EE-40E9-AC04-0F9A7998AED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9549386-2384-43EC-BB5A-1F0BDCDD4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2D54B7F-CC7D-405E-90DD-0D4FB0CFF2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6492C91-78F7-4614-8FE0-B3D9DA131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BEFC1BE-E299-41CD-B015-7B1EEFE5B0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172EC18-F334-4627-9AB9-AF1C0E6BBC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B418D05-CF9D-47D6-B6EE-2DEA45319DD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A9E4CE-F520-4213-A634-0F016EDE7E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154552B-5D48-4783-B704-5E377A64CB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0074966f2d44da" /><Relationship Type="http://schemas.openxmlformats.org/officeDocument/2006/relationships/slideLayout" Target="/ppt/slideLayouts/slideLayout1.xml" Id="Rb84d115fbe3a4b8f" /><Relationship Type="http://schemas.openxmlformats.org/officeDocument/2006/relationships/slideLayout" Target="/ppt/slideLayouts/slideLayout2.xml" Id="R6566b416e0c244f9" /><Relationship Type="http://schemas.openxmlformats.org/officeDocument/2006/relationships/slideLayout" Target="/ppt/slideLayouts/slideLayout3.xml" Id="R312e12d158e1452b" /><Relationship Type="http://schemas.openxmlformats.org/officeDocument/2006/relationships/slideLayout" Target="/ppt/slideLayouts/slideLayout4.xml" Id="R2d18e2967e6145b3" /><Relationship Type="http://schemas.openxmlformats.org/officeDocument/2006/relationships/slideLayout" Target="/ppt/slideLayouts/slideLayout5.xml" Id="Rccce21f80fab4749" /><Relationship Type="http://schemas.openxmlformats.org/officeDocument/2006/relationships/slideLayout" Target="/ppt/slideLayouts/slideLayout6.xml" Id="Rc1c148b29b7e4f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4d115fbe3a4b8f"/>
    <p:sldLayoutId xmlns:r="http://schemas.openxmlformats.org/officeDocument/2006/relationships" id="2147483650" r:id="R6566b416e0c244f9"/>
    <p:sldLayoutId xmlns:r="http://schemas.openxmlformats.org/officeDocument/2006/relationships" id="2147483651" r:id="R312e12d158e1452b"/>
    <p:sldLayoutId xmlns:r="http://schemas.openxmlformats.org/officeDocument/2006/relationships" id="2147483652" r:id="R2d18e2967e6145b3"/>
    <p:sldLayoutId xmlns:r="http://schemas.openxmlformats.org/officeDocument/2006/relationships" id="2147483653" r:id="Rccce21f80fab4749"/>
    <p:sldLayoutId xmlns:r="http://schemas.openxmlformats.org/officeDocument/2006/relationships" id="2147483654" r:id="Rc1c148b29b7e4f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97043119d646ef" /><Relationship Type="http://schemas.openxmlformats.org/officeDocument/2006/relationships/notesSlide" Target="/ppt/notesSlides/notesSlide1.xml" Id="Rc65ece592b204f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1cb7cbc8b0459d" /><Relationship Type="http://schemas.openxmlformats.org/officeDocument/2006/relationships/notesSlide" Target="/ppt/notesSlides/notesSlide2.xml" Id="R018cc16ecea740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e6914d62314db6" /><Relationship Type="http://schemas.openxmlformats.org/officeDocument/2006/relationships/notesSlide" Target="/ppt/notesSlides/notesSlide3.xml" Id="R7bf7ec79139842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3134f9bb584560" /><Relationship Type="http://schemas.openxmlformats.org/officeDocument/2006/relationships/notesSlide" Target="/ppt/notesSlides/notesSlide4.xml" Id="Rf47d5277663942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92f5f9e750402b" /><Relationship Type="http://schemas.openxmlformats.org/officeDocument/2006/relationships/notesSlide" Target="/ppt/notesSlides/notesSlide5.xml" Id="R98cde19c06db467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18f269043d4223" /><Relationship Type="http://schemas.openxmlformats.org/officeDocument/2006/relationships/notesSlide" Target="/ppt/notesSlides/notesSlide6.xml" Id="Rbd519df7458f47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8b399e22024658" /><Relationship Type="http://schemas.openxmlformats.org/officeDocument/2006/relationships/notesSlide" Target="/ppt/notesSlides/notesSlide7.xml" Id="R8fb328b2e2c043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0" name="wire-50">
            <a:extLst xmlns:a="http://schemas.openxmlformats.org/drawingml/2006/main">
              <a:ext uri="{FF2B5EF4-FFF2-40B4-BE49-F238E27FC236}">
                <a16:creationId xmlns:a16="http://schemas.microsoft.com/office/drawing/2014/main" id="{D2EBAD4E-F469-4B18-AAA0-C3975B152218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5143500" y="3781425"/>
            <a:ext cx="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triangle" w="sm" len="sm"/>
          </a:ln>
        </p:spPr>
      </p:cxnSp>
      <p:cxnSp>
        <p:nvCxnSpPr>
          <p:cNvPr id="49" name="wire-49">
            <a:extLst xmlns:a="http://schemas.openxmlformats.org/drawingml/2006/main">
              <a:ext uri="{FF2B5EF4-FFF2-40B4-BE49-F238E27FC236}">
                <a16:creationId xmlns:a16="http://schemas.microsoft.com/office/drawing/2014/main" id="{47D46C58-7F30-41C0-AD06-09307146671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648200" y="417195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none" w="sm" len="sm"/>
          </a:ln>
        </p:spPr>
      </p:cxnSp>
      <p:cxnSp>
        <p:nvCxnSpPr>
          <p:cNvPr id="48" name="wire-48">
            <a:extLst xmlns:a="http://schemas.openxmlformats.org/drawingml/2006/main">
              <a:ext uri="{FF2B5EF4-FFF2-40B4-BE49-F238E27FC236}">
                <a16:creationId xmlns:a16="http://schemas.microsoft.com/office/drawing/2014/main" id="{71AEB942-43C3-4348-9432-B6248D685D1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648200" y="3781425"/>
            <a:ext cx="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none" w="sm" len="sm"/>
          </a:ln>
        </p:spPr>
      </p:cxnSp>
      <p:cxnSp>
        <p:nvCxnSpPr>
          <p:cNvPr id="46" name="wire-46">
            <a:extLst xmlns:a="http://schemas.openxmlformats.org/drawingml/2006/main">
              <a:ext uri="{FF2B5EF4-FFF2-40B4-BE49-F238E27FC236}">
                <a16:creationId xmlns:a16="http://schemas.microsoft.com/office/drawing/2014/main" id="{9299D925-3FB6-4F34-8A7D-03EA549C2943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11096625" y="3781425"/>
            <a:ext cx="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45" name="wire-45">
            <a:extLst xmlns:a="http://schemas.openxmlformats.org/drawingml/2006/main">
              <a:ext uri="{FF2B5EF4-FFF2-40B4-BE49-F238E27FC236}">
                <a16:creationId xmlns:a16="http://schemas.microsoft.com/office/drawing/2014/main" id="{61776023-62CD-40CF-9DA8-3F848F9A52F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639425" y="4171950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none" w="sm" len="sm"/>
          </a:ln>
        </p:spPr>
      </p:cxnSp>
      <p:cxnSp>
        <p:nvCxnSpPr>
          <p:cNvPr id="44" name="wire-44">
            <a:extLst xmlns:a="http://schemas.openxmlformats.org/drawingml/2006/main">
              <a:ext uri="{FF2B5EF4-FFF2-40B4-BE49-F238E27FC236}">
                <a16:creationId xmlns:a16="http://schemas.microsoft.com/office/drawing/2014/main" id="{D88D6A06-1F66-4ADC-9982-9850C53C13C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639425" y="3781425"/>
            <a:ext cx="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none" w="sm" len="sm"/>
          </a:ln>
        </p:spPr>
      </p:cxnSp>
      <p:cxnSp>
        <p:nvCxnSpPr>
          <p:cNvPr id="42" name="wire-42">
            <a:extLst xmlns:a="http://schemas.openxmlformats.org/drawingml/2006/main">
              <a:ext uri="{FF2B5EF4-FFF2-40B4-BE49-F238E27FC236}">
                <a16:creationId xmlns:a16="http://schemas.microsoft.com/office/drawing/2014/main" id="{A5ECF19D-F88D-475E-9D4B-9DF2236903D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791450" y="2238375"/>
            <a:ext cx="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41" name="wire-41">
            <a:extLst xmlns:a="http://schemas.openxmlformats.org/drawingml/2006/main">
              <a:ext uri="{FF2B5EF4-FFF2-40B4-BE49-F238E27FC236}">
                <a16:creationId xmlns:a16="http://schemas.microsoft.com/office/drawing/2014/main" id="{EFB8177C-9DC4-4813-8A5E-9ACB05092C1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086100" y="2238375"/>
            <a:ext cx="470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40" name="wire-40">
            <a:extLst xmlns:a="http://schemas.openxmlformats.org/drawingml/2006/main">
              <a:ext uri="{FF2B5EF4-FFF2-40B4-BE49-F238E27FC236}">
                <a16:creationId xmlns:a16="http://schemas.microsoft.com/office/drawing/2014/main" id="{D4A32F9C-E011-46FC-B1CF-8DB1C199D62E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3086100" y="2238375"/>
            <a:ext cx="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36" name="wire-36">
            <a:extLst xmlns:a="http://schemas.openxmlformats.org/drawingml/2006/main">
              <a:ext uri="{FF2B5EF4-FFF2-40B4-BE49-F238E27FC236}">
                <a16:creationId xmlns:a16="http://schemas.microsoft.com/office/drawing/2014/main" id="{92EF35BD-52D6-44FC-8514-4EF4453D878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629775" y="32099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triangle" w="sm" len="sm"/>
          </a:ln>
        </p:spPr>
      </p:cxnSp>
      <p:cxnSp>
        <p:nvCxnSpPr>
          <p:cNvPr id="35" name="wire-35">
            <a:extLst xmlns:a="http://schemas.openxmlformats.org/drawingml/2006/main">
              <a:ext uri="{FF2B5EF4-FFF2-40B4-BE49-F238E27FC236}">
                <a16:creationId xmlns:a16="http://schemas.microsoft.com/office/drawing/2014/main" id="{4682F3A8-B001-4096-B309-97C94DF4A9E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534400" y="32099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triangle" w="sm" len="sm"/>
          </a:ln>
        </p:spPr>
      </p:cxnSp>
      <p:cxnSp>
        <p:nvCxnSpPr>
          <p:cNvPr id="34" name="wire-34">
            <a:extLst xmlns:a="http://schemas.openxmlformats.org/drawingml/2006/main">
              <a:ext uri="{FF2B5EF4-FFF2-40B4-BE49-F238E27FC236}">
                <a16:creationId xmlns:a16="http://schemas.microsoft.com/office/drawing/2014/main" id="{E79C5777-EC3D-4265-A332-DB85E6781BB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524625" y="3209925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triangle" w="sm" len="sm"/>
          </a:ln>
        </p:spPr>
      </p:cxnSp>
      <p:cxnSp>
        <p:nvCxnSpPr>
          <p:cNvPr id="33" name="wire-33">
            <a:extLst xmlns:a="http://schemas.openxmlformats.org/drawingml/2006/main">
              <a:ext uri="{FF2B5EF4-FFF2-40B4-BE49-F238E27FC236}">
                <a16:creationId xmlns:a16="http://schemas.microsoft.com/office/drawing/2014/main" id="{86250E29-0D6C-4770-9079-2D63CEF3F89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562600" y="32099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triangle" w="sm" len="sm"/>
          </a:ln>
        </p:spPr>
      </p:cxnSp>
      <p:cxnSp>
        <p:nvCxnSpPr>
          <p:cNvPr id="32" name="wire-32">
            <a:extLst xmlns:a="http://schemas.openxmlformats.org/drawingml/2006/main">
              <a:ext uri="{FF2B5EF4-FFF2-40B4-BE49-F238E27FC236}">
                <a16:creationId xmlns:a16="http://schemas.microsoft.com/office/drawing/2014/main" id="{68F7701A-EE78-4AE8-A1F5-7F43F50CCBD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400425" y="320992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triangle" w="sm" len="sm"/>
          </a:ln>
        </p:spPr>
      </p:cxnSp>
      <p:cxnSp>
        <p:nvCxnSpPr>
          <p:cNvPr id="31" name="wire-31">
            <a:extLst xmlns:a="http://schemas.openxmlformats.org/drawingml/2006/main">
              <a:ext uri="{FF2B5EF4-FFF2-40B4-BE49-F238E27FC236}">
                <a16:creationId xmlns:a16="http://schemas.microsoft.com/office/drawing/2014/main" id="{2787EA6F-E64B-4250-BE9F-5E5D6155B28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257425" y="320992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triangle" w="sm" len="sm"/>
          </a:ln>
        </p:spPr>
      </p:cxnSp>
      <p:cxnSp>
        <p:nvCxnSpPr>
          <p:cNvPr id="3" name="wire-3">
            <a:extLst xmlns:a="http://schemas.openxmlformats.org/drawingml/2006/main">
              <a:ext uri="{FF2B5EF4-FFF2-40B4-BE49-F238E27FC236}">
                <a16:creationId xmlns:a16="http://schemas.microsoft.com/office/drawing/2014/main" id="{5B11817D-B987-429A-8DB1-57A6FD4672B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57200" y="1476375"/>
            <a:ext cx="11277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6E2"/>
            </a:solidFill>
            <a:prstDash val="solid"/>
            <a:tailEnd type="none" w="sm" len="sm"/>
          </a:ln>
        </p:spPr>
      </p:cxnSp>
      <p:sp>
        <p:nvSpPr>
          <p:cNvPr id="54" name="text-1">
            <a:extLst xmlns:a="http://schemas.openxmlformats.org/drawingml/2006/main">
              <a:ext uri="{FF2B5EF4-FFF2-40B4-BE49-F238E27FC236}">
                <a16:creationId xmlns:a16="http://schemas.microsoft.com/office/drawing/2014/main" id="{915EAEE8-7B96-4A54-A421-0D5534DA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277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Datapath nhân lặp: OPS, SAC và SBM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7841B875-0AB1-4041-A96F-12BAF081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42975"/>
            <a:ext cx="1127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Profile minh họa: posit32/ES=3, FRAC_W=12, FLOOR, EXACT_EN=1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BD6C4AE8-390E-43CD-AD20-799C81D7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29375"/>
            <a:ext cx="723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1 / 7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772B3BE3-E40A-4DF4-8AD3-AD3DCD23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859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A/B đã parse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24398740-20B0-4A65-B0DA-10B84BA2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8859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4B83"/>
                </a:solidFill>
                <a:latin typeface="Arial"/>
                <a:ea typeface="Arial"/>
                <a:cs typeface="Arial"/>
              </a:rPr>
              <a:t>L0: launch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066D04B1-387F-40AD-9EF4-B9CE6026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8595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4B83"/>
                </a:solidFill>
                <a:latin typeface="Arial"/>
                <a:ea typeface="Arial"/>
                <a:cs typeface="Arial"/>
              </a:rPr>
              <a:t>L1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FED19881-11A2-4008-8C4E-6E3DA1B9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8595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4B83"/>
                </a:solidFill>
                <a:latin typeface="Arial"/>
                <a:ea typeface="Arial"/>
                <a:cs typeface="Arial"/>
              </a:rPr>
              <a:t>L2</a:t>
            </a:r>
          </a:p>
        </p:txBody>
      </p:sp>
      <p:sp>
        <p:nvSpPr>
          <p:cNvPr id="9" name="text-9">
            <a:extLst xmlns:a="http://schemas.openxmlformats.org/drawingml/2006/main">
              <a:ext uri="{FF2B5EF4-FFF2-40B4-BE49-F238E27FC236}">
                <a16:creationId xmlns:a16="http://schemas.microsoft.com/office/drawing/2014/main" id="{C44E00A4-719E-4EFC-BFEE-84B9C91D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885950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4B83"/>
                </a:solidFill>
                <a:latin typeface="Arial"/>
                <a:ea typeface="Arial"/>
                <a:cs typeface="Arial"/>
              </a:rPr>
              <a:t>L3: commit</a:t>
            </a:r>
          </a:p>
        </p:txBody>
      </p:sp>
      <p:sp>
        <p:nvSpPr>
          <p:cNvPr id="10" name="OPS-10">
            <a:extLst xmlns:a="http://schemas.openxmlformats.org/drawingml/2006/main">
              <a:ext uri="{FF2B5EF4-FFF2-40B4-BE49-F238E27FC236}">
                <a16:creationId xmlns:a16="http://schemas.microsoft.com/office/drawing/2014/main" id="{A94170CA-65FC-46E4-AB31-84803C2F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6478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8"/>
          </a:solidFill>
          <a:ln xmlns:a="http://schemas.openxmlformats.org/drawingml/2006/main" w="19050">
            <a:solidFill>
              <a:srgbClr val="147D92"/>
            </a:solidFill>
          </a:ln>
        </p:spPr>
      </p:sp>
      <p:sp>
        <p:nvSpPr>
          <p:cNvPr id="11" name="text-11">
            <a:extLst xmlns:a="http://schemas.openxmlformats.org/drawingml/2006/main">
              <a:ext uri="{FF2B5EF4-FFF2-40B4-BE49-F238E27FC236}">
                <a16:creationId xmlns:a16="http://schemas.microsoft.com/office/drawing/2014/main" id="{1B56FA7E-0C74-484B-8571-CB9867A0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1457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7D92"/>
                </a:solidFill>
                <a:latin typeface="Arial"/>
                <a:ea typeface="Arial"/>
                <a:cs typeface="Arial"/>
              </a:rPr>
              <a:t>OPS</a:t>
            </a:r>
          </a:p>
        </p:txBody>
      </p:sp>
      <p:sp>
        <p:nvSpPr>
          <p:cNvPr id="12" name="text-12">
            <a:extLst xmlns:a="http://schemas.openxmlformats.org/drawingml/2006/main">
              <a:ext uri="{FF2B5EF4-FFF2-40B4-BE49-F238E27FC236}">
                <a16:creationId xmlns:a16="http://schemas.microsoft.com/office/drawing/2014/main" id="{B5D7D735-1B82-403D-BB36-2FE2C5FC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33725"/>
            <a:ext cx="1457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Chọn X / Y</a:t>
            </a:r>
          </a:p>
        </p:txBody>
      </p:sp>
      <p:sp>
        <p:nvSpPr>
          <p:cNvPr id="13" name="R0-13">
            <a:extLst xmlns:a="http://schemas.openxmlformats.org/drawingml/2006/main">
              <a:ext uri="{FF2B5EF4-FFF2-40B4-BE49-F238E27FC236}">
                <a16:creationId xmlns:a16="http://schemas.microsoft.com/office/drawing/2014/main" id="{59C64289-53ED-4C3A-8D52-46C9A3A5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38425"/>
            <a:ext cx="6191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14" name="clock-14">
            <a:extLst xmlns:a="http://schemas.openxmlformats.org/drawingml/2006/main">
              <a:ext uri="{FF2B5EF4-FFF2-40B4-BE49-F238E27FC236}">
                <a16:creationId xmlns:a16="http://schemas.microsoft.com/office/drawing/2014/main" id="{C3837BE2-3803-49DF-9DA0-C70D8328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62350"/>
            <a:ext cx="95250" cy="133350"/>
          </a:xfrm>
          <a:custGeom xmlns:a="http://schemas.openxmlformats.org/drawingml/2006/main"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15" name="text-15">
            <a:extLst xmlns:a="http://schemas.openxmlformats.org/drawingml/2006/main">
              <a:ext uri="{FF2B5EF4-FFF2-40B4-BE49-F238E27FC236}">
                <a16:creationId xmlns:a16="http://schemas.microsoft.com/office/drawing/2014/main" id="{96DA8439-EADB-4D7D-88C0-5ABEE7DA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781300"/>
            <a:ext cx="5429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4B83"/>
                </a:solidFill>
                <a:latin typeface="Arial"/>
                <a:ea typeface="Arial"/>
                <a:cs typeface="Arial"/>
              </a:rPr>
              <a:t>R0</a:t>
            </a:r>
          </a:p>
        </p:txBody>
      </p:sp>
      <p:sp>
        <p:nvSpPr>
          <p:cNvPr id="16" name="SAC-16">
            <a:extLst xmlns:a="http://schemas.openxmlformats.org/drawingml/2006/main">
              <a:ext uri="{FF2B5EF4-FFF2-40B4-BE49-F238E27FC236}">
                <a16:creationId xmlns:a16="http://schemas.microsoft.com/office/drawing/2014/main" id="{2E01A203-91C6-467B-9167-CB7219AA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38425"/>
            <a:ext cx="16383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D"/>
          </a:solidFill>
          <a:ln xmlns:a="http://schemas.openxmlformats.org/drawingml/2006/main" w="19050">
            <a:solidFill>
              <a:srgbClr val="A76807"/>
            </a:solidFill>
          </a:ln>
        </p:spPr>
      </p:sp>
      <p:sp>
        <p:nvSpPr>
          <p:cNvPr id="17" name="text-17">
            <a:extLst xmlns:a="http://schemas.openxmlformats.org/drawingml/2006/main">
              <a:ext uri="{FF2B5EF4-FFF2-40B4-BE49-F238E27FC236}">
                <a16:creationId xmlns:a16="http://schemas.microsoft.com/office/drawing/2014/main" id="{59879885-B8ED-491C-A76C-E3D0EB73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762250"/>
            <a:ext cx="1447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76807"/>
                </a:solidFill>
                <a:latin typeface="Arial"/>
                <a:ea typeface="Arial"/>
                <a:cs typeface="Arial"/>
              </a:rPr>
              <a:t>SAC</a:t>
            </a:r>
          </a:p>
        </p:txBody>
      </p:sp>
      <p:sp>
        <p:nvSpPr>
          <p:cNvPr id="18" name="text-18">
            <a:extLst xmlns:a="http://schemas.openxmlformats.org/drawingml/2006/main">
              <a:ext uri="{FF2B5EF4-FFF2-40B4-BE49-F238E27FC236}">
                <a16:creationId xmlns:a16="http://schemas.microsoft.com/office/drawing/2014/main" id="{8EEEDC29-1CC0-4042-8B88-3507ABBF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33725"/>
            <a:ext cx="144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Tạo S</a:t>
            </a:r>
          </a:p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Cập nhật fx</a:t>
            </a:r>
          </a:p>
        </p:txBody>
      </p:sp>
      <p:sp>
        <p:nvSpPr>
          <p:cNvPr id="19" name="R1-19">
            <a:extLst xmlns:a="http://schemas.openxmlformats.org/drawingml/2006/main">
              <a:ext uri="{FF2B5EF4-FFF2-40B4-BE49-F238E27FC236}">
                <a16:creationId xmlns:a16="http://schemas.microsoft.com/office/drawing/2014/main" id="{5F9A30A5-21BB-48B8-822A-049BC640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638425"/>
            <a:ext cx="6000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20" name="clock-20">
            <a:extLst xmlns:a="http://schemas.openxmlformats.org/drawingml/2006/main">
              <a:ext uri="{FF2B5EF4-FFF2-40B4-BE49-F238E27FC236}">
                <a16:creationId xmlns:a16="http://schemas.microsoft.com/office/drawing/2014/main" id="{EDBB2EB3-3BCA-4D77-9A58-6AB25B06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62350"/>
            <a:ext cx="95250" cy="133350"/>
          </a:xfrm>
          <a:custGeom xmlns:a="http://schemas.openxmlformats.org/drawingml/2006/main"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21" name="text-21">
            <a:extLst xmlns:a="http://schemas.openxmlformats.org/drawingml/2006/main">
              <a:ext uri="{FF2B5EF4-FFF2-40B4-BE49-F238E27FC236}">
                <a16:creationId xmlns:a16="http://schemas.microsoft.com/office/drawing/2014/main" id="{1A21A603-1A0F-47E0-A27D-E58B2752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78130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4B83"/>
                </a:solidFill>
                <a:latin typeface="Arial"/>
                <a:ea typeface="Arial"/>
                <a:cs typeface="Arial"/>
              </a:rPr>
              <a:t>R1</a:t>
            </a:r>
          </a:p>
        </p:txBody>
      </p:sp>
      <p:sp>
        <p:nvSpPr>
          <p:cNvPr id="22" name="SBM Shift-22">
            <a:extLst xmlns:a="http://schemas.openxmlformats.org/drawingml/2006/main">
              <a:ext uri="{FF2B5EF4-FFF2-40B4-BE49-F238E27FC236}">
                <a16:creationId xmlns:a16="http://schemas.microsoft.com/office/drawing/2014/main" id="{A4A20D76-1C22-40B8-A295-695B0095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638425"/>
            <a:ext cx="1571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FC"/>
          </a:solidFill>
          <a:ln xmlns:a="http://schemas.openxmlformats.org/drawingml/2006/main" w="19050">
            <a:solidFill>
              <a:srgbClr val="6943B9"/>
            </a:solidFill>
          </a:ln>
        </p:spPr>
      </p:sp>
      <p:sp>
        <p:nvSpPr>
          <p:cNvPr id="23" name="text-23">
            <a:extLst xmlns:a="http://schemas.openxmlformats.org/drawingml/2006/main">
              <a:ext uri="{FF2B5EF4-FFF2-40B4-BE49-F238E27FC236}">
                <a16:creationId xmlns:a16="http://schemas.microsoft.com/office/drawing/2014/main" id="{87FB72C1-EBAF-4AE7-8378-835C66C2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762250"/>
            <a:ext cx="13811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6943B9"/>
                </a:solidFill>
                <a:latin typeface="Arial"/>
                <a:ea typeface="Arial"/>
                <a:cs typeface="Arial"/>
              </a:rPr>
              <a:t>SBM Shift</a:t>
            </a:r>
          </a:p>
        </p:txBody>
      </p:sp>
      <p:sp>
        <p:nvSpPr>
          <p:cNvPr id="24" name="text-24">
            <a:extLst xmlns:a="http://schemas.openxmlformats.org/drawingml/2006/main">
              <a:ext uri="{FF2B5EF4-FFF2-40B4-BE49-F238E27FC236}">
                <a16:creationId xmlns:a16="http://schemas.microsoft.com/office/drawing/2014/main" id="{FAEA7147-FE50-42F9-83D6-653EB575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133725"/>
            <a:ext cx="1381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Dịch Y</a:t>
            </a:r>
          </a:p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Cắt term</a:t>
            </a:r>
          </a:p>
        </p:txBody>
      </p:sp>
      <p:sp>
        <p:nvSpPr>
          <p:cNvPr id="25" name="R2-25">
            <a:extLst xmlns:a="http://schemas.openxmlformats.org/drawingml/2006/main">
              <a:ext uri="{FF2B5EF4-FFF2-40B4-BE49-F238E27FC236}">
                <a16:creationId xmlns:a16="http://schemas.microsoft.com/office/drawing/2014/main" id="{FDE244D5-24BA-4225-8E27-25945689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38425"/>
            <a:ext cx="6000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26" name="clock-26">
            <a:extLst xmlns:a="http://schemas.openxmlformats.org/drawingml/2006/main">
              <a:ext uri="{FF2B5EF4-FFF2-40B4-BE49-F238E27FC236}">
                <a16:creationId xmlns:a16="http://schemas.microsoft.com/office/drawing/2014/main" id="{FEFC7388-8414-4506-8533-E8594BF9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62350"/>
            <a:ext cx="95250" cy="133350"/>
          </a:xfrm>
          <a:custGeom xmlns:a="http://schemas.openxmlformats.org/drawingml/2006/main"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27" name="text-27">
            <a:extLst xmlns:a="http://schemas.openxmlformats.org/drawingml/2006/main">
              <a:ext uri="{FF2B5EF4-FFF2-40B4-BE49-F238E27FC236}">
                <a16:creationId xmlns:a16="http://schemas.microsoft.com/office/drawing/2014/main" id="{40705E55-B59C-4559-B9E8-50660734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8130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4B83"/>
                </a:solidFill>
                <a:latin typeface="Arial"/>
                <a:ea typeface="Arial"/>
                <a:cs typeface="Arial"/>
              </a:rPr>
              <a:t>R2</a:t>
            </a:r>
          </a:p>
        </p:txBody>
      </p:sp>
      <p:sp>
        <p:nvSpPr>
          <p:cNvPr id="28" name="SBM Acc-28">
            <a:extLst xmlns:a="http://schemas.openxmlformats.org/drawingml/2006/main">
              <a:ext uri="{FF2B5EF4-FFF2-40B4-BE49-F238E27FC236}">
                <a16:creationId xmlns:a16="http://schemas.microsoft.com/office/drawing/2014/main" id="{358E8257-6C21-4D72-8DA6-1B99BE28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638425"/>
            <a:ext cx="16764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FC"/>
          </a:solidFill>
          <a:ln xmlns:a="http://schemas.openxmlformats.org/drawingml/2006/main" w="19050">
            <a:solidFill>
              <a:srgbClr val="6943B9"/>
            </a:solidFill>
          </a:ln>
        </p:spPr>
      </p:sp>
      <p:sp>
        <p:nvSpPr>
          <p:cNvPr id="29" name="text-29">
            <a:extLst xmlns:a="http://schemas.openxmlformats.org/drawingml/2006/main">
              <a:ext uri="{FF2B5EF4-FFF2-40B4-BE49-F238E27FC236}">
                <a16:creationId xmlns:a16="http://schemas.microsoft.com/office/drawing/2014/main" id="{DE41D411-E787-4814-9352-1352B055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62250"/>
            <a:ext cx="14859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6943B9"/>
                </a:solidFill>
                <a:latin typeface="Arial"/>
                <a:ea typeface="Arial"/>
                <a:cs typeface="Arial"/>
              </a:rPr>
              <a:t>SBM Acc</a:t>
            </a:r>
          </a:p>
        </p:txBody>
      </p:sp>
      <p:sp>
        <p:nvSpPr>
          <p:cNvPr id="30" name="text-30">
            <a:extLst xmlns:a="http://schemas.openxmlformats.org/drawingml/2006/main">
              <a:ext uri="{FF2B5EF4-FFF2-40B4-BE49-F238E27FC236}">
                <a16:creationId xmlns:a16="http://schemas.microsoft.com/office/drawing/2014/main" id="{9907266C-9A30-442F-BE75-6CCBACEA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133725"/>
            <a:ext cx="1485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Cộng term</a:t>
            </a:r>
          </a:p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Giữ acc_q</a:t>
            </a:r>
          </a:p>
        </p:txBody>
      </p:sp>
      <p:sp>
        <p:nvSpPr>
          <p:cNvPr id="37" name="text-37">
            <a:extLst xmlns:a="http://schemas.openxmlformats.org/drawingml/2006/main">
              <a:ext uri="{FF2B5EF4-FFF2-40B4-BE49-F238E27FC236}">
                <a16:creationId xmlns:a16="http://schemas.microsoft.com/office/drawing/2014/main" id="{1C5880C8-322D-4DBB-8A5B-3AC33B81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384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6807"/>
                </a:solidFill>
                <a:latin typeface="Arial"/>
                <a:ea typeface="Arial"/>
                <a:cs typeface="Arial"/>
              </a:rPr>
              <a:t>fx</a:t>
            </a:r>
          </a:p>
        </p:txBody>
      </p:sp>
      <p:sp>
        <p:nvSpPr>
          <p:cNvPr id="38" name="text-38">
            <a:extLst xmlns:a="http://schemas.openxmlformats.org/drawingml/2006/main">
              <a:ext uri="{FF2B5EF4-FFF2-40B4-BE49-F238E27FC236}">
                <a16:creationId xmlns:a16="http://schemas.microsoft.com/office/drawing/2014/main" id="{B848DFD0-C2F2-41B6-B4C4-05D6F402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8003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6807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9" name="text-39">
            <a:extLst xmlns:a="http://schemas.openxmlformats.org/drawingml/2006/main">
              <a:ext uri="{FF2B5EF4-FFF2-40B4-BE49-F238E27FC236}">
                <a16:creationId xmlns:a16="http://schemas.microsoft.com/office/drawing/2014/main" id="{CB745870-44A3-4792-90E3-29B8A50BA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8384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943B9"/>
                </a:solidFill>
                <a:latin typeface="Arial"/>
                <a:ea typeface="Arial"/>
                <a:cs typeface="Arial"/>
              </a:rPr>
              <a:t>term</a:t>
            </a:r>
          </a:p>
        </p:txBody>
      </p:sp>
      <p:sp>
        <p:nvSpPr>
          <p:cNvPr id="43" name="text-43">
            <a:extLst xmlns:a="http://schemas.openxmlformats.org/drawingml/2006/main">
              <a:ext uri="{FF2B5EF4-FFF2-40B4-BE49-F238E27FC236}">
                <a16:creationId xmlns:a16="http://schemas.microsoft.com/office/drawing/2014/main" id="{4F8E6435-37C0-403B-91EA-73C145B9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571625"/>
            <a:ext cx="3305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47D92"/>
                </a:solidFill>
                <a:latin typeface="Arial"/>
                <a:ea typeface="Arial"/>
                <a:cs typeface="Arial"/>
              </a:rPr>
              <a:t>Y giữ ổn định trong y_q</a:t>
            </a:r>
          </a:p>
        </p:txBody>
      </p:sp>
      <p:sp>
        <p:nvSpPr>
          <p:cNvPr id="47" name="text-47">
            <a:extLst xmlns:a="http://schemas.openxmlformats.org/drawingml/2006/main">
              <a:ext uri="{FF2B5EF4-FFF2-40B4-BE49-F238E27FC236}">
                <a16:creationId xmlns:a16="http://schemas.microsoft.com/office/drawing/2014/main" id="{4AF819F3-6D8C-4B8E-933D-932C9F99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2195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43B9"/>
                </a:solidFill>
                <a:latin typeface="Arial"/>
                <a:ea typeface="Arial"/>
                <a:cs typeface="Arial"/>
              </a:rPr>
              <a:t>feedback acc_q</a:t>
            </a:r>
          </a:p>
        </p:txBody>
      </p:sp>
      <p:sp>
        <p:nvSpPr>
          <p:cNvPr id="51" name="text-51">
            <a:extLst xmlns:a="http://schemas.openxmlformats.org/drawingml/2006/main">
              <a:ext uri="{FF2B5EF4-FFF2-40B4-BE49-F238E27FC236}">
                <a16:creationId xmlns:a16="http://schemas.microsoft.com/office/drawing/2014/main" id="{7C465590-2ED3-4DF0-984B-BE29ABE2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9575"/>
            <a:ext cx="3095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6807"/>
                </a:solidFill>
                <a:latin typeface="Arial"/>
                <a:ea typeface="Arial"/>
                <a:cs typeface="Arial"/>
              </a:rPr>
              <a:t>feedback fx_q / scale_q</a:t>
            </a:r>
          </a:p>
        </p:txBody>
      </p:sp>
      <p:sp>
        <p:nvSpPr>
          <p:cNvPr id="52" name="text-52">
            <a:extLst xmlns:a="http://schemas.openxmlformats.org/drawingml/2006/main">
              <a:ext uri="{FF2B5EF4-FFF2-40B4-BE49-F238E27FC236}">
                <a16:creationId xmlns:a16="http://schemas.microsoft.com/office/drawing/2014/main" id="{214600F6-C817-49F1-AD32-1819AB6B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387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P_hat = Y + Σ trunc_Q12(Y / 2^Sᵢ)</a:t>
            </a:r>
          </a:p>
        </p:txBody>
      </p:sp>
      <p:sp>
        <p:nvSpPr>
          <p:cNvPr id="53" name="text-53">
            <a:extLst xmlns:a="http://schemas.openxmlformats.org/drawingml/2006/main">
              <a:ext uri="{FF2B5EF4-FFF2-40B4-BE49-F238E27FC236}">
                <a16:creationId xmlns:a16="http://schemas.microsoft.com/office/drawing/2014/main" id="{4439A6D8-0066-4341-9992-6DF31C99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57825"/>
            <a:ext cx="10715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Chốt dấu và sf_A + sf_B tại launch. Sau core_done, chuyển acc sang normalize / round.</a:t>
            </a:r>
          </a:p>
        </p:txBody>
      </p:sp>
    </p:spTree>
    <p:extLst>
      <p:ext uri="{BB962C8B-B14F-4D97-AF65-F5344CB8AC3E}">
        <p14:creationId xmlns:p14="http://schemas.microsoft.com/office/powerpoint/2010/main" val="19020044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63" name="wire-116">
            <a:extLst xmlns:a="http://schemas.openxmlformats.org/drawingml/2006/main">
              <a:ext uri="{FF2B5EF4-FFF2-40B4-BE49-F238E27FC236}">
                <a16:creationId xmlns:a16="http://schemas.microsoft.com/office/drawing/2014/main" id="{5CCF50A3-D624-4998-8E01-70FBDA586A3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058400" y="4533900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62" name="wire-115">
            <a:extLst xmlns:a="http://schemas.openxmlformats.org/drawingml/2006/main">
              <a:ext uri="{FF2B5EF4-FFF2-40B4-BE49-F238E27FC236}">
                <a16:creationId xmlns:a16="http://schemas.microsoft.com/office/drawing/2014/main" id="{BE4D13F8-19B5-4201-9CDC-51B034583BD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058400" y="2609850"/>
            <a:ext cx="16764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61" name="wire-114">
            <a:extLst xmlns:a="http://schemas.openxmlformats.org/drawingml/2006/main">
              <a:ext uri="{FF2B5EF4-FFF2-40B4-BE49-F238E27FC236}">
                <a16:creationId xmlns:a16="http://schemas.microsoft.com/office/drawing/2014/main" id="{55E75845-DED7-44D8-95A1-3C3B5113B0A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648825" y="3524250"/>
            <a:ext cx="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dash"/>
            <a:tailEnd type="triangle" w="sm" len="sm"/>
          </a:ln>
        </p:spPr>
      </p:cxnSp>
      <p:cxnSp>
        <p:nvCxnSpPr>
          <p:cNvPr id="60" name="wire-113">
            <a:extLst xmlns:a="http://schemas.openxmlformats.org/drawingml/2006/main">
              <a:ext uri="{FF2B5EF4-FFF2-40B4-BE49-F238E27FC236}">
                <a16:creationId xmlns:a16="http://schemas.microsoft.com/office/drawing/2014/main" id="{D5EFD6A3-01D6-415C-B32B-3D93F31009B4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9648825" y="3143250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dash"/>
            <a:tailEnd type="triangle" w="sm" len="sm"/>
          </a:ln>
        </p:spPr>
      </p:cxnSp>
      <p:cxnSp>
        <p:nvCxnSpPr>
          <p:cNvPr id="59" name="wire-112">
            <a:extLst xmlns:a="http://schemas.openxmlformats.org/drawingml/2006/main">
              <a:ext uri="{FF2B5EF4-FFF2-40B4-BE49-F238E27FC236}">
                <a16:creationId xmlns:a16="http://schemas.microsoft.com/office/drawing/2014/main" id="{DCF224A9-D121-4F7A-A191-590320CC023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096375" y="352425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dash"/>
            <a:tailEnd type="none" w="sm" len="sm"/>
          </a:ln>
        </p:spPr>
      </p:cxnSp>
      <p:cxnSp>
        <p:nvCxnSpPr>
          <p:cNvPr id="58" name="wire-111">
            <a:extLst xmlns:a="http://schemas.openxmlformats.org/drawingml/2006/main">
              <a:ext uri="{FF2B5EF4-FFF2-40B4-BE49-F238E27FC236}">
                <a16:creationId xmlns:a16="http://schemas.microsoft.com/office/drawing/2014/main" id="{228A0453-7DF9-4A56-BF02-F370824E35E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096375" y="3209925"/>
            <a:ext cx="0" cy="3143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dash"/>
            <a:tailEnd type="none" w="sm" len="sm"/>
          </a:ln>
        </p:spPr>
      </p:cxnSp>
      <p:cxnSp>
        <p:nvCxnSpPr>
          <p:cNvPr id="57" name="wire-110">
            <a:extLst xmlns:a="http://schemas.openxmlformats.org/drawingml/2006/main">
              <a:ext uri="{FF2B5EF4-FFF2-40B4-BE49-F238E27FC236}">
                <a16:creationId xmlns:a16="http://schemas.microsoft.com/office/drawing/2014/main" id="{131ED1D7-7AE9-48E6-BF13-3D5FC089221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553450" y="3209925"/>
            <a:ext cx="5429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dash"/>
            <a:tailEnd type="none" w="sm" len="sm"/>
          </a:ln>
        </p:spPr>
      </p:cxnSp>
      <p:cxnSp>
        <p:nvCxnSpPr>
          <p:cNvPr id="56" name="wire-109">
            <a:extLst xmlns:a="http://schemas.openxmlformats.org/drawingml/2006/main">
              <a:ext uri="{FF2B5EF4-FFF2-40B4-BE49-F238E27FC236}">
                <a16:creationId xmlns:a16="http://schemas.microsoft.com/office/drawing/2014/main" id="{F5768D1E-5C44-412C-A8B9-FAF2ECEA730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782050" y="42672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55" name="wire-108">
            <a:extLst xmlns:a="http://schemas.openxmlformats.org/drawingml/2006/main">
              <a:ext uri="{FF2B5EF4-FFF2-40B4-BE49-F238E27FC236}">
                <a16:creationId xmlns:a16="http://schemas.microsoft.com/office/drawing/2014/main" id="{7F6B1B67-0F80-4FE4-A9F9-3471A052411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782050" y="3333750"/>
            <a:ext cx="0" cy="933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54" name="wire-107">
            <a:extLst xmlns:a="http://schemas.openxmlformats.org/drawingml/2006/main">
              <a:ext uri="{FF2B5EF4-FFF2-40B4-BE49-F238E27FC236}">
                <a16:creationId xmlns:a16="http://schemas.microsoft.com/office/drawing/2014/main" id="{EF35EB9B-2CC9-4D39-9D69-3C067AF38BA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029200" y="3333750"/>
            <a:ext cx="3752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53" name="wire-106">
            <a:extLst xmlns:a="http://schemas.openxmlformats.org/drawingml/2006/main">
              <a:ext uri="{FF2B5EF4-FFF2-40B4-BE49-F238E27FC236}">
                <a16:creationId xmlns:a16="http://schemas.microsoft.com/office/drawing/2014/main" id="{9276331F-8709-444B-8AA5-324AE679B02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029200" y="2695575"/>
            <a:ext cx="0" cy="6381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52" name="wire-105">
            <a:extLst xmlns:a="http://schemas.openxmlformats.org/drawingml/2006/main">
              <a:ext uri="{FF2B5EF4-FFF2-40B4-BE49-F238E27FC236}">
                <a16:creationId xmlns:a16="http://schemas.microsoft.com/office/drawing/2014/main" id="{FFBF60D0-DC90-4CD6-AA38-1E94BAAEB64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52975" y="2695575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51" name="wire-104">
            <a:extLst xmlns:a="http://schemas.openxmlformats.org/drawingml/2006/main">
              <a:ext uri="{FF2B5EF4-FFF2-40B4-BE49-F238E27FC236}">
                <a16:creationId xmlns:a16="http://schemas.microsoft.com/office/drawing/2014/main" id="{F0D3DAD8-9313-41A9-87C8-697D7BC0C1A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829675" y="2876550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50" name="wire-103">
            <a:extLst xmlns:a="http://schemas.openxmlformats.org/drawingml/2006/main">
              <a:ext uri="{FF2B5EF4-FFF2-40B4-BE49-F238E27FC236}">
                <a16:creationId xmlns:a16="http://schemas.microsoft.com/office/drawing/2014/main" id="{0BDBB48C-73E3-4DF3-88C6-DE37131C3874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8829675" y="2876550"/>
            <a:ext cx="0" cy="2952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49" name="wire-102">
            <a:extLst xmlns:a="http://schemas.openxmlformats.org/drawingml/2006/main">
              <a:ext uri="{FF2B5EF4-FFF2-40B4-BE49-F238E27FC236}">
                <a16:creationId xmlns:a16="http://schemas.microsoft.com/office/drawing/2014/main" id="{A549CE62-F2AF-48F3-8B1E-D1202E4A993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838700" y="3171825"/>
            <a:ext cx="399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48" name="wire-101">
            <a:extLst xmlns:a="http://schemas.openxmlformats.org/drawingml/2006/main">
              <a:ext uri="{FF2B5EF4-FFF2-40B4-BE49-F238E27FC236}">
                <a16:creationId xmlns:a16="http://schemas.microsoft.com/office/drawing/2014/main" id="{B20C2B3C-3370-4809-8256-A1EC21B8A46C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4838700" y="3171825"/>
            <a:ext cx="0" cy="11049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47" name="wire-100">
            <a:extLst xmlns:a="http://schemas.openxmlformats.org/drawingml/2006/main">
              <a:ext uri="{FF2B5EF4-FFF2-40B4-BE49-F238E27FC236}">
                <a16:creationId xmlns:a16="http://schemas.microsoft.com/office/drawing/2014/main" id="{F1365C7E-72E5-4527-996D-1C519A323E9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52975" y="4276725"/>
            <a:ext cx="85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46" name="wire-99">
            <a:extLst xmlns:a="http://schemas.openxmlformats.org/drawingml/2006/main">
              <a:ext uri="{FF2B5EF4-FFF2-40B4-BE49-F238E27FC236}">
                <a16:creationId xmlns:a16="http://schemas.microsoft.com/office/drawing/2014/main" id="{0DE308A3-9F05-497B-915C-74A7641C10E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963025" y="4800600"/>
            <a:ext cx="2952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45" name="wire-98">
            <a:extLst xmlns:a="http://schemas.openxmlformats.org/drawingml/2006/main">
              <a:ext uri="{FF2B5EF4-FFF2-40B4-BE49-F238E27FC236}">
                <a16:creationId xmlns:a16="http://schemas.microsoft.com/office/drawing/2014/main" id="{6A62A953-AE28-44C0-8A2F-E1CC6DE48673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8963025" y="4800600"/>
            <a:ext cx="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44" name="wire-97">
            <a:extLst xmlns:a="http://schemas.openxmlformats.org/drawingml/2006/main">
              <a:ext uri="{FF2B5EF4-FFF2-40B4-BE49-F238E27FC236}">
                <a16:creationId xmlns:a16="http://schemas.microsoft.com/office/drawing/2014/main" id="{B720E75B-A46B-4C86-A738-E872A4AB83E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953000" y="5257800"/>
            <a:ext cx="40100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43" name="wire-96">
            <a:extLst xmlns:a="http://schemas.openxmlformats.org/drawingml/2006/main">
              <a:ext uri="{FF2B5EF4-FFF2-40B4-BE49-F238E27FC236}">
                <a16:creationId xmlns:a16="http://schemas.microsoft.com/office/drawing/2014/main" id="{373F335F-E166-4EB5-B111-E2E9C4F3EBB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953000" y="4191000"/>
            <a:ext cx="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42" name="wire-95">
            <a:extLst xmlns:a="http://schemas.openxmlformats.org/drawingml/2006/main">
              <a:ext uri="{FF2B5EF4-FFF2-40B4-BE49-F238E27FC236}">
                <a16:creationId xmlns:a16="http://schemas.microsoft.com/office/drawing/2014/main" id="{A69A1201-9DCB-46DF-AAEA-BDE8ACF6E0B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52975" y="4191000"/>
            <a:ext cx="2000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41" name="wire-94">
            <a:extLst xmlns:a="http://schemas.openxmlformats.org/drawingml/2006/main">
              <a:ext uri="{FF2B5EF4-FFF2-40B4-BE49-F238E27FC236}">
                <a16:creationId xmlns:a16="http://schemas.microsoft.com/office/drawing/2014/main" id="{76956053-8234-465A-A056-12A46750A2A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934450" y="23431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40" name="wire-93">
            <a:extLst xmlns:a="http://schemas.openxmlformats.org/drawingml/2006/main">
              <a:ext uri="{FF2B5EF4-FFF2-40B4-BE49-F238E27FC236}">
                <a16:creationId xmlns:a16="http://schemas.microsoft.com/office/drawing/2014/main" id="{31E63FFB-BF29-4138-AA58-7F02FE03B12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934450" y="1647825"/>
            <a:ext cx="0" cy="6953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39" name="wire-92">
            <a:extLst xmlns:a="http://schemas.openxmlformats.org/drawingml/2006/main">
              <a:ext uri="{FF2B5EF4-FFF2-40B4-BE49-F238E27FC236}">
                <a16:creationId xmlns:a16="http://schemas.microsoft.com/office/drawing/2014/main" id="{303E44AA-1E28-4E95-A5C1-B44A0B6F708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924425" y="1647825"/>
            <a:ext cx="40100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38" name="wire-91">
            <a:extLst xmlns:a="http://schemas.openxmlformats.org/drawingml/2006/main">
              <a:ext uri="{FF2B5EF4-FFF2-40B4-BE49-F238E27FC236}">
                <a16:creationId xmlns:a16="http://schemas.microsoft.com/office/drawing/2014/main" id="{AF04C53C-FE8B-48C4-8088-A53D3840EF3D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4924425" y="1647825"/>
            <a:ext cx="0" cy="7334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37" name="wire-90">
            <a:extLst xmlns:a="http://schemas.openxmlformats.org/drawingml/2006/main">
              <a:ext uri="{FF2B5EF4-FFF2-40B4-BE49-F238E27FC236}">
                <a16:creationId xmlns:a16="http://schemas.microsoft.com/office/drawing/2014/main" id="{F35AE48B-8752-4784-9C7A-75B9D4CFCE4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52975" y="23812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28" name="wire-81">
            <a:extLst xmlns:a="http://schemas.openxmlformats.org/drawingml/2006/main">
              <a:ext uri="{FF2B5EF4-FFF2-40B4-BE49-F238E27FC236}">
                <a16:creationId xmlns:a16="http://schemas.microsoft.com/office/drawing/2014/main" id="{ADAF478E-5A5F-4280-816B-29C51E0F5F6C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8248650" y="3514725"/>
            <a:ext cx="0" cy="5334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27" name="wire-80">
            <a:extLst xmlns:a="http://schemas.openxmlformats.org/drawingml/2006/main">
              <a:ext uri="{FF2B5EF4-FFF2-40B4-BE49-F238E27FC236}">
                <a16:creationId xmlns:a16="http://schemas.microsoft.com/office/drawing/2014/main" id="{C4356D14-C6B9-4D02-B199-F30F5CD2400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543800" y="4048125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26" name="wire-79">
            <a:extLst xmlns:a="http://schemas.openxmlformats.org/drawingml/2006/main">
              <a:ext uri="{FF2B5EF4-FFF2-40B4-BE49-F238E27FC236}">
                <a16:creationId xmlns:a16="http://schemas.microsoft.com/office/drawing/2014/main" id="{90F7FE2F-3D99-44D8-A01F-23694F419B2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248650" y="2371725"/>
            <a:ext cx="0" cy="5429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25" name="wire-78">
            <a:extLst xmlns:a="http://schemas.openxmlformats.org/drawingml/2006/main">
              <a:ext uri="{FF2B5EF4-FFF2-40B4-BE49-F238E27FC236}">
                <a16:creationId xmlns:a16="http://schemas.microsoft.com/office/drawing/2014/main" id="{A83FB13C-AB28-474E-8915-4F5B55615C0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543800" y="2371725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none" w="sm" len="sm"/>
          </a:ln>
        </p:spPr>
      </p:cxnSp>
      <p:cxnSp>
        <p:nvCxnSpPr>
          <p:cNvPr id="22" name="wire-75">
            <a:extLst xmlns:a="http://schemas.openxmlformats.org/drawingml/2006/main">
              <a:ext uri="{FF2B5EF4-FFF2-40B4-BE49-F238E27FC236}">
                <a16:creationId xmlns:a16="http://schemas.microsoft.com/office/drawing/2014/main" id="{355A083D-2A51-4298-ACBA-3B0564DFC53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52975" y="40481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21" name="wire-74">
            <a:extLst xmlns:a="http://schemas.openxmlformats.org/drawingml/2006/main">
              <a:ext uri="{FF2B5EF4-FFF2-40B4-BE49-F238E27FC236}">
                <a16:creationId xmlns:a16="http://schemas.microsoft.com/office/drawing/2014/main" id="{0BD31BA0-0A29-477C-B7FD-32BC73C42BE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52975" y="23526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14" name="wire-67">
            <a:extLst xmlns:a="http://schemas.openxmlformats.org/drawingml/2006/main">
              <a:ext uri="{FF2B5EF4-FFF2-40B4-BE49-F238E27FC236}">
                <a16:creationId xmlns:a16="http://schemas.microsoft.com/office/drawing/2014/main" id="{4B0D1717-14EB-4D8E-82EF-CD2BFEC2C33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61975" y="4229100"/>
            <a:ext cx="19526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13" name="wire-66">
            <a:extLst xmlns:a="http://schemas.openxmlformats.org/drawingml/2006/main">
              <a:ext uri="{FF2B5EF4-FFF2-40B4-BE49-F238E27FC236}">
                <a16:creationId xmlns:a16="http://schemas.microsoft.com/office/drawing/2014/main" id="{D49233C2-A25C-467C-80D9-9C55A223A72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61975" y="2590800"/>
            <a:ext cx="19526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47D92"/>
            </a:solidFill>
            <a:prstDash val="solid"/>
            <a:tailEnd type="triangle" w="sm" len="sm"/>
          </a:ln>
        </p:spPr>
      </p:cxnSp>
      <p:cxnSp>
        <p:nvCxnSpPr>
          <p:cNvPr id="3" name="wire-56">
            <a:extLst xmlns:a="http://schemas.openxmlformats.org/drawingml/2006/main">
              <a:ext uri="{FF2B5EF4-FFF2-40B4-BE49-F238E27FC236}">
                <a16:creationId xmlns:a16="http://schemas.microsoft.com/office/drawing/2014/main" id="{B4CF0FD2-4526-431E-BCCD-BCEFD7D65A0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57200" y="1476375"/>
            <a:ext cx="11277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6E2"/>
            </a:solidFill>
            <a:prstDash val="solid"/>
            <a:tailEnd type="none" w="sm" len="sm"/>
          </a:ln>
        </p:spPr>
      </p:cxnSp>
      <p:sp>
        <p:nvSpPr>
          <p:cNvPr id="71" name="text-54">
            <a:extLst xmlns:a="http://schemas.openxmlformats.org/drawingml/2006/main">
              <a:ext uri="{FF2B5EF4-FFF2-40B4-BE49-F238E27FC236}">
                <a16:creationId xmlns:a16="http://schemas.microsoft.com/office/drawing/2014/main" id="{1B809189-2B97-4BA0-8019-668541E9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277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OPS: chọn toán hạng điều khiển vòng lặp</a:t>
            </a:r>
          </a:p>
        </p:txBody>
      </p:sp>
      <p:sp>
        <p:nvSpPr>
          <p:cNvPr id="2" name="text-55">
            <a:extLst xmlns:a="http://schemas.openxmlformats.org/drawingml/2006/main">
              <a:ext uri="{FF2B5EF4-FFF2-40B4-BE49-F238E27FC236}">
                <a16:creationId xmlns:a16="http://schemas.microsoft.com/office/drawing/2014/main" id="{C5B33B1C-7BDE-4740-BE8D-7FF1A71D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42975"/>
            <a:ext cx="1127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OPS=1 chọn fraction có ít bit 1 hơn. Hòa popcount giữ A làm X</a:t>
            </a:r>
          </a:p>
        </p:txBody>
      </p:sp>
      <p:sp>
        <p:nvSpPr>
          <p:cNvPr id="4" name="text-57">
            <a:extLst xmlns:a="http://schemas.openxmlformats.org/drawingml/2006/main">
              <a:ext uri="{FF2B5EF4-FFF2-40B4-BE49-F238E27FC236}">
                <a16:creationId xmlns:a16="http://schemas.microsoft.com/office/drawing/2014/main" id="{310F981C-5FF5-47B8-B2E6-33D35526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29375"/>
            <a:ext cx="723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2 / 7</a:t>
            </a:r>
          </a:p>
        </p:txBody>
      </p:sp>
      <p:sp>
        <p:nvSpPr>
          <p:cNvPr id="5" name="text-58">
            <a:extLst xmlns:a="http://schemas.openxmlformats.org/drawingml/2006/main">
              <a:ext uri="{FF2B5EF4-FFF2-40B4-BE49-F238E27FC236}">
                <a16:creationId xmlns:a16="http://schemas.microsoft.com/office/drawing/2014/main" id="{3B5F7A04-7625-42E9-BBF0-B60D713C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1885950"/>
            <a:ext cx="2047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47D92"/>
                </a:solidFill>
                <a:latin typeface="Arial"/>
                <a:ea typeface="Arial"/>
                <a:cs typeface="Arial"/>
              </a:rPr>
              <a:t>frac_A [25:0]</a:t>
            </a:r>
          </a:p>
        </p:txBody>
      </p:sp>
      <p:sp>
        <p:nvSpPr>
          <p:cNvPr id="6" name="text-59">
            <a:extLst xmlns:a="http://schemas.openxmlformats.org/drawingml/2006/main">
              <a:ext uri="{FF2B5EF4-FFF2-40B4-BE49-F238E27FC236}">
                <a16:creationId xmlns:a16="http://schemas.microsoft.com/office/drawing/2014/main" id="{96C4166F-DAC9-451A-82DA-22290352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3543300"/>
            <a:ext cx="2047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47D92"/>
                </a:solidFill>
                <a:latin typeface="Arial"/>
                <a:ea typeface="Arial"/>
                <a:cs typeface="Arial"/>
              </a:rPr>
              <a:t>frac_B [25:0]</a:t>
            </a:r>
          </a:p>
        </p:txBody>
      </p:sp>
      <p:sp>
        <p:nvSpPr>
          <p:cNvPr id="7" name="Chọn độ rộng-60">
            <a:extLst xmlns:a="http://schemas.openxmlformats.org/drawingml/2006/main">
              <a:ext uri="{FF2B5EF4-FFF2-40B4-BE49-F238E27FC236}">
                <a16:creationId xmlns:a16="http://schemas.microsoft.com/office/drawing/2014/main" id="{AD5A3B51-691A-41E8-A296-43299397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85950"/>
            <a:ext cx="22383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8"/>
          </a:solidFill>
          <a:ln xmlns:a="http://schemas.openxmlformats.org/drawingml/2006/main" w="19050">
            <a:solidFill>
              <a:srgbClr val="147D92"/>
            </a:solidFill>
          </a:ln>
        </p:spPr>
      </p:sp>
      <p:sp>
        <p:nvSpPr>
          <p:cNvPr id="8" name="text-61">
            <a:extLst xmlns:a="http://schemas.openxmlformats.org/drawingml/2006/main">
              <a:ext uri="{FF2B5EF4-FFF2-40B4-BE49-F238E27FC236}">
                <a16:creationId xmlns:a16="http://schemas.microsoft.com/office/drawing/2014/main" id="{8D6B7B08-846F-442A-B62F-5E40FCA8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009775"/>
            <a:ext cx="2047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7D92"/>
                </a:solidFill>
                <a:latin typeface="Arial"/>
                <a:ea typeface="Arial"/>
                <a:cs typeface="Arial"/>
              </a:rPr>
              <a:t>Chọn độ rộng</a:t>
            </a:r>
          </a:p>
        </p:txBody>
      </p:sp>
      <p:sp>
        <p:nvSpPr>
          <p:cNvPr id="9" name="text-62">
            <a:extLst xmlns:a="http://schemas.openxmlformats.org/drawingml/2006/main">
              <a:ext uri="{FF2B5EF4-FFF2-40B4-BE49-F238E27FC236}">
                <a16:creationId xmlns:a16="http://schemas.microsoft.com/office/drawing/2014/main" id="{F56D881A-CDC1-449C-A64A-744172C2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81250"/>
            <a:ext cx="2047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Exact: 26 bit</a:t>
            </a:r>
          </a:p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Approx: 12 MSB</a:t>
            </a:r>
          </a:p>
        </p:txBody>
      </p:sp>
      <p:sp>
        <p:nvSpPr>
          <p:cNvPr id="10" name="Chọn độ rộng-63">
            <a:extLst xmlns:a="http://schemas.openxmlformats.org/drawingml/2006/main">
              <a:ext uri="{FF2B5EF4-FFF2-40B4-BE49-F238E27FC236}">
                <a16:creationId xmlns:a16="http://schemas.microsoft.com/office/drawing/2014/main" id="{A77236E7-21BA-4C46-B32A-385D95F2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543300"/>
            <a:ext cx="22383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8"/>
          </a:solidFill>
          <a:ln xmlns:a="http://schemas.openxmlformats.org/drawingml/2006/main" w="19050">
            <a:solidFill>
              <a:srgbClr val="147D92"/>
            </a:solidFill>
          </a:ln>
        </p:spPr>
      </p:sp>
      <p:sp>
        <p:nvSpPr>
          <p:cNvPr id="11" name="text-64">
            <a:extLst xmlns:a="http://schemas.openxmlformats.org/drawingml/2006/main">
              <a:ext uri="{FF2B5EF4-FFF2-40B4-BE49-F238E27FC236}">
                <a16:creationId xmlns:a16="http://schemas.microsoft.com/office/drawing/2014/main" id="{9BDC0325-452D-4F68-A1C6-D71ABCCF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67125"/>
            <a:ext cx="2047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7D92"/>
                </a:solidFill>
                <a:latin typeface="Arial"/>
                <a:ea typeface="Arial"/>
                <a:cs typeface="Arial"/>
              </a:rPr>
              <a:t>Chọn độ rộng</a:t>
            </a:r>
          </a:p>
        </p:txBody>
      </p:sp>
      <p:sp>
        <p:nvSpPr>
          <p:cNvPr id="12" name="text-65">
            <a:extLst xmlns:a="http://schemas.openxmlformats.org/drawingml/2006/main">
              <a:ext uri="{FF2B5EF4-FFF2-40B4-BE49-F238E27FC236}">
                <a16:creationId xmlns:a16="http://schemas.microsoft.com/office/drawing/2014/main" id="{F8866EC8-644F-43F4-AC85-CEC5C59F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38600"/>
            <a:ext cx="2047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Exact: 26 bit</a:t>
            </a:r>
          </a:p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Approx: 12 MSB</a:t>
            </a:r>
          </a:p>
        </p:txBody>
      </p:sp>
      <p:sp>
        <p:nvSpPr>
          <p:cNvPr id="15" name="Popcount A-68">
            <a:extLst xmlns:a="http://schemas.openxmlformats.org/drawingml/2006/main">
              <a:ext uri="{FF2B5EF4-FFF2-40B4-BE49-F238E27FC236}">
                <a16:creationId xmlns:a16="http://schemas.microsoft.com/office/drawing/2014/main" id="{F9FD0342-95AF-49CF-B3FE-11FA9E5C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847850"/>
            <a:ext cx="2381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8"/>
          </a:solidFill>
          <a:ln xmlns:a="http://schemas.openxmlformats.org/drawingml/2006/main" w="19050">
            <a:solidFill>
              <a:srgbClr val="147D92"/>
            </a:solidFill>
          </a:ln>
        </p:spPr>
      </p:sp>
      <p:sp>
        <p:nvSpPr>
          <p:cNvPr id="16" name="text-69">
            <a:extLst xmlns:a="http://schemas.openxmlformats.org/drawingml/2006/main">
              <a:ext uri="{FF2B5EF4-FFF2-40B4-BE49-F238E27FC236}">
                <a16:creationId xmlns:a16="http://schemas.microsoft.com/office/drawing/2014/main" id="{89B98EF9-AC91-4D0D-B382-F6F4D53F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971675"/>
            <a:ext cx="2190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7D92"/>
                </a:solidFill>
                <a:latin typeface="Arial"/>
                <a:ea typeface="Arial"/>
                <a:cs typeface="Arial"/>
              </a:rPr>
              <a:t>Popcount A</a:t>
            </a:r>
          </a:p>
        </p:txBody>
      </p:sp>
      <p:sp>
        <p:nvSpPr>
          <p:cNvPr id="17" name="text-70">
            <a:extLst xmlns:a="http://schemas.openxmlformats.org/drawingml/2006/main">
              <a:ext uri="{FF2B5EF4-FFF2-40B4-BE49-F238E27FC236}">
                <a16:creationId xmlns:a16="http://schemas.microsoft.com/office/drawing/2014/main" id="{6AACE83D-B967-4616-A19E-558CCF5B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343150"/>
            <a:ext cx="2190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Cây cộng cân bằng</a:t>
            </a:r>
          </a:p>
        </p:txBody>
      </p:sp>
      <p:sp>
        <p:nvSpPr>
          <p:cNvPr id="18" name="Popcount B-71">
            <a:extLst xmlns:a="http://schemas.openxmlformats.org/drawingml/2006/main">
              <a:ext uri="{FF2B5EF4-FFF2-40B4-BE49-F238E27FC236}">
                <a16:creationId xmlns:a16="http://schemas.microsoft.com/office/drawing/2014/main" id="{FB62EA26-B361-4772-B8BE-A0550594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33775"/>
            <a:ext cx="2381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8"/>
          </a:solidFill>
          <a:ln xmlns:a="http://schemas.openxmlformats.org/drawingml/2006/main" w="19050">
            <a:solidFill>
              <a:srgbClr val="147D92"/>
            </a:solidFill>
          </a:ln>
        </p:spPr>
      </p:sp>
      <p:sp>
        <p:nvSpPr>
          <p:cNvPr id="19" name="text-72">
            <a:extLst xmlns:a="http://schemas.openxmlformats.org/drawingml/2006/main">
              <a:ext uri="{FF2B5EF4-FFF2-40B4-BE49-F238E27FC236}">
                <a16:creationId xmlns:a16="http://schemas.microsoft.com/office/drawing/2014/main" id="{5FD1F625-F290-48C5-A83F-3F97C331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657600"/>
            <a:ext cx="2190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7D92"/>
                </a:solidFill>
                <a:latin typeface="Arial"/>
                <a:ea typeface="Arial"/>
                <a:cs typeface="Arial"/>
              </a:rPr>
              <a:t>Popcount B</a:t>
            </a:r>
          </a:p>
        </p:txBody>
      </p:sp>
      <p:sp>
        <p:nvSpPr>
          <p:cNvPr id="20" name="text-73">
            <a:extLst xmlns:a="http://schemas.openxmlformats.org/drawingml/2006/main">
              <a:ext uri="{FF2B5EF4-FFF2-40B4-BE49-F238E27FC236}">
                <a16:creationId xmlns:a16="http://schemas.microsoft.com/office/drawing/2014/main" id="{A792B2E4-75F8-4F91-9A8D-490E7F8F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029075"/>
            <a:ext cx="2190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Cây cộng cân bằng</a:t>
            </a:r>
          </a:p>
        </p:txBody>
      </p:sp>
      <p:sp>
        <p:nvSpPr>
          <p:cNvPr id="23" name="operator-76">
            <a:extLst xmlns:a="http://schemas.openxmlformats.org/drawingml/2006/main">
              <a:ext uri="{FF2B5EF4-FFF2-40B4-BE49-F238E27FC236}">
                <a16:creationId xmlns:a16="http://schemas.microsoft.com/office/drawing/2014/main" id="{393749F2-BDCE-46B9-8E11-A1122E757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14650"/>
            <a:ext cx="600075" cy="6000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6F8"/>
          </a:solidFill>
          <a:ln xmlns:a="http://schemas.openxmlformats.org/drawingml/2006/main" w="19050">
            <a:solidFill>
              <a:srgbClr val="147D92"/>
            </a:solidFill>
          </a:ln>
        </p:spPr>
      </p:sp>
      <p:sp>
        <p:nvSpPr>
          <p:cNvPr id="24" name="text-77">
            <a:extLst xmlns:a="http://schemas.openxmlformats.org/drawingml/2006/main">
              <a:ext uri="{FF2B5EF4-FFF2-40B4-BE49-F238E27FC236}">
                <a16:creationId xmlns:a16="http://schemas.microsoft.com/office/drawing/2014/main" id="{74CF56C1-FF53-4F21-BE5E-F74BFBD6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14650"/>
            <a:ext cx="6000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92"/>
                </a:solidFill>
                <a:latin typeface="Arial"/>
                <a:ea typeface="Arial"/>
                <a:cs typeface="Arial"/>
              </a:rPr>
              <a:t>B&lt;A</a:t>
            </a:r>
          </a:p>
        </p:txBody>
      </p:sp>
      <p:sp>
        <p:nvSpPr>
          <p:cNvPr id="29" name="mux-82">
            <a:extLst xmlns:a="http://schemas.openxmlformats.org/drawingml/2006/main">
              <a:ext uri="{FF2B5EF4-FFF2-40B4-BE49-F238E27FC236}">
                <a16:creationId xmlns:a16="http://schemas.microsoft.com/office/drawing/2014/main" id="{7EA60880-1CF6-49F1-A0E0-3820E264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800100" cy="1066800"/>
          </a:xfrm>
          <a:custGeom xmlns:a="http://schemas.openxmlformats.org/drawingml/2006/main">
            <a:pathLst>
              <a:path w="800100" h="1066800">
                <a:moveTo>
                  <a:pt x="0" y="0"/>
                </a:moveTo>
                <a:lnTo>
                  <a:pt x="800100" y="213360"/>
                </a:lnTo>
                <a:lnTo>
                  <a:pt x="800100" y="853440"/>
                </a:lnTo>
                <a:lnTo>
                  <a:pt x="0" y="1066800"/>
                </a:lnTo>
                <a:close/>
              </a:path>
            </a:pathLst>
          </a:custGeom>
          <a:solidFill xmlns:a="http://schemas.openxmlformats.org/drawingml/2006/main">
            <a:srgbClr val="E8F6F8"/>
          </a:solidFill>
          <a:ln xmlns:a="http://schemas.openxmlformats.org/drawingml/2006/main" w="19050">
            <a:solidFill>
              <a:srgbClr val="147D92"/>
            </a:solidFill>
          </a:ln>
        </p:spPr>
      </p:sp>
      <p:sp>
        <p:nvSpPr>
          <p:cNvPr id="30" name="text-83">
            <a:extLst xmlns:a="http://schemas.openxmlformats.org/drawingml/2006/main">
              <a:ext uri="{FF2B5EF4-FFF2-40B4-BE49-F238E27FC236}">
                <a16:creationId xmlns:a16="http://schemas.microsoft.com/office/drawing/2014/main" id="{8CFAE90B-2A94-4948-9F3C-E08329E4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438400"/>
            <a:ext cx="70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7D92"/>
                </a:solidFill>
                <a:latin typeface="Arial"/>
                <a:ea typeface="Arial"/>
                <a:cs typeface="Arial"/>
              </a:rPr>
              <a:t>SEL</a:t>
            </a:r>
          </a:p>
        </p:txBody>
      </p:sp>
      <p:sp>
        <p:nvSpPr>
          <p:cNvPr id="31" name="mux-84">
            <a:extLst xmlns:a="http://schemas.openxmlformats.org/drawingml/2006/main">
              <a:ext uri="{FF2B5EF4-FFF2-40B4-BE49-F238E27FC236}">
                <a16:creationId xmlns:a16="http://schemas.microsoft.com/office/drawing/2014/main" id="{F0F49786-A3B1-4370-9332-A6034436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000500"/>
            <a:ext cx="800100" cy="1066800"/>
          </a:xfrm>
          <a:custGeom xmlns:a="http://schemas.openxmlformats.org/drawingml/2006/main">
            <a:pathLst>
              <a:path w="800100" h="1066800">
                <a:moveTo>
                  <a:pt x="0" y="0"/>
                </a:moveTo>
                <a:lnTo>
                  <a:pt x="800100" y="213360"/>
                </a:lnTo>
                <a:lnTo>
                  <a:pt x="800100" y="853440"/>
                </a:lnTo>
                <a:lnTo>
                  <a:pt x="0" y="1066800"/>
                </a:lnTo>
                <a:close/>
              </a:path>
            </a:pathLst>
          </a:custGeom>
          <a:solidFill xmlns:a="http://schemas.openxmlformats.org/drawingml/2006/main">
            <a:srgbClr val="E8F6F8"/>
          </a:solidFill>
          <a:ln xmlns:a="http://schemas.openxmlformats.org/drawingml/2006/main" w="19050">
            <a:solidFill>
              <a:srgbClr val="147D92"/>
            </a:solidFill>
          </a:ln>
        </p:spPr>
      </p:sp>
      <p:sp>
        <p:nvSpPr>
          <p:cNvPr id="32" name="text-85">
            <a:extLst xmlns:a="http://schemas.openxmlformats.org/drawingml/2006/main">
              <a:ext uri="{FF2B5EF4-FFF2-40B4-BE49-F238E27FC236}">
                <a16:creationId xmlns:a16="http://schemas.microsoft.com/office/drawing/2014/main" id="{B019FA20-2BB0-45B4-82A0-CB634DB2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362450"/>
            <a:ext cx="70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7D92"/>
                </a:solidFill>
                <a:latin typeface="Arial"/>
                <a:ea typeface="Arial"/>
                <a:cs typeface="Arial"/>
              </a:rPr>
              <a:t>SEL</a:t>
            </a:r>
          </a:p>
        </p:txBody>
      </p:sp>
      <p:sp>
        <p:nvSpPr>
          <p:cNvPr id="33" name="text-86">
            <a:extLst xmlns:a="http://schemas.openxmlformats.org/drawingml/2006/main">
              <a:ext uri="{FF2B5EF4-FFF2-40B4-BE49-F238E27FC236}">
                <a16:creationId xmlns:a16="http://schemas.microsoft.com/office/drawing/2014/main" id="{0C1EBD61-BCD1-4B4B-8D8D-6BC10201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22885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47D92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4" name="text-87">
            <a:extLst xmlns:a="http://schemas.openxmlformats.org/drawingml/2006/main">
              <a:ext uri="{FF2B5EF4-FFF2-40B4-BE49-F238E27FC236}">
                <a16:creationId xmlns:a16="http://schemas.microsoft.com/office/drawing/2014/main" id="{F44E1EBD-7DF0-423F-945C-C5C71BD8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76225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47D92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5" name="text-88">
            <a:extLst xmlns:a="http://schemas.openxmlformats.org/drawingml/2006/main">
              <a:ext uri="{FF2B5EF4-FFF2-40B4-BE49-F238E27FC236}">
                <a16:creationId xmlns:a16="http://schemas.microsoft.com/office/drawing/2014/main" id="{9DD74481-0E40-412B-A286-D6CF5F6A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152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47D92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6" name="text-89">
            <a:extLst xmlns:a="http://schemas.openxmlformats.org/drawingml/2006/main">
              <a:ext uri="{FF2B5EF4-FFF2-40B4-BE49-F238E27FC236}">
                <a16:creationId xmlns:a16="http://schemas.microsoft.com/office/drawing/2014/main" id="{D0F1986D-C01B-4723-99B3-5B8EFA0A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6863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47D92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4" name="1.fY-117">
            <a:extLst xmlns:a="http://schemas.openxmlformats.org/drawingml/2006/main">
              <a:ext uri="{FF2B5EF4-FFF2-40B4-BE49-F238E27FC236}">
                <a16:creationId xmlns:a16="http://schemas.microsoft.com/office/drawing/2014/main" id="{65798C9E-959F-43FB-B7BE-1B5D49B4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000500"/>
            <a:ext cx="1200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8"/>
          </a:solidFill>
          <a:ln xmlns:a="http://schemas.openxmlformats.org/drawingml/2006/main" w="19050">
            <a:solidFill>
              <a:srgbClr val="147D92"/>
            </a:solidFill>
          </a:ln>
        </p:spPr>
      </p:sp>
      <p:sp>
        <p:nvSpPr>
          <p:cNvPr id="65" name="text-118">
            <a:extLst xmlns:a="http://schemas.openxmlformats.org/drawingml/2006/main">
              <a:ext uri="{FF2B5EF4-FFF2-40B4-BE49-F238E27FC236}">
                <a16:creationId xmlns:a16="http://schemas.microsoft.com/office/drawing/2014/main" id="{B5E0E8F8-8AF1-4287-B8BC-10C33544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124325"/>
            <a:ext cx="10096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7D92"/>
                </a:solidFill>
                <a:latin typeface="Arial"/>
                <a:ea typeface="Arial"/>
                <a:cs typeface="Arial"/>
              </a:rPr>
              <a:t>1.fY</a:t>
            </a:r>
          </a:p>
        </p:txBody>
      </p:sp>
      <p:sp>
        <p:nvSpPr>
          <p:cNvPr id="66" name="text-119">
            <a:extLst xmlns:a="http://schemas.openxmlformats.org/drawingml/2006/main">
              <a:ext uri="{FF2B5EF4-FFF2-40B4-BE49-F238E27FC236}">
                <a16:creationId xmlns:a16="http://schemas.microsoft.com/office/drawing/2014/main" id="{DA117602-B21A-411C-8B5B-6F971C39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495800"/>
            <a:ext cx="1009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Y mant</a:t>
            </a:r>
          </a:p>
        </p:txBody>
      </p:sp>
      <p:sp>
        <p:nvSpPr>
          <p:cNvPr id="67" name="text-120">
            <a:extLst xmlns:a="http://schemas.openxmlformats.org/drawingml/2006/main">
              <a:ext uri="{FF2B5EF4-FFF2-40B4-BE49-F238E27FC236}">
                <a16:creationId xmlns:a16="http://schemas.microsoft.com/office/drawing/2014/main" id="{D2C08845-E396-4C0A-8EBA-06B9F1F2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171700"/>
            <a:ext cx="16859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47D92"/>
                </a:solidFill>
                <a:latin typeface="Arial"/>
                <a:ea typeface="Arial"/>
                <a:cs typeface="Arial"/>
              </a:rPr>
              <a:t>X fraction</a:t>
            </a:r>
          </a:p>
        </p:txBody>
      </p:sp>
      <p:sp>
        <p:nvSpPr>
          <p:cNvPr id="68" name="text-121">
            <a:extLst xmlns:a="http://schemas.openxmlformats.org/drawingml/2006/main">
              <a:ext uri="{FF2B5EF4-FFF2-40B4-BE49-F238E27FC236}">
                <a16:creationId xmlns:a16="http://schemas.microsoft.com/office/drawing/2014/main" id="{8E802BF0-80E5-4A5D-8A6A-C5A3103B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95925"/>
            <a:ext cx="2343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47D92"/>
                </a:solidFill>
                <a:latin typeface="Arial"/>
                <a:ea typeface="Arial"/>
                <a:cs typeface="Arial"/>
              </a:rPr>
              <a:t>X: chỉ fraction</a:t>
            </a:r>
          </a:p>
          <a:p xmlns:a="http://schemas.openxmlformats.org/drawingml/2006/main">
            <a:pPr algn="l">
              <a:defRPr sz="180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47D92"/>
                </a:solidFill>
                <a:latin typeface="Arial"/>
                <a:ea typeface="Arial"/>
                <a:cs typeface="Arial"/>
              </a:rPr>
              <a:t>Y: có hidden bit</a:t>
            </a:r>
          </a:p>
        </p:txBody>
      </p:sp>
      <p:sp>
        <p:nvSpPr>
          <p:cNvPr id="69" name="text-122">
            <a:extLst xmlns:a="http://schemas.openxmlformats.org/drawingml/2006/main">
              <a:ext uri="{FF2B5EF4-FFF2-40B4-BE49-F238E27FC236}">
                <a16:creationId xmlns:a16="http://schemas.microsoft.com/office/drawing/2014/main" id="{3FA5B3BD-1FC9-4A25-95BA-A41A91CD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4355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choose_b = OPS_EN &amp;&amp; (cfg_ops == 1) &amp;&amp; (count_B &lt; count_A)</a:t>
            </a:r>
          </a:p>
        </p:txBody>
      </p:sp>
      <p:sp>
        <p:nvSpPr>
          <p:cNvPr id="70" name="text-123">
            <a:extLst xmlns:a="http://schemas.openxmlformats.org/drawingml/2006/main">
              <a:ext uri="{FF2B5EF4-FFF2-40B4-BE49-F238E27FC236}">
                <a16:creationId xmlns:a16="http://schemas.microsoft.com/office/drawing/2014/main" id="{B882B420-FF98-4586-BA33-5ACE025C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8953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sign = s_A XOR s_B       sf_base = sf_A + sf_B</a:t>
            </a:r>
          </a:p>
        </p:txBody>
      </p:sp>
    </p:spTree>
    <p:extLst>
      <p:ext uri="{BB962C8B-B14F-4D97-AF65-F5344CB8AC3E}">
        <p14:creationId xmlns:p14="http://schemas.microsoft.com/office/powerpoint/2010/main" val="1416551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60" name="wire-183">
            <a:extLst xmlns:a="http://schemas.openxmlformats.org/drawingml/2006/main">
              <a:ext uri="{FF2B5EF4-FFF2-40B4-BE49-F238E27FC236}">
                <a16:creationId xmlns:a16="http://schemas.microsoft.com/office/drawing/2014/main" id="{A34CBE72-AAAE-4B66-BB69-1ED69AA47304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10801350" y="3524250"/>
            <a:ext cx="0" cy="10191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triangle" w="sm" len="sm"/>
          </a:ln>
        </p:spPr>
      </p:cxnSp>
      <p:cxnSp>
        <p:nvCxnSpPr>
          <p:cNvPr id="59" name="wire-182">
            <a:extLst xmlns:a="http://schemas.openxmlformats.org/drawingml/2006/main">
              <a:ext uri="{FF2B5EF4-FFF2-40B4-BE49-F238E27FC236}">
                <a16:creationId xmlns:a16="http://schemas.microsoft.com/office/drawing/2014/main" id="{FC5402CD-4E77-4A8D-B0E5-C09D33D3073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429500" y="4543425"/>
            <a:ext cx="3371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none" w="sm" len="sm"/>
          </a:ln>
        </p:spPr>
      </p:cxnSp>
      <p:cxnSp>
        <p:nvCxnSpPr>
          <p:cNvPr id="58" name="wire-181">
            <a:extLst xmlns:a="http://schemas.openxmlformats.org/drawingml/2006/main">
              <a:ext uri="{FF2B5EF4-FFF2-40B4-BE49-F238E27FC236}">
                <a16:creationId xmlns:a16="http://schemas.microsoft.com/office/drawing/2014/main" id="{11950FB1-053F-4173-ADBF-B1381B44E52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801350" y="2133600"/>
            <a:ext cx="0" cy="76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triangle" w="sm" len="sm"/>
          </a:ln>
        </p:spPr>
      </p:cxnSp>
      <p:cxnSp>
        <p:nvCxnSpPr>
          <p:cNvPr id="57" name="wire-180">
            <a:extLst xmlns:a="http://schemas.openxmlformats.org/drawingml/2006/main">
              <a:ext uri="{FF2B5EF4-FFF2-40B4-BE49-F238E27FC236}">
                <a16:creationId xmlns:a16="http://schemas.microsoft.com/office/drawing/2014/main" id="{CA387695-E9D9-4E1F-8939-AC741F9D5BB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658350" y="21336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none" w="sm" len="sm"/>
          </a:ln>
        </p:spPr>
      </p:cxnSp>
      <p:cxnSp>
        <p:nvCxnSpPr>
          <p:cNvPr id="56" name="wire-179">
            <a:extLst xmlns:a="http://schemas.openxmlformats.org/drawingml/2006/main">
              <a:ext uri="{FF2B5EF4-FFF2-40B4-BE49-F238E27FC236}">
                <a16:creationId xmlns:a16="http://schemas.microsoft.com/office/drawing/2014/main" id="{D21312AC-AF9E-4EA8-B526-0D862A1BC157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9658350" y="2133600"/>
            <a:ext cx="0" cy="1314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none" w="sm" len="sm"/>
          </a:ln>
        </p:spPr>
      </p:cxnSp>
      <p:cxnSp>
        <p:nvCxnSpPr>
          <p:cNvPr id="55" name="wire-178">
            <a:extLst xmlns:a="http://schemas.openxmlformats.org/drawingml/2006/main">
              <a:ext uri="{FF2B5EF4-FFF2-40B4-BE49-F238E27FC236}">
                <a16:creationId xmlns:a16="http://schemas.microsoft.com/office/drawing/2014/main" id="{21D78EC3-BD74-47E7-9C47-A104C89136A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762875" y="3448050"/>
            <a:ext cx="18954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none" w="sm" len="sm"/>
          </a:ln>
        </p:spPr>
      </p:cxnSp>
      <p:cxnSp>
        <p:nvCxnSpPr>
          <p:cNvPr id="54" name="wire-177">
            <a:extLst xmlns:a="http://schemas.openxmlformats.org/drawingml/2006/main">
              <a:ext uri="{FF2B5EF4-FFF2-40B4-BE49-F238E27FC236}">
                <a16:creationId xmlns:a16="http://schemas.microsoft.com/office/drawing/2014/main" id="{0273D614-374C-4011-9C90-7F60E31F917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762875" y="2543175"/>
            <a:ext cx="0" cy="9048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none" w="sm" len="sm"/>
          </a:ln>
        </p:spPr>
      </p:cxnSp>
      <p:cxnSp>
        <p:nvCxnSpPr>
          <p:cNvPr id="49" name="wire-172">
            <a:extLst xmlns:a="http://schemas.openxmlformats.org/drawingml/2006/main">
              <a:ext uri="{FF2B5EF4-FFF2-40B4-BE49-F238E27FC236}">
                <a16:creationId xmlns:a16="http://schemas.microsoft.com/office/drawing/2014/main" id="{C1B1CF68-E720-4233-8DFF-9BDDE5F025EF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7058025" y="3505200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triangle" w="sm" len="sm"/>
          </a:ln>
        </p:spPr>
      </p:cxnSp>
      <p:cxnSp>
        <p:nvCxnSpPr>
          <p:cNvPr id="48" name="wire-171">
            <a:extLst xmlns:a="http://schemas.openxmlformats.org/drawingml/2006/main">
              <a:ext uri="{FF2B5EF4-FFF2-40B4-BE49-F238E27FC236}">
                <a16:creationId xmlns:a16="http://schemas.microsoft.com/office/drawing/2014/main" id="{428C1F46-AD14-4903-ACD7-9EBDD69C3F9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515225" y="2543175"/>
            <a:ext cx="0" cy="9620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none" w="sm" len="sm"/>
          </a:ln>
        </p:spPr>
      </p:cxnSp>
      <p:cxnSp>
        <p:nvCxnSpPr>
          <p:cNvPr id="46" name="wire-169">
            <a:extLst xmlns:a="http://schemas.openxmlformats.org/drawingml/2006/main">
              <a:ext uri="{FF2B5EF4-FFF2-40B4-BE49-F238E27FC236}">
                <a16:creationId xmlns:a16="http://schemas.microsoft.com/office/drawing/2014/main" id="{B6FF2819-8C1A-4C5E-B6F2-21255233061C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1171575" y="3362325"/>
            <a:ext cx="0" cy="21145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triangle" w="sm" len="sm"/>
          </a:ln>
        </p:spPr>
      </p:cxnSp>
      <p:cxnSp>
        <p:nvCxnSpPr>
          <p:cNvPr id="45" name="wire-168">
            <a:extLst xmlns:a="http://schemas.openxmlformats.org/drawingml/2006/main">
              <a:ext uri="{FF2B5EF4-FFF2-40B4-BE49-F238E27FC236}">
                <a16:creationId xmlns:a16="http://schemas.microsoft.com/office/drawing/2014/main" id="{5FFF61B1-E940-4C45-B108-32F73A16DE8D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1171575" y="5476875"/>
            <a:ext cx="6324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none" w="sm" len="sm"/>
          </a:ln>
        </p:spPr>
      </p:cxnSp>
      <p:cxnSp>
        <p:nvCxnSpPr>
          <p:cNvPr id="44" name="wire-167">
            <a:extLst xmlns:a="http://schemas.openxmlformats.org/drawingml/2006/main">
              <a:ext uri="{FF2B5EF4-FFF2-40B4-BE49-F238E27FC236}">
                <a16:creationId xmlns:a16="http://schemas.microsoft.com/office/drawing/2014/main" id="{8AC1108C-77CE-4914-A5F7-B5A0A2ACA99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496175" y="4543425"/>
            <a:ext cx="0" cy="933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none" w="sm" len="sm"/>
          </a:ln>
        </p:spPr>
      </p:cxnSp>
      <p:cxnSp>
        <p:nvCxnSpPr>
          <p:cNvPr id="43" name="wire-166">
            <a:extLst xmlns:a="http://schemas.openxmlformats.org/drawingml/2006/main">
              <a:ext uri="{FF2B5EF4-FFF2-40B4-BE49-F238E27FC236}">
                <a16:creationId xmlns:a16="http://schemas.microsoft.com/office/drawing/2014/main" id="{7E738683-5B1A-48F4-86CD-E930109F1B8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105400" y="4543425"/>
            <a:ext cx="23907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none" w="sm" len="sm"/>
          </a:ln>
        </p:spPr>
      </p:cxnSp>
      <p:cxnSp>
        <p:nvCxnSpPr>
          <p:cNvPr id="42" name="wire-165">
            <a:extLst xmlns:a="http://schemas.openxmlformats.org/drawingml/2006/main">
              <a:ext uri="{FF2B5EF4-FFF2-40B4-BE49-F238E27FC236}">
                <a16:creationId xmlns:a16="http://schemas.microsoft.com/office/drawing/2014/main" id="{E6975216-9CE7-41A0-A1B3-20A5A77D6F7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762375" y="3562350"/>
            <a:ext cx="0" cy="5334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dash"/>
            <a:tailEnd type="triangle" w="sm" len="sm"/>
          </a:ln>
        </p:spPr>
      </p:cxnSp>
      <p:cxnSp>
        <p:nvCxnSpPr>
          <p:cNvPr id="41" name="wire-164">
            <a:extLst xmlns:a="http://schemas.openxmlformats.org/drawingml/2006/main">
              <a:ext uri="{FF2B5EF4-FFF2-40B4-BE49-F238E27FC236}">
                <a16:creationId xmlns:a16="http://schemas.microsoft.com/office/drawing/2014/main" id="{DFFDF51E-4DDD-484B-AFD9-FBD15AFF3906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3762375" y="356235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dash"/>
            <a:tailEnd type="none" w="sm" len="sm"/>
          </a:ln>
        </p:spPr>
      </p:cxnSp>
      <p:cxnSp>
        <p:nvCxnSpPr>
          <p:cNvPr id="40" name="wire-163">
            <a:extLst xmlns:a="http://schemas.openxmlformats.org/drawingml/2006/main">
              <a:ext uri="{FF2B5EF4-FFF2-40B4-BE49-F238E27FC236}">
                <a16:creationId xmlns:a16="http://schemas.microsoft.com/office/drawing/2014/main" id="{098D2278-64B4-4E95-9334-865E1CAD8AF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905375" y="2847975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dash"/>
            <a:tailEnd type="none" w="sm" len="sm"/>
          </a:ln>
        </p:spPr>
      </p:cxnSp>
      <p:cxnSp>
        <p:nvCxnSpPr>
          <p:cNvPr id="39" name="wire-162">
            <a:extLst xmlns:a="http://schemas.openxmlformats.org/drawingml/2006/main">
              <a:ext uri="{FF2B5EF4-FFF2-40B4-BE49-F238E27FC236}">
                <a16:creationId xmlns:a16="http://schemas.microsoft.com/office/drawing/2014/main" id="{F64694FE-D285-4584-974B-E6E4D735081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095500" y="45434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triangle" w="sm" len="sm"/>
          </a:ln>
        </p:spPr>
      </p:cxnSp>
      <p:cxnSp>
        <p:nvCxnSpPr>
          <p:cNvPr id="38" name="wire-161">
            <a:extLst xmlns:a="http://schemas.openxmlformats.org/drawingml/2006/main">
              <a:ext uri="{FF2B5EF4-FFF2-40B4-BE49-F238E27FC236}">
                <a16:creationId xmlns:a16="http://schemas.microsoft.com/office/drawing/2014/main" id="{C0DDDF90-1C04-4EC7-85E4-E93A616E400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095500" y="2809875"/>
            <a:ext cx="0" cy="17335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none" w="sm" len="sm"/>
          </a:ln>
        </p:spPr>
      </p:cxnSp>
      <p:cxnSp>
        <p:nvCxnSpPr>
          <p:cNvPr id="37" name="wire-160">
            <a:extLst xmlns:a="http://schemas.openxmlformats.org/drawingml/2006/main">
              <a:ext uri="{FF2B5EF4-FFF2-40B4-BE49-F238E27FC236}">
                <a16:creationId xmlns:a16="http://schemas.microsoft.com/office/drawing/2014/main" id="{95381244-7D03-488B-84CD-D2D65735BA0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866900" y="28098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none" w="sm" len="sm"/>
          </a:ln>
        </p:spPr>
      </p:cxnSp>
      <p:cxnSp>
        <p:nvCxnSpPr>
          <p:cNvPr id="33" name="wire-156">
            <a:extLst xmlns:a="http://schemas.openxmlformats.org/drawingml/2006/main">
              <a:ext uri="{FF2B5EF4-FFF2-40B4-BE49-F238E27FC236}">
                <a16:creationId xmlns:a16="http://schemas.microsoft.com/office/drawing/2014/main" id="{A0B88C64-FB7A-4500-8509-14A8BB5878AE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6524625" y="2847975"/>
            <a:ext cx="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triangle" w="sm" len="sm"/>
          </a:ln>
        </p:spPr>
      </p:cxnSp>
      <p:cxnSp>
        <p:nvCxnSpPr>
          <p:cNvPr id="32" name="wire-155">
            <a:extLst xmlns:a="http://schemas.openxmlformats.org/drawingml/2006/main">
              <a:ext uri="{FF2B5EF4-FFF2-40B4-BE49-F238E27FC236}">
                <a16:creationId xmlns:a16="http://schemas.microsoft.com/office/drawing/2014/main" id="{99C404E5-D8FF-4DC8-AE64-50073913686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210300" y="3086100"/>
            <a:ext cx="3143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none" w="sm" len="sm"/>
          </a:ln>
        </p:spPr>
      </p:cxnSp>
      <p:cxnSp>
        <p:nvCxnSpPr>
          <p:cNvPr id="31" name="wire-154">
            <a:extLst xmlns:a="http://schemas.openxmlformats.org/drawingml/2006/main">
              <a:ext uri="{FF2B5EF4-FFF2-40B4-BE49-F238E27FC236}">
                <a16:creationId xmlns:a16="http://schemas.microsoft.com/office/drawing/2014/main" id="{AAE007C9-C4A7-40B4-8D23-9D34E41F9C61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6210300" y="308610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none" w="sm" len="sm"/>
          </a:ln>
        </p:spPr>
      </p:cxnSp>
      <p:cxnSp>
        <p:nvCxnSpPr>
          <p:cNvPr id="23" name="wire-146">
            <a:extLst xmlns:a="http://schemas.openxmlformats.org/drawingml/2006/main">
              <a:ext uri="{FF2B5EF4-FFF2-40B4-BE49-F238E27FC236}">
                <a16:creationId xmlns:a16="http://schemas.microsoft.com/office/drawing/2014/main" id="{0DC3A479-D3AD-4E92-A80D-5971E79463A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29425" y="25431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triangle" w="sm" len="sm"/>
          </a:ln>
        </p:spPr>
      </p:cxnSp>
      <p:cxnSp>
        <p:nvCxnSpPr>
          <p:cNvPr id="22" name="wire-145">
            <a:extLst xmlns:a="http://schemas.openxmlformats.org/drawingml/2006/main">
              <a:ext uri="{FF2B5EF4-FFF2-40B4-BE49-F238E27FC236}">
                <a16:creationId xmlns:a16="http://schemas.microsoft.com/office/drawing/2014/main" id="{24FAD9D1-3CCD-489C-B320-CB579AA601D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200650" y="2552700"/>
            <a:ext cx="10191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triangle" w="sm" len="sm"/>
          </a:ln>
        </p:spPr>
      </p:cxnSp>
      <p:cxnSp>
        <p:nvCxnSpPr>
          <p:cNvPr id="21" name="wire-144">
            <a:extLst xmlns:a="http://schemas.openxmlformats.org/drawingml/2006/main">
              <a:ext uri="{FF2B5EF4-FFF2-40B4-BE49-F238E27FC236}">
                <a16:creationId xmlns:a16="http://schemas.microsoft.com/office/drawing/2014/main" id="{99E33B99-28D4-46BB-B4D3-6FE2AF4F2F4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162425" y="2571750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triangle" w="sm" len="sm"/>
          </a:ln>
        </p:spPr>
      </p:cxnSp>
      <p:cxnSp>
        <p:nvCxnSpPr>
          <p:cNvPr id="20" name="wire-143">
            <a:extLst xmlns:a="http://schemas.openxmlformats.org/drawingml/2006/main">
              <a:ext uri="{FF2B5EF4-FFF2-40B4-BE49-F238E27FC236}">
                <a16:creationId xmlns:a16="http://schemas.microsoft.com/office/drawing/2014/main" id="{B460DA3B-C7A4-4D5B-BA44-D1D021E2639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866900" y="25908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triangle" w="sm" len="sm"/>
          </a:ln>
        </p:spPr>
      </p:cxnSp>
      <p:cxnSp>
        <p:nvCxnSpPr>
          <p:cNvPr id="3" name="wire-126">
            <a:extLst xmlns:a="http://schemas.openxmlformats.org/drawingml/2006/main">
              <a:ext uri="{FF2B5EF4-FFF2-40B4-BE49-F238E27FC236}">
                <a16:creationId xmlns:a16="http://schemas.microsoft.com/office/drawing/2014/main" id="{40D49460-763E-4669-B001-2BBEA8497E1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57200" y="1476375"/>
            <a:ext cx="11277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6E2"/>
            </a:solidFill>
            <a:prstDash val="solid"/>
            <a:tailEnd type="none" w="sm" len="sm"/>
          </a:ln>
        </p:spPr>
      </p:cxnSp>
      <p:sp>
        <p:nvSpPr>
          <p:cNvPr id="62" name="text-124">
            <a:extLst xmlns:a="http://schemas.openxmlformats.org/drawingml/2006/main">
              <a:ext uri="{FF2B5EF4-FFF2-40B4-BE49-F238E27FC236}">
                <a16:creationId xmlns:a16="http://schemas.microsoft.com/office/drawing/2014/main" id="{085476F8-9389-42BA-9E01-55005315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277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SAC: quét bit 1 và tính lượng dịch tích lũy</a:t>
            </a:r>
          </a:p>
        </p:txBody>
      </p:sp>
      <p:sp>
        <p:nvSpPr>
          <p:cNvPr id="2" name="text-125">
            <a:extLst xmlns:a="http://schemas.openxmlformats.org/drawingml/2006/main">
              <a:ext uri="{FF2B5EF4-FFF2-40B4-BE49-F238E27FC236}">
                <a16:creationId xmlns:a16="http://schemas.microsoft.com/office/drawing/2014/main" id="{EDB7FF17-E043-4B16-968E-4CC4F9A5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42975"/>
            <a:ext cx="1127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sac_step_comb là tổ hợp. iter_ctrl giữ fx_q, scale_q và số vòng</a:t>
            </a:r>
          </a:p>
        </p:txBody>
      </p:sp>
      <p:sp>
        <p:nvSpPr>
          <p:cNvPr id="4" name="text-127">
            <a:extLst xmlns:a="http://schemas.openxmlformats.org/drawingml/2006/main">
              <a:ext uri="{FF2B5EF4-FFF2-40B4-BE49-F238E27FC236}">
                <a16:creationId xmlns:a16="http://schemas.microsoft.com/office/drawing/2014/main" id="{39C0A577-553B-421C-A389-BD38F494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29375"/>
            <a:ext cx="723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3 / 7</a:t>
            </a:r>
          </a:p>
        </p:txBody>
      </p:sp>
      <p:sp>
        <p:nvSpPr>
          <p:cNvPr id="5" name="fx_q-128">
            <a:extLst xmlns:a="http://schemas.openxmlformats.org/drawingml/2006/main">
              <a:ext uri="{FF2B5EF4-FFF2-40B4-BE49-F238E27FC236}">
                <a16:creationId xmlns:a16="http://schemas.microsoft.com/office/drawing/2014/main" id="{243666DE-6045-4EE3-BB39-D4701E17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28850"/>
            <a:ext cx="14097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6" name="clock-129">
            <a:extLst xmlns:a="http://schemas.openxmlformats.org/drawingml/2006/main">
              <a:ext uri="{FF2B5EF4-FFF2-40B4-BE49-F238E27FC236}">
                <a16:creationId xmlns:a16="http://schemas.microsoft.com/office/drawing/2014/main" id="{AC5493EA-A399-49C3-B513-164BCE204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95250" cy="133350"/>
          </a:xfrm>
          <a:custGeom xmlns:a="http://schemas.openxmlformats.org/drawingml/2006/main"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7" name="text-130">
            <a:extLst xmlns:a="http://schemas.openxmlformats.org/drawingml/2006/main">
              <a:ext uri="{FF2B5EF4-FFF2-40B4-BE49-F238E27FC236}">
                <a16:creationId xmlns:a16="http://schemas.microsoft.com/office/drawing/2014/main" id="{DA050BC5-68A1-40D0-8C6A-90647690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71725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4B83"/>
                </a:solidFill>
                <a:latin typeface="Arial"/>
                <a:ea typeface="Arial"/>
                <a:cs typeface="Arial"/>
              </a:rPr>
              <a:t>fx_q</a:t>
            </a:r>
          </a:p>
        </p:txBody>
      </p:sp>
      <p:sp>
        <p:nvSpPr>
          <p:cNvPr id="8" name="text-131">
            <a:extLst xmlns:a="http://schemas.openxmlformats.org/drawingml/2006/main">
              <a:ext uri="{FF2B5EF4-FFF2-40B4-BE49-F238E27FC236}">
                <a16:creationId xmlns:a16="http://schemas.microsoft.com/office/drawing/2014/main" id="{06BCE1ED-36BA-47A7-A008-6DE7A1EF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257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 bit</a:t>
            </a:r>
          </a:p>
        </p:txBody>
      </p:sp>
      <p:sp>
        <p:nvSpPr>
          <p:cNvPr id="9" name="LOD-132">
            <a:extLst xmlns:a="http://schemas.openxmlformats.org/drawingml/2006/main">
              <a:ext uri="{FF2B5EF4-FFF2-40B4-BE49-F238E27FC236}">
                <a16:creationId xmlns:a16="http://schemas.microsoft.com/office/drawing/2014/main" id="{AE7124BF-0221-46E0-99A7-1503CC7C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38350"/>
            <a:ext cx="17621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D"/>
          </a:solidFill>
          <a:ln xmlns:a="http://schemas.openxmlformats.org/drawingml/2006/main" w="19050">
            <a:solidFill>
              <a:srgbClr val="A76807"/>
            </a:solidFill>
          </a:ln>
        </p:spPr>
      </p:sp>
      <p:sp>
        <p:nvSpPr>
          <p:cNvPr id="10" name="text-133">
            <a:extLst xmlns:a="http://schemas.openxmlformats.org/drawingml/2006/main">
              <a:ext uri="{FF2B5EF4-FFF2-40B4-BE49-F238E27FC236}">
                <a16:creationId xmlns:a16="http://schemas.microsoft.com/office/drawing/2014/main" id="{E5576BBC-4985-4AC2-BF63-6AC31475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162175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76807"/>
                </a:solidFill>
                <a:latin typeface="Arial"/>
                <a:ea typeface="Arial"/>
                <a:cs typeface="Arial"/>
              </a:rPr>
              <a:t>LOD</a:t>
            </a:r>
          </a:p>
        </p:txBody>
      </p:sp>
      <p:sp>
        <p:nvSpPr>
          <p:cNvPr id="11" name="text-134">
            <a:extLst xmlns:a="http://schemas.openxmlformats.org/drawingml/2006/main">
              <a:ext uri="{FF2B5EF4-FFF2-40B4-BE49-F238E27FC236}">
                <a16:creationId xmlns:a16="http://schemas.microsoft.com/office/drawing/2014/main" id="{7352BF13-9817-4954-8B48-6F5CB1D7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533650"/>
            <a:ext cx="1571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K = clz(fx)</a:t>
            </a:r>
          </a:p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vld</a:t>
            </a:r>
          </a:p>
        </p:txBody>
      </p:sp>
      <p:sp>
        <p:nvSpPr>
          <p:cNvPr id="12" name="operator-135">
            <a:extLst xmlns:a="http://schemas.openxmlformats.org/drawingml/2006/main">
              <a:ext uri="{FF2B5EF4-FFF2-40B4-BE49-F238E27FC236}">
                <a16:creationId xmlns:a16="http://schemas.microsoft.com/office/drawing/2014/main" id="{0D67E900-1A2E-4C32-ABA3-899197D5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3837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D"/>
          </a:solidFill>
          <a:ln xmlns:a="http://schemas.openxmlformats.org/drawingml/2006/main" w="19050">
            <a:solidFill>
              <a:srgbClr val="A76807"/>
            </a:solidFill>
          </a:ln>
        </p:spPr>
      </p:sp>
      <p:sp>
        <p:nvSpPr>
          <p:cNvPr id="13" name="text-136">
            <a:extLst xmlns:a="http://schemas.openxmlformats.org/drawingml/2006/main">
              <a:ext uri="{FF2B5EF4-FFF2-40B4-BE49-F238E27FC236}">
                <a16:creationId xmlns:a16="http://schemas.microsoft.com/office/drawing/2014/main" id="{887B01F9-AC58-444F-903D-FB62B6DB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383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A76807"/>
                </a:solidFill>
                <a:latin typeface="Arial"/>
                <a:ea typeface="Arial"/>
                <a:cs typeface="Arial"/>
              </a:rPr>
              <a:t>+1</a:t>
            </a:r>
          </a:p>
        </p:txBody>
      </p:sp>
      <p:sp>
        <p:nvSpPr>
          <p:cNvPr id="14" name="operator-137">
            <a:extLst xmlns:a="http://schemas.openxmlformats.org/drawingml/2006/main">
              <a:ext uri="{FF2B5EF4-FFF2-40B4-BE49-F238E27FC236}">
                <a16:creationId xmlns:a16="http://schemas.microsoft.com/office/drawing/2014/main" id="{7C68C6D7-794B-4585-BE39-3F1E6556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23837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D"/>
          </a:solidFill>
          <a:ln xmlns:a="http://schemas.openxmlformats.org/drawingml/2006/main" w="19050">
            <a:solidFill>
              <a:srgbClr val="A76807"/>
            </a:solidFill>
          </a:ln>
        </p:spPr>
      </p:sp>
      <p:sp>
        <p:nvSpPr>
          <p:cNvPr id="15" name="text-138">
            <a:extLst xmlns:a="http://schemas.openxmlformats.org/drawingml/2006/main">
              <a:ext uri="{FF2B5EF4-FFF2-40B4-BE49-F238E27FC236}">
                <a16:creationId xmlns:a16="http://schemas.microsoft.com/office/drawing/2014/main" id="{703BB494-F8C6-4E51-A8BB-DC0D3086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2383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850" b="1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850" b="1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A76807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6" name="R1-139">
            <a:extLst xmlns:a="http://schemas.openxmlformats.org/drawingml/2006/main">
              <a:ext uri="{FF2B5EF4-FFF2-40B4-BE49-F238E27FC236}">
                <a16:creationId xmlns:a16="http://schemas.microsoft.com/office/drawing/2014/main" id="{E768DA42-A186-48E9-89C4-669B17B8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228850"/>
            <a:ext cx="1476375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17" name="clock-140">
            <a:extLst xmlns:a="http://schemas.openxmlformats.org/drawingml/2006/main">
              <a:ext uri="{FF2B5EF4-FFF2-40B4-BE49-F238E27FC236}">
                <a16:creationId xmlns:a16="http://schemas.microsoft.com/office/drawing/2014/main" id="{D444DDCC-6303-4669-8A25-06E0E93B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143250"/>
            <a:ext cx="95250" cy="133350"/>
          </a:xfrm>
          <a:custGeom xmlns:a="http://schemas.openxmlformats.org/drawingml/2006/main"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18" name="text-141">
            <a:extLst xmlns:a="http://schemas.openxmlformats.org/drawingml/2006/main">
              <a:ext uri="{FF2B5EF4-FFF2-40B4-BE49-F238E27FC236}">
                <a16:creationId xmlns:a16="http://schemas.microsoft.com/office/drawing/2014/main" id="{3D5792F4-7A92-4283-A99D-04E5E66C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371725"/>
            <a:ext cx="1400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4B83"/>
                </a:solidFill>
                <a:latin typeface="Arial"/>
                <a:ea typeface="Arial"/>
                <a:cs typeface="Arial"/>
              </a:rPr>
              <a:t>R1</a:t>
            </a:r>
          </a:p>
        </p:txBody>
      </p:sp>
      <p:sp>
        <p:nvSpPr>
          <p:cNvPr id="19" name="text-142">
            <a:extLst xmlns:a="http://schemas.openxmlformats.org/drawingml/2006/main">
              <a:ext uri="{FF2B5EF4-FFF2-40B4-BE49-F238E27FC236}">
                <a16:creationId xmlns:a16="http://schemas.microsoft.com/office/drawing/2014/main" id="{A347DC4B-03FA-4F4D-B609-0178958F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724150"/>
            <a:ext cx="13239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scale = S</a:t>
            </a:r>
          </a:p>
        </p:txBody>
      </p:sp>
      <p:sp>
        <p:nvSpPr>
          <p:cNvPr id="24" name="text-147">
            <a:extLst xmlns:a="http://schemas.openxmlformats.org/drawingml/2006/main">
              <a:ext uri="{FF2B5EF4-FFF2-40B4-BE49-F238E27FC236}">
                <a16:creationId xmlns:a16="http://schemas.microsoft.com/office/drawing/2014/main" id="{42402BFC-6245-4DFF-842B-7FC9584C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0764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6807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25" name="text-148">
            <a:extLst xmlns:a="http://schemas.openxmlformats.org/drawingml/2006/main">
              <a:ext uri="{FF2B5EF4-FFF2-40B4-BE49-F238E27FC236}">
                <a16:creationId xmlns:a16="http://schemas.microsoft.com/office/drawing/2014/main" id="{AE04993B-A870-4BC2-9FC8-618B08A3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076450"/>
            <a:ext cx="9239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6807"/>
                </a:solidFill>
                <a:latin typeface="Arial"/>
                <a:ea typeface="Arial"/>
                <a:cs typeface="Arial"/>
              </a:rPr>
              <a:t>sa</a:t>
            </a:r>
          </a:p>
        </p:txBody>
      </p:sp>
      <p:sp>
        <p:nvSpPr>
          <p:cNvPr id="26" name="text-149">
            <a:extLst xmlns:a="http://schemas.openxmlformats.org/drawingml/2006/main">
              <a:ext uri="{FF2B5EF4-FFF2-40B4-BE49-F238E27FC236}">
                <a16:creationId xmlns:a16="http://schemas.microsoft.com/office/drawing/2014/main" id="{77371814-7440-4717-888C-D3791D85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076450"/>
            <a:ext cx="10763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6807"/>
                </a:solidFill>
                <a:latin typeface="Arial"/>
                <a:ea typeface="Arial"/>
                <a:cs typeface="Arial"/>
              </a:rPr>
              <a:t>S_next</a:t>
            </a:r>
          </a:p>
        </p:txBody>
      </p:sp>
      <p:sp>
        <p:nvSpPr>
          <p:cNvPr id="27" name="scale_q-150">
            <a:extLst xmlns:a="http://schemas.openxmlformats.org/drawingml/2006/main">
              <a:ext uri="{FF2B5EF4-FFF2-40B4-BE49-F238E27FC236}">
                <a16:creationId xmlns:a16="http://schemas.microsoft.com/office/drawing/2014/main" id="{82AFA7E9-1404-449A-ACCE-33BC7299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295650"/>
            <a:ext cx="16859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28" name="clock-151">
            <a:extLst xmlns:a="http://schemas.openxmlformats.org/drawingml/2006/main">
              <a:ext uri="{FF2B5EF4-FFF2-40B4-BE49-F238E27FC236}">
                <a16:creationId xmlns:a16="http://schemas.microsoft.com/office/drawing/2014/main" id="{0DFFB4F8-6556-4D1F-BF5F-104FF3C0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143375"/>
            <a:ext cx="95250" cy="133350"/>
          </a:xfrm>
          <a:custGeom xmlns:a="http://schemas.openxmlformats.org/drawingml/2006/main"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29" name="text-152">
            <a:extLst xmlns:a="http://schemas.openxmlformats.org/drawingml/2006/main">
              <a:ext uri="{FF2B5EF4-FFF2-40B4-BE49-F238E27FC236}">
                <a16:creationId xmlns:a16="http://schemas.microsoft.com/office/drawing/2014/main" id="{D228811C-E9AC-4D13-B68E-89103381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438525"/>
            <a:ext cx="16097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4B83"/>
                </a:solidFill>
                <a:latin typeface="Arial"/>
                <a:ea typeface="Arial"/>
                <a:cs typeface="Arial"/>
              </a:rPr>
              <a:t>scale_q</a:t>
            </a:r>
          </a:p>
        </p:txBody>
      </p:sp>
      <p:sp>
        <p:nvSpPr>
          <p:cNvPr id="30" name="text-153">
            <a:extLst xmlns:a="http://schemas.openxmlformats.org/drawingml/2006/main">
              <a:ext uri="{FF2B5EF4-FFF2-40B4-BE49-F238E27FC236}">
                <a16:creationId xmlns:a16="http://schemas.microsoft.com/office/drawing/2014/main" id="{3E05F325-EBD9-4EEF-A579-B0D89C42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90950"/>
            <a:ext cx="15335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 hiện tại</a:t>
            </a:r>
          </a:p>
        </p:txBody>
      </p:sp>
      <p:sp>
        <p:nvSpPr>
          <p:cNvPr id="34" name="Dịch trái-157">
            <a:extLst xmlns:a="http://schemas.openxmlformats.org/drawingml/2006/main">
              <a:ext uri="{FF2B5EF4-FFF2-40B4-BE49-F238E27FC236}">
                <a16:creationId xmlns:a16="http://schemas.microsoft.com/office/drawing/2014/main" id="{CA7A4E30-6A2D-4447-A4AB-A59620B8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95750"/>
            <a:ext cx="26860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D"/>
          </a:solidFill>
          <a:ln xmlns:a="http://schemas.openxmlformats.org/drawingml/2006/main" w="19050">
            <a:solidFill>
              <a:srgbClr val="A76807"/>
            </a:solidFill>
          </a:ln>
        </p:spPr>
      </p:sp>
      <p:sp>
        <p:nvSpPr>
          <p:cNvPr id="35" name="text-158">
            <a:extLst xmlns:a="http://schemas.openxmlformats.org/drawingml/2006/main">
              <a:ext uri="{FF2B5EF4-FFF2-40B4-BE49-F238E27FC236}">
                <a16:creationId xmlns:a16="http://schemas.microsoft.com/office/drawing/2014/main" id="{A30A9632-1570-45EF-96EF-DB7E958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19575"/>
            <a:ext cx="24955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76807"/>
                </a:solidFill>
                <a:latin typeface="Arial"/>
                <a:ea typeface="Arial"/>
                <a:cs typeface="Arial"/>
              </a:rPr>
              <a:t>Dịch trái</a:t>
            </a:r>
          </a:p>
        </p:txBody>
      </p:sp>
      <p:sp>
        <p:nvSpPr>
          <p:cNvPr id="36" name="text-159">
            <a:extLst xmlns:a="http://schemas.openxmlformats.org/drawingml/2006/main">
              <a:ext uri="{FF2B5EF4-FFF2-40B4-BE49-F238E27FC236}">
                <a16:creationId xmlns:a16="http://schemas.microsoft.com/office/drawing/2014/main" id="{FA9AAD27-AA1B-4145-93C0-3A60767F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591050"/>
            <a:ext cx="2495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fx_next = fx &lt;&lt; sa</a:t>
            </a:r>
          </a:p>
        </p:txBody>
      </p:sp>
      <p:sp>
        <p:nvSpPr>
          <p:cNvPr id="47" name="text-170">
            <a:extLst xmlns:a="http://schemas.openxmlformats.org/drawingml/2006/main">
              <a:ext uri="{FF2B5EF4-FFF2-40B4-BE49-F238E27FC236}">
                <a16:creationId xmlns:a16="http://schemas.microsoft.com/office/drawing/2014/main" id="{1BF1D76A-5E24-4D82-90D3-8C108418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514975"/>
            <a:ext cx="417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6807"/>
                </a:solidFill>
                <a:latin typeface="Arial"/>
                <a:ea typeface="Arial"/>
                <a:cs typeface="Arial"/>
              </a:rPr>
              <a:t>fx_next cập nhật ở cạnh clock</a:t>
            </a:r>
          </a:p>
        </p:txBody>
      </p:sp>
      <p:sp>
        <p:nvSpPr>
          <p:cNvPr id="50" name="text-173">
            <a:extLst xmlns:a="http://schemas.openxmlformats.org/drawingml/2006/main">
              <a:ext uri="{FF2B5EF4-FFF2-40B4-BE49-F238E27FC236}">
                <a16:creationId xmlns:a16="http://schemas.microsoft.com/office/drawing/2014/main" id="{FFC9DDEC-F934-4730-9723-50A773BB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667125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6807"/>
                </a:solidFill>
                <a:latin typeface="Arial"/>
                <a:ea typeface="Arial"/>
                <a:cs typeface="Arial"/>
              </a:rPr>
              <a:t>S_next</a:t>
            </a:r>
          </a:p>
        </p:txBody>
      </p:sp>
      <p:sp>
        <p:nvSpPr>
          <p:cNvPr id="51" name="Kiểm tra-174">
            <a:extLst xmlns:a="http://schemas.openxmlformats.org/drawingml/2006/main">
              <a:ext uri="{FF2B5EF4-FFF2-40B4-BE49-F238E27FC236}">
                <a16:creationId xmlns:a16="http://schemas.microsoft.com/office/drawing/2014/main" id="{F1C09432-C1B5-4C3D-92BF-FAD9D378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209800"/>
            <a:ext cx="185737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9050">
            <a:solidFill>
              <a:srgbClr val="425672"/>
            </a:solidFill>
          </a:ln>
        </p:spPr>
      </p:sp>
      <p:sp>
        <p:nvSpPr>
          <p:cNvPr id="52" name="text-175">
            <a:extLst xmlns:a="http://schemas.openxmlformats.org/drawingml/2006/main">
              <a:ext uri="{FF2B5EF4-FFF2-40B4-BE49-F238E27FC236}">
                <a16:creationId xmlns:a16="http://schemas.microsoft.com/office/drawing/2014/main" id="{331D47C4-5DC0-49BF-8BD8-7396D2E6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333625"/>
            <a:ext cx="1666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42567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42567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425672"/>
                </a:solidFill>
                <a:latin typeface="Arial"/>
                <a:ea typeface="Arial"/>
                <a:cs typeface="Arial"/>
              </a:rPr>
              <a:t>Kiểm tra</a:t>
            </a:r>
          </a:p>
        </p:txBody>
      </p:sp>
      <p:sp>
        <p:nvSpPr>
          <p:cNvPr id="53" name="text-176">
            <a:extLst xmlns:a="http://schemas.openxmlformats.org/drawingml/2006/main">
              <a:ext uri="{FF2B5EF4-FFF2-40B4-BE49-F238E27FC236}">
                <a16:creationId xmlns:a16="http://schemas.microsoft.com/office/drawing/2014/main" id="{7962F7D3-1CB6-4C3D-993F-95652777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705100"/>
            <a:ext cx="1666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S_next ≤ W</a:t>
            </a:r>
          </a:p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fx_next == 0</a:t>
            </a:r>
          </a:p>
        </p:txBody>
      </p:sp>
      <p:sp>
        <p:nvSpPr>
          <p:cNvPr id="61" name="text-184">
            <a:extLst xmlns:a="http://schemas.openxmlformats.org/drawingml/2006/main">
              <a:ext uri="{FF2B5EF4-FFF2-40B4-BE49-F238E27FC236}">
                <a16:creationId xmlns:a16="http://schemas.microsoft.com/office/drawing/2014/main" id="{7E0E8705-B173-4A4D-BEBC-D44B2C1D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86475"/>
            <a:ext cx="9525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sa = K + 1       S_next = S + sa</a:t>
            </a:r>
          </a:p>
        </p:txBody>
      </p:sp>
    </p:spTree>
    <p:extLst>
      <p:ext uri="{BB962C8B-B14F-4D97-AF65-F5344CB8AC3E}">
        <p14:creationId xmlns:p14="http://schemas.microsoft.com/office/powerpoint/2010/main" val="21377894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7" name="wire-221">
            <a:extLst xmlns:a="http://schemas.openxmlformats.org/drawingml/2006/main">
              <a:ext uri="{FF2B5EF4-FFF2-40B4-BE49-F238E27FC236}">
                <a16:creationId xmlns:a16="http://schemas.microsoft.com/office/drawing/2014/main" id="{CEA226D8-B9B6-4DCC-8FEC-F3B494E6B422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11001375" y="3714750"/>
            <a:ext cx="0" cy="9429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44A3A"/>
            </a:solidFill>
            <a:prstDash val="solid"/>
            <a:tailEnd type="triangle" w="sm" len="sm"/>
          </a:ln>
        </p:spPr>
      </p:cxnSp>
      <p:cxnSp>
        <p:nvCxnSpPr>
          <p:cNvPr id="36" name="wire-220">
            <a:extLst xmlns:a="http://schemas.openxmlformats.org/drawingml/2006/main">
              <a:ext uri="{FF2B5EF4-FFF2-40B4-BE49-F238E27FC236}">
                <a16:creationId xmlns:a16="http://schemas.microsoft.com/office/drawing/2014/main" id="{AB402801-87F4-4C84-8279-6B903CAF32D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915400" y="4657725"/>
            <a:ext cx="2085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44A3A"/>
            </a:solidFill>
            <a:prstDash val="solid"/>
            <a:tailEnd type="none" w="sm" len="sm"/>
          </a:ln>
        </p:spPr>
      </p:cxnSp>
      <p:cxnSp>
        <p:nvCxnSpPr>
          <p:cNvPr id="35" name="wire-219">
            <a:extLst xmlns:a="http://schemas.openxmlformats.org/drawingml/2006/main">
              <a:ext uri="{FF2B5EF4-FFF2-40B4-BE49-F238E27FC236}">
                <a16:creationId xmlns:a16="http://schemas.microsoft.com/office/drawing/2014/main" id="{39054A3E-01DD-4DE7-B358-D23D529779C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162675" y="465772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44A3A"/>
            </a:solidFill>
            <a:prstDash val="solid"/>
            <a:tailEnd type="triangle" w="sm" len="sm"/>
          </a:ln>
        </p:spPr>
      </p:cxnSp>
      <p:cxnSp>
        <p:nvCxnSpPr>
          <p:cNvPr id="34" name="wire-218">
            <a:extLst xmlns:a="http://schemas.openxmlformats.org/drawingml/2006/main">
              <a:ext uri="{FF2B5EF4-FFF2-40B4-BE49-F238E27FC236}">
                <a16:creationId xmlns:a16="http://schemas.microsoft.com/office/drawing/2014/main" id="{792BC464-42F3-40F7-9742-7F2A9026609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162675" y="3743325"/>
            <a:ext cx="0" cy="9144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44A3A"/>
            </a:solidFill>
            <a:prstDash val="solid"/>
            <a:tailEnd type="none" w="sm" len="sm"/>
          </a:ln>
        </p:spPr>
      </p:cxnSp>
      <p:cxnSp>
        <p:nvCxnSpPr>
          <p:cNvPr id="29" name="wire-213">
            <a:extLst xmlns:a="http://schemas.openxmlformats.org/drawingml/2006/main">
              <a:ext uri="{FF2B5EF4-FFF2-40B4-BE49-F238E27FC236}">
                <a16:creationId xmlns:a16="http://schemas.microsoft.com/office/drawing/2014/main" id="{F1098065-76C9-4A47-B049-5D273AE7C6D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314700" y="5334000"/>
            <a:ext cx="84201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28" name="wire-212">
            <a:extLst xmlns:a="http://schemas.openxmlformats.org/drawingml/2006/main">
              <a:ext uri="{FF2B5EF4-FFF2-40B4-BE49-F238E27FC236}">
                <a16:creationId xmlns:a16="http://schemas.microsoft.com/office/drawing/2014/main" id="{917E0EF5-5C9B-4315-8589-869DA8D1F55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314700" y="3743325"/>
            <a:ext cx="0" cy="15906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none" w="sm" len="sm"/>
          </a:ln>
        </p:spPr>
      </p:cxnSp>
      <p:cxnSp>
        <p:nvCxnSpPr>
          <p:cNvPr id="26" name="wire-210">
            <a:extLst xmlns:a="http://schemas.openxmlformats.org/drawingml/2006/main">
              <a:ext uri="{FF2B5EF4-FFF2-40B4-BE49-F238E27FC236}">
                <a16:creationId xmlns:a16="http://schemas.microsoft.com/office/drawing/2014/main" id="{43378931-D34E-4B96-AE05-4DC8C9C9D29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029325" y="1847850"/>
            <a:ext cx="0" cy="6572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A76807"/>
            </a:solidFill>
            <a:prstDash val="solid"/>
            <a:tailEnd type="triangle" w="sm" len="sm"/>
          </a:ln>
        </p:spPr>
      </p:cxnSp>
      <p:cxnSp>
        <p:nvCxnSpPr>
          <p:cNvPr id="25" name="wire-209">
            <a:extLst xmlns:a="http://schemas.openxmlformats.org/drawingml/2006/main">
              <a:ext uri="{FF2B5EF4-FFF2-40B4-BE49-F238E27FC236}">
                <a16:creationId xmlns:a16="http://schemas.microsoft.com/office/drawing/2014/main" id="{5661A07F-3CEF-431F-9E68-AFEEDDFB474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801225" y="3143250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24" name="wire-208">
            <a:extLst xmlns:a="http://schemas.openxmlformats.org/drawingml/2006/main">
              <a:ext uri="{FF2B5EF4-FFF2-40B4-BE49-F238E27FC236}">
                <a16:creationId xmlns:a16="http://schemas.microsoft.com/office/drawing/2014/main" id="{672BFA69-F77A-4DA6-8D56-ECEDAF2B1ED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191375" y="31432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23" name="wire-207">
            <a:extLst xmlns:a="http://schemas.openxmlformats.org/drawingml/2006/main">
              <a:ext uri="{FF2B5EF4-FFF2-40B4-BE49-F238E27FC236}">
                <a16:creationId xmlns:a16="http://schemas.microsoft.com/office/drawing/2014/main" id="{98788DD6-651C-4CA4-97E4-A441F437CC0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400550" y="314325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22" name="wire-206">
            <a:extLst xmlns:a="http://schemas.openxmlformats.org/drawingml/2006/main">
              <a:ext uri="{FF2B5EF4-FFF2-40B4-BE49-F238E27FC236}">
                <a16:creationId xmlns:a16="http://schemas.microsoft.com/office/drawing/2014/main" id="{955BC473-18FF-4D91-ABD7-2FBCAA7FEA3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733550" y="3143250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3" name="wire-187">
            <a:extLst xmlns:a="http://schemas.openxmlformats.org/drawingml/2006/main">
              <a:ext uri="{FF2B5EF4-FFF2-40B4-BE49-F238E27FC236}">
                <a16:creationId xmlns:a16="http://schemas.microsoft.com/office/drawing/2014/main" id="{33039718-CBB8-4564-893A-0755AC7DA73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57200" y="1476375"/>
            <a:ext cx="11277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6E2"/>
            </a:solidFill>
            <a:prstDash val="solid"/>
            <a:tailEnd type="none" w="sm" len="sm"/>
          </a:ln>
        </p:spPr>
      </p:cxnSp>
      <p:sp>
        <p:nvSpPr>
          <p:cNvPr id="40" name="text-185">
            <a:extLst xmlns:a="http://schemas.openxmlformats.org/drawingml/2006/main">
              <a:ext uri="{FF2B5EF4-FFF2-40B4-BE49-F238E27FC236}">
                <a16:creationId xmlns:a16="http://schemas.microsoft.com/office/drawing/2014/main" id="{A5AFDFF3-EFA6-4EEB-8356-5224BB1D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277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SBM Shift: tạo số hạng trên cùng lưới tích lũy</a:t>
            </a:r>
          </a:p>
        </p:txBody>
      </p:sp>
      <p:sp>
        <p:nvSpPr>
          <p:cNvPr id="2" name="text-186">
            <a:extLst xmlns:a="http://schemas.openxmlformats.org/drawingml/2006/main">
              <a:ext uri="{FF2B5EF4-FFF2-40B4-BE49-F238E27FC236}">
                <a16:creationId xmlns:a16="http://schemas.microsoft.com/office/drawing/2014/main" id="{A85DDDBE-B24B-4FB4-A8D9-0780E5B4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42975"/>
            <a:ext cx="1127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Profile FLOOR: cắt từng term về12 bit fraction trước khi cộng</a:t>
            </a:r>
          </a:p>
        </p:txBody>
      </p:sp>
      <p:sp>
        <p:nvSpPr>
          <p:cNvPr id="4" name="text-188">
            <a:extLst xmlns:a="http://schemas.openxmlformats.org/drawingml/2006/main">
              <a:ext uri="{FF2B5EF4-FFF2-40B4-BE49-F238E27FC236}">
                <a16:creationId xmlns:a16="http://schemas.microsoft.com/office/drawing/2014/main" id="{E17D8C97-96E5-4616-974A-AF6AF356C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29375"/>
            <a:ext cx="723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4 / 7</a:t>
            </a:r>
          </a:p>
        </p:txBody>
      </p:sp>
      <p:sp>
        <p:nvSpPr>
          <p:cNvPr id="5" name="y_q-189">
            <a:extLst xmlns:a="http://schemas.openxmlformats.org/drawingml/2006/main">
              <a:ext uri="{FF2B5EF4-FFF2-40B4-BE49-F238E27FC236}">
                <a16:creationId xmlns:a16="http://schemas.microsoft.com/office/drawing/2014/main" id="{A0ACE4FF-13B0-4216-A758-0925E8E9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90800"/>
            <a:ext cx="127635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6" name="clock-190">
            <a:extLst xmlns:a="http://schemas.openxmlformats.org/drawingml/2006/main">
              <a:ext uri="{FF2B5EF4-FFF2-40B4-BE49-F238E27FC236}">
                <a16:creationId xmlns:a16="http://schemas.microsoft.com/office/drawing/2014/main" id="{54FFD882-52DA-400D-8345-32A8C513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05200"/>
            <a:ext cx="95250" cy="133350"/>
          </a:xfrm>
          <a:custGeom xmlns:a="http://schemas.openxmlformats.org/drawingml/2006/main"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7" name="text-191">
            <a:extLst xmlns:a="http://schemas.openxmlformats.org/drawingml/2006/main">
              <a:ext uri="{FF2B5EF4-FFF2-40B4-BE49-F238E27FC236}">
                <a16:creationId xmlns:a16="http://schemas.microsoft.com/office/drawing/2014/main" id="{9A3F3492-BF00-4A79-9493-503B71F6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33675"/>
            <a:ext cx="120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4B83"/>
                </a:solidFill>
                <a:latin typeface="Arial"/>
                <a:ea typeface="Arial"/>
                <a:cs typeface="Arial"/>
              </a:rPr>
              <a:t>y_q</a:t>
            </a:r>
          </a:p>
        </p:txBody>
      </p:sp>
      <p:sp>
        <p:nvSpPr>
          <p:cNvPr id="8" name="text-192">
            <a:extLst xmlns:a="http://schemas.openxmlformats.org/drawingml/2006/main">
              <a:ext uri="{FF2B5EF4-FFF2-40B4-BE49-F238E27FC236}">
                <a16:creationId xmlns:a16="http://schemas.microsoft.com/office/drawing/2014/main" id="{0A8D3E39-0581-4FD7-B87E-B5F61EF3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1123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27 bit</a:t>
            </a:r>
          </a:p>
        </p:txBody>
      </p:sp>
      <p:sp>
        <p:nvSpPr>
          <p:cNvPr id="9" name="Căn lưới-193">
            <a:extLst xmlns:a="http://schemas.openxmlformats.org/drawingml/2006/main">
              <a:ext uri="{FF2B5EF4-FFF2-40B4-BE49-F238E27FC236}">
                <a16:creationId xmlns:a16="http://schemas.microsoft.com/office/drawing/2014/main" id="{01A1747E-7520-477B-BE34-F9600E4D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2505075"/>
            <a:ext cx="22383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FC"/>
          </a:solidFill>
          <a:ln xmlns:a="http://schemas.openxmlformats.org/drawingml/2006/main" w="19050">
            <a:solidFill>
              <a:srgbClr val="6943B9"/>
            </a:solidFill>
          </a:ln>
        </p:spPr>
      </p:sp>
      <p:sp>
        <p:nvSpPr>
          <p:cNvPr id="10" name="text-194">
            <a:extLst xmlns:a="http://schemas.openxmlformats.org/drawingml/2006/main">
              <a:ext uri="{FF2B5EF4-FFF2-40B4-BE49-F238E27FC236}">
                <a16:creationId xmlns:a16="http://schemas.microsoft.com/office/drawing/2014/main" id="{452A9BA3-BC03-435C-8663-5FC72DD5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628900"/>
            <a:ext cx="2047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6943B9"/>
                </a:solidFill>
                <a:latin typeface="Arial"/>
                <a:ea typeface="Arial"/>
                <a:cs typeface="Arial"/>
              </a:rPr>
              <a:t>Căn lưới</a:t>
            </a:r>
          </a:p>
        </p:txBody>
      </p:sp>
      <p:sp>
        <p:nvSpPr>
          <p:cNvPr id="11" name="text-195">
            <a:extLst xmlns:a="http://schemas.openxmlformats.org/drawingml/2006/main">
              <a:ext uri="{FF2B5EF4-FFF2-40B4-BE49-F238E27FC236}">
                <a16:creationId xmlns:a16="http://schemas.microsoft.com/office/drawing/2014/main" id="{9824DC27-994B-4104-8D6C-4B3C1F7A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000375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Approx: &lt;&lt; 2</a:t>
            </a:r>
          </a:p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Exact: &lt;&lt; 26</a:t>
            </a:r>
          </a:p>
        </p:txBody>
      </p:sp>
      <p:sp>
        <p:nvSpPr>
          <p:cNvPr id="12" name="Dịch phải-196">
            <a:extLst xmlns:a="http://schemas.openxmlformats.org/drawingml/2006/main">
              <a:ext uri="{FF2B5EF4-FFF2-40B4-BE49-F238E27FC236}">
                <a16:creationId xmlns:a16="http://schemas.microsoft.com/office/drawing/2014/main" id="{37E94A35-6817-4FDC-A444-4108C7D6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505075"/>
            <a:ext cx="2286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FC"/>
          </a:solidFill>
          <a:ln xmlns:a="http://schemas.openxmlformats.org/drawingml/2006/main" w="19050">
            <a:solidFill>
              <a:srgbClr val="6943B9"/>
            </a:solidFill>
          </a:ln>
        </p:spPr>
      </p:sp>
      <p:sp>
        <p:nvSpPr>
          <p:cNvPr id="13" name="text-197">
            <a:extLst xmlns:a="http://schemas.openxmlformats.org/drawingml/2006/main">
              <a:ext uri="{FF2B5EF4-FFF2-40B4-BE49-F238E27FC236}">
                <a16:creationId xmlns:a16="http://schemas.microsoft.com/office/drawing/2014/main" id="{036C31EA-A18A-491A-9CFF-3D041DAB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28900"/>
            <a:ext cx="209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6943B9"/>
                </a:solidFill>
                <a:latin typeface="Arial"/>
                <a:ea typeface="Arial"/>
                <a:cs typeface="Arial"/>
              </a:rPr>
              <a:t>Dịch phải</a:t>
            </a:r>
          </a:p>
        </p:txBody>
      </p:sp>
      <p:sp>
        <p:nvSpPr>
          <p:cNvPr id="14" name="text-198">
            <a:extLst xmlns:a="http://schemas.openxmlformats.org/drawingml/2006/main">
              <a:ext uri="{FF2B5EF4-FFF2-40B4-BE49-F238E27FC236}">
                <a16:creationId xmlns:a16="http://schemas.microsoft.com/office/drawing/2014/main" id="{65753D0C-D58B-45DE-B617-451EE090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000375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y_base &gt;&gt; S</a:t>
            </a:r>
          </a:p>
        </p:txBody>
      </p:sp>
      <p:sp>
        <p:nvSpPr>
          <p:cNvPr id="15" name="FLOOR-199">
            <a:extLst xmlns:a="http://schemas.openxmlformats.org/drawingml/2006/main">
              <a:ext uri="{FF2B5EF4-FFF2-40B4-BE49-F238E27FC236}">
                <a16:creationId xmlns:a16="http://schemas.microsoft.com/office/drawing/2014/main" id="{4B3BB934-D435-44A2-A2BA-BF63F365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505075"/>
            <a:ext cx="2133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FC"/>
          </a:solidFill>
          <a:ln xmlns:a="http://schemas.openxmlformats.org/drawingml/2006/main" w="19050">
            <a:solidFill>
              <a:srgbClr val="6943B9"/>
            </a:solidFill>
          </a:ln>
        </p:spPr>
      </p:sp>
      <p:sp>
        <p:nvSpPr>
          <p:cNvPr id="16" name="text-200">
            <a:extLst xmlns:a="http://schemas.openxmlformats.org/drawingml/2006/main">
              <a:ext uri="{FF2B5EF4-FFF2-40B4-BE49-F238E27FC236}">
                <a16:creationId xmlns:a16="http://schemas.microsoft.com/office/drawing/2014/main" id="{BA7ECC8B-F829-48D4-A161-F3655B9F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628900"/>
            <a:ext cx="1943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6943B9"/>
                </a:solidFill>
                <a:latin typeface="Arial"/>
                <a:ea typeface="Arial"/>
                <a:cs typeface="Arial"/>
              </a:rPr>
              <a:t>FLOOR</a:t>
            </a:r>
          </a:p>
        </p:txBody>
      </p:sp>
      <p:sp>
        <p:nvSpPr>
          <p:cNvPr id="17" name="text-201">
            <a:extLst xmlns:a="http://schemas.openxmlformats.org/drawingml/2006/main">
              <a:ext uri="{FF2B5EF4-FFF2-40B4-BE49-F238E27FC236}">
                <a16:creationId xmlns:a16="http://schemas.microsoft.com/office/drawing/2014/main" id="{68070152-3D93-4207-AB20-8205F389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000375"/>
            <a:ext cx="1943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term[1:0] = 0</a:t>
            </a:r>
          </a:p>
        </p:txBody>
      </p:sp>
      <p:sp>
        <p:nvSpPr>
          <p:cNvPr id="18" name="R2-202">
            <a:extLst xmlns:a="http://schemas.openxmlformats.org/drawingml/2006/main">
              <a:ext uri="{FF2B5EF4-FFF2-40B4-BE49-F238E27FC236}">
                <a16:creationId xmlns:a16="http://schemas.microsoft.com/office/drawing/2014/main" id="{997FD504-F2D9-442B-9B80-8CC98D85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581275"/>
            <a:ext cx="146685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19" name="clock-203">
            <a:extLst xmlns:a="http://schemas.openxmlformats.org/drawingml/2006/main">
              <a:ext uri="{FF2B5EF4-FFF2-40B4-BE49-F238E27FC236}">
                <a16:creationId xmlns:a16="http://schemas.microsoft.com/office/drawing/2014/main" id="{2F228D1D-0B2A-432E-9D92-D3E99541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495675"/>
            <a:ext cx="95250" cy="133350"/>
          </a:xfrm>
          <a:custGeom xmlns:a="http://schemas.openxmlformats.org/drawingml/2006/main"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20" name="text-204">
            <a:extLst xmlns:a="http://schemas.openxmlformats.org/drawingml/2006/main">
              <a:ext uri="{FF2B5EF4-FFF2-40B4-BE49-F238E27FC236}">
                <a16:creationId xmlns:a16="http://schemas.microsoft.com/office/drawing/2014/main" id="{07B9CD73-8723-4CCA-9126-5ABA36BF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724150"/>
            <a:ext cx="1390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4B83"/>
                </a:solidFill>
                <a:latin typeface="Arial"/>
                <a:ea typeface="Arial"/>
                <a:cs typeface="Arial"/>
              </a:rPr>
              <a:t>R2</a:t>
            </a:r>
          </a:p>
        </p:txBody>
      </p:sp>
      <p:sp>
        <p:nvSpPr>
          <p:cNvPr id="21" name="text-205">
            <a:extLst xmlns:a="http://schemas.openxmlformats.org/drawingml/2006/main">
              <a:ext uri="{FF2B5EF4-FFF2-40B4-BE49-F238E27FC236}">
                <a16:creationId xmlns:a16="http://schemas.microsoft.com/office/drawing/2014/main" id="{1F9B75D3-AD5C-494C-B591-E1C572F1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076575"/>
            <a:ext cx="13144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term / tail</a:t>
            </a:r>
          </a:p>
        </p:txBody>
      </p:sp>
      <p:sp>
        <p:nvSpPr>
          <p:cNvPr id="27" name="text-211">
            <a:extLst xmlns:a="http://schemas.openxmlformats.org/drawingml/2006/main">
              <a:ext uri="{FF2B5EF4-FFF2-40B4-BE49-F238E27FC236}">
                <a16:creationId xmlns:a16="http://schemas.microsoft.com/office/drawing/2014/main" id="{78694D76-E0EA-4E2D-9B1B-A670A8C4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609725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6807"/>
                </a:solidFill>
                <a:latin typeface="Arial"/>
                <a:ea typeface="Arial"/>
                <a:cs typeface="Arial"/>
              </a:rPr>
              <a:t>S từ R1</a:t>
            </a:r>
          </a:p>
        </p:txBody>
      </p:sp>
      <p:sp>
        <p:nvSpPr>
          <p:cNvPr id="30" name="text-214">
            <a:extLst xmlns:a="http://schemas.openxmlformats.org/drawingml/2006/main">
              <a:ext uri="{FF2B5EF4-FFF2-40B4-BE49-F238E27FC236}">
                <a16:creationId xmlns:a16="http://schemas.microsoft.com/office/drawing/2014/main" id="{FB760A3B-C6DA-4C7D-A85A-7157A850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81575"/>
            <a:ext cx="29813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43B9"/>
                </a:solidFill>
                <a:latin typeface="Arial"/>
                <a:ea typeface="Arial"/>
                <a:cs typeface="Arial"/>
              </a:rPr>
              <a:t>y_base tới accumulator</a:t>
            </a:r>
          </a:p>
        </p:txBody>
      </p:sp>
      <p:sp>
        <p:nvSpPr>
          <p:cNvPr id="31" name="OR phần bỏ-215">
            <a:extLst xmlns:a="http://schemas.openxmlformats.org/drawingml/2006/main">
              <a:ext uri="{FF2B5EF4-FFF2-40B4-BE49-F238E27FC236}">
                <a16:creationId xmlns:a16="http://schemas.microsoft.com/office/drawing/2014/main" id="{D4FF1256-7A9D-416A-A46D-DFED44C0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191000"/>
            <a:ext cx="24669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B44A3A"/>
            </a:solidFill>
          </a:ln>
        </p:spPr>
      </p:sp>
      <p:sp>
        <p:nvSpPr>
          <p:cNvPr id="32" name="text-216">
            <a:extLst xmlns:a="http://schemas.openxmlformats.org/drawingml/2006/main">
              <a:ext uri="{FF2B5EF4-FFF2-40B4-BE49-F238E27FC236}">
                <a16:creationId xmlns:a16="http://schemas.microsoft.com/office/drawing/2014/main" id="{D0CCED72-EAC2-4928-B403-45BD22CC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314825"/>
            <a:ext cx="22764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B44A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B44A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B44A3A"/>
                </a:solidFill>
                <a:latin typeface="Arial"/>
                <a:ea typeface="Arial"/>
                <a:cs typeface="Arial"/>
              </a:rPr>
              <a:t>OR phần bỏ</a:t>
            </a:r>
          </a:p>
        </p:txBody>
      </p:sp>
      <p:sp>
        <p:nvSpPr>
          <p:cNvPr id="33" name="text-217">
            <a:extLst xmlns:a="http://schemas.openxmlformats.org/drawingml/2006/main">
              <a:ext uri="{FF2B5EF4-FFF2-40B4-BE49-F238E27FC236}">
                <a16:creationId xmlns:a16="http://schemas.microsoft.com/office/drawing/2014/main" id="{DEE48A5D-F3A3-406F-A237-851F8F42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686300"/>
            <a:ext cx="22764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term_tail</a:t>
            </a:r>
          </a:p>
        </p:txBody>
      </p:sp>
      <p:sp>
        <p:nvSpPr>
          <p:cNvPr id="38" name="text-222">
            <a:extLst xmlns:a="http://schemas.openxmlformats.org/drawingml/2006/main">
              <a:ext uri="{FF2B5EF4-FFF2-40B4-BE49-F238E27FC236}">
                <a16:creationId xmlns:a16="http://schemas.microsoft.com/office/drawing/2014/main" id="{1AF28F07-7B38-46C7-A7E4-CB30317D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673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FLOOR: term_tail đi vào metadata mất thông tin. sticky_acc vẫn bằng0.</a:t>
            </a:r>
          </a:p>
        </p:txBody>
      </p:sp>
      <p:sp>
        <p:nvSpPr>
          <p:cNvPr id="39" name="text-223">
            <a:extLst xmlns:a="http://schemas.openxmlformats.org/drawingml/2006/main">
              <a:ext uri="{FF2B5EF4-FFF2-40B4-BE49-F238E27FC236}">
                <a16:creationId xmlns:a16="http://schemas.microsoft.com/office/drawing/2014/main" id="{52AFF317-ABAF-41DD-9B1A-DEBF5D6B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57900"/>
            <a:ext cx="111156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ACC_W vật lý = 54 bit     Payload approx = 16 bit     P_hat hữu ích = Q12 / 14 bit</a:t>
            </a:r>
          </a:p>
        </p:txBody>
      </p:sp>
    </p:spTree>
    <p:extLst>
      <p:ext uri="{BB962C8B-B14F-4D97-AF65-F5344CB8AC3E}">
        <p14:creationId xmlns:p14="http://schemas.microsoft.com/office/powerpoint/2010/main" val="14402394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9" name="wire-262">
            <a:extLst xmlns:a="http://schemas.openxmlformats.org/drawingml/2006/main">
              <a:ext uri="{FF2B5EF4-FFF2-40B4-BE49-F238E27FC236}">
                <a16:creationId xmlns:a16="http://schemas.microsoft.com/office/drawing/2014/main" id="{D6B0F552-E37B-4FB3-A0FE-F272239B0C4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696325" y="1685925"/>
            <a:ext cx="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dash"/>
            <a:tailEnd type="triangle" w="sm" len="sm"/>
          </a:ln>
        </p:spPr>
      </p:cxnSp>
      <p:cxnSp>
        <p:nvCxnSpPr>
          <p:cNvPr id="37" name="wire-260">
            <a:extLst xmlns:a="http://schemas.openxmlformats.org/drawingml/2006/main">
              <a:ext uri="{FF2B5EF4-FFF2-40B4-BE49-F238E27FC236}">
                <a16:creationId xmlns:a16="http://schemas.microsoft.com/office/drawing/2014/main" id="{36806E26-EA53-497F-BD9C-84212AB7B50D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1609725" y="3705225"/>
            <a:ext cx="0" cy="15906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36" name="wire-259">
            <a:extLst xmlns:a="http://schemas.openxmlformats.org/drawingml/2006/main">
              <a:ext uri="{FF2B5EF4-FFF2-40B4-BE49-F238E27FC236}">
                <a16:creationId xmlns:a16="http://schemas.microsoft.com/office/drawing/2014/main" id="{F7FD9BEC-CD79-4111-B242-347C16746811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1609725" y="5295900"/>
            <a:ext cx="65055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none" w="sm" len="sm"/>
          </a:ln>
        </p:spPr>
      </p:cxnSp>
      <p:cxnSp>
        <p:nvCxnSpPr>
          <p:cNvPr id="35" name="wire-258">
            <a:extLst xmlns:a="http://schemas.openxmlformats.org/drawingml/2006/main">
              <a:ext uri="{FF2B5EF4-FFF2-40B4-BE49-F238E27FC236}">
                <a16:creationId xmlns:a16="http://schemas.microsoft.com/office/drawing/2014/main" id="{834B2488-6517-43FF-AF32-98EDFBD1F1D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115300" y="3381375"/>
            <a:ext cx="0" cy="19145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none" w="sm" len="sm"/>
          </a:ln>
        </p:spPr>
      </p:cxnSp>
      <p:cxnSp>
        <p:nvCxnSpPr>
          <p:cNvPr id="34" name="wire-257">
            <a:extLst xmlns:a="http://schemas.openxmlformats.org/drawingml/2006/main">
              <a:ext uri="{FF2B5EF4-FFF2-40B4-BE49-F238E27FC236}">
                <a16:creationId xmlns:a16="http://schemas.microsoft.com/office/drawing/2014/main" id="{1540183E-B980-4ABF-8769-92036CED3DCB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5324475" y="3076575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33" name="wire-256">
            <a:extLst xmlns:a="http://schemas.openxmlformats.org/drawingml/2006/main">
              <a:ext uri="{FF2B5EF4-FFF2-40B4-BE49-F238E27FC236}">
                <a16:creationId xmlns:a16="http://schemas.microsoft.com/office/drawing/2014/main" id="{20F3829D-87A9-48AD-A9A5-9735C312AD35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5324475" y="3676650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none" w="sm" len="sm"/>
          </a:ln>
        </p:spPr>
      </p:cxnSp>
      <p:cxnSp>
        <p:nvCxnSpPr>
          <p:cNvPr id="32" name="wire-255">
            <a:extLst xmlns:a="http://schemas.openxmlformats.org/drawingml/2006/main">
              <a:ext uri="{FF2B5EF4-FFF2-40B4-BE49-F238E27FC236}">
                <a16:creationId xmlns:a16="http://schemas.microsoft.com/office/drawing/2014/main" id="{82DDF52C-0020-4402-8841-8038BE7CBB5D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6029325" y="3676650"/>
            <a:ext cx="0" cy="9429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none" w="sm" len="sm"/>
          </a:ln>
        </p:spPr>
      </p:cxnSp>
      <p:cxnSp>
        <p:nvCxnSpPr>
          <p:cNvPr id="31" name="wire-254">
            <a:extLst xmlns:a="http://schemas.openxmlformats.org/drawingml/2006/main">
              <a:ext uri="{FF2B5EF4-FFF2-40B4-BE49-F238E27FC236}">
                <a16:creationId xmlns:a16="http://schemas.microsoft.com/office/drawing/2014/main" id="{4529ED59-D64E-42FE-8EC5-B2D27D648DC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448300" y="4619625"/>
            <a:ext cx="5810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none" w="sm" len="sm"/>
          </a:ln>
        </p:spPr>
      </p:cxnSp>
      <p:cxnSp>
        <p:nvCxnSpPr>
          <p:cNvPr id="29" name="wire-252">
            <a:extLst xmlns:a="http://schemas.openxmlformats.org/drawingml/2006/main">
              <a:ext uri="{FF2B5EF4-FFF2-40B4-BE49-F238E27FC236}">
                <a16:creationId xmlns:a16="http://schemas.microsoft.com/office/drawing/2014/main" id="{1E98FA7C-40D6-4F01-825B-4CC15E36FFB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19125" y="4619625"/>
            <a:ext cx="29146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24" name="wire-247">
            <a:extLst xmlns:a="http://schemas.openxmlformats.org/drawingml/2006/main">
              <a:ext uri="{FF2B5EF4-FFF2-40B4-BE49-F238E27FC236}">
                <a16:creationId xmlns:a16="http://schemas.microsoft.com/office/drawing/2014/main" id="{2805D192-D1D2-4F9A-9A14-6501AD90596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058275" y="2771775"/>
            <a:ext cx="26765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22" name="wire-245">
            <a:extLst xmlns:a="http://schemas.openxmlformats.org/drawingml/2006/main">
              <a:ext uri="{FF2B5EF4-FFF2-40B4-BE49-F238E27FC236}">
                <a16:creationId xmlns:a16="http://schemas.microsoft.com/office/drawing/2014/main" id="{49075DCE-9523-4C51-8F9D-DE28FF6E120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686425" y="2695575"/>
            <a:ext cx="16287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17" name="wire-240">
            <a:extLst xmlns:a="http://schemas.openxmlformats.org/drawingml/2006/main">
              <a:ext uri="{FF2B5EF4-FFF2-40B4-BE49-F238E27FC236}">
                <a16:creationId xmlns:a16="http://schemas.microsoft.com/office/drawing/2014/main" id="{00EA3925-20C5-4BFD-9A1D-6A8D75EC0F2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324225" y="2695575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13" name="wire-236">
            <a:extLst xmlns:a="http://schemas.openxmlformats.org/drawingml/2006/main">
              <a:ext uri="{FF2B5EF4-FFF2-40B4-BE49-F238E27FC236}">
                <a16:creationId xmlns:a16="http://schemas.microsoft.com/office/drawing/2014/main" id="{687EA7A7-839F-4D83-B79C-34B55C3CB3E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847975" y="171450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dash"/>
            <a:tailEnd type="triangle" w="sm" len="sm"/>
          </a:ln>
        </p:spPr>
      </p:cxnSp>
      <p:cxnSp>
        <p:nvCxnSpPr>
          <p:cNvPr id="10" name="wire-233">
            <a:extLst xmlns:a="http://schemas.openxmlformats.org/drawingml/2006/main">
              <a:ext uri="{FF2B5EF4-FFF2-40B4-BE49-F238E27FC236}">
                <a16:creationId xmlns:a16="http://schemas.microsoft.com/office/drawing/2014/main" id="{CF26CDA8-6303-486E-AEF7-23DBD0918AC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133600" y="3009900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9" name="wire-232">
            <a:extLst xmlns:a="http://schemas.openxmlformats.org/drawingml/2006/main">
              <a:ext uri="{FF2B5EF4-FFF2-40B4-BE49-F238E27FC236}">
                <a16:creationId xmlns:a16="http://schemas.microsoft.com/office/drawing/2014/main" id="{035AA5DE-947E-482E-BFF7-7E98B04AA802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2133600" y="3009900"/>
            <a:ext cx="0" cy="6953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none" w="sm" len="sm"/>
          </a:ln>
        </p:spPr>
      </p:cxnSp>
      <p:cxnSp>
        <p:nvCxnSpPr>
          <p:cNvPr id="8" name="wire-231">
            <a:extLst xmlns:a="http://schemas.openxmlformats.org/drawingml/2006/main">
              <a:ext uri="{FF2B5EF4-FFF2-40B4-BE49-F238E27FC236}">
                <a16:creationId xmlns:a16="http://schemas.microsoft.com/office/drawing/2014/main" id="{E915315D-04A0-437D-9CBD-0D6003C3001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09600" y="3705225"/>
            <a:ext cx="1524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none" w="sm" len="sm"/>
          </a:ln>
        </p:spPr>
      </p:cxnSp>
      <p:cxnSp>
        <p:nvCxnSpPr>
          <p:cNvPr id="7" name="wire-230">
            <a:extLst xmlns:a="http://schemas.openxmlformats.org/drawingml/2006/main">
              <a:ext uri="{FF2B5EF4-FFF2-40B4-BE49-F238E27FC236}">
                <a16:creationId xmlns:a16="http://schemas.microsoft.com/office/drawing/2014/main" id="{56B92AEC-993B-4D31-A588-1206F1A5CA7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09600" y="2352675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6943B9"/>
            </a:solidFill>
            <a:prstDash val="solid"/>
            <a:tailEnd type="triangle" w="sm" len="sm"/>
          </a:ln>
        </p:spPr>
      </p:cxnSp>
      <p:cxnSp>
        <p:nvCxnSpPr>
          <p:cNvPr id="3" name="wire-226">
            <a:extLst xmlns:a="http://schemas.openxmlformats.org/drawingml/2006/main">
              <a:ext uri="{FF2B5EF4-FFF2-40B4-BE49-F238E27FC236}">
                <a16:creationId xmlns:a16="http://schemas.microsoft.com/office/drawing/2014/main" id="{913FA599-F42F-4995-B143-EEF27CC4192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57200" y="1476375"/>
            <a:ext cx="11277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6E2"/>
            </a:solidFill>
            <a:prstDash val="solid"/>
            <a:tailEnd type="none" w="sm" len="sm"/>
          </a:ln>
        </p:spPr>
      </p:cxnSp>
      <p:sp>
        <p:nvSpPr>
          <p:cNvPr id="46" name="text-224">
            <a:extLst xmlns:a="http://schemas.openxmlformats.org/drawingml/2006/main">
              <a:ext uri="{FF2B5EF4-FFF2-40B4-BE49-F238E27FC236}">
                <a16:creationId xmlns:a16="http://schemas.microsoft.com/office/drawing/2014/main" id="{C3C47ADA-A72A-40D2-9BF1-3714009B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277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SBM Accumulator: commit term và giữ tổng</a:t>
            </a:r>
          </a:p>
        </p:txBody>
      </p:sp>
      <p:sp>
        <p:nvSpPr>
          <p:cNvPr id="2" name="text-225">
            <a:extLst xmlns:a="http://schemas.openxmlformats.org/drawingml/2006/main">
              <a:ext uri="{FF2B5EF4-FFF2-40B4-BE49-F238E27FC236}">
                <a16:creationId xmlns:a16="http://schemas.microsoft.com/office/drawing/2014/main" id="{19828900-7009-4C0C-9FC6-067DB0EB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42975"/>
            <a:ext cx="1127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first chọn hidden term. init_only chỉ nạp Y. commit_valid cho phép cập nhật</a:t>
            </a:r>
          </a:p>
        </p:txBody>
      </p:sp>
      <p:sp>
        <p:nvSpPr>
          <p:cNvPr id="4" name="text-227">
            <a:extLst xmlns:a="http://schemas.openxmlformats.org/drawingml/2006/main">
              <a:ext uri="{FF2B5EF4-FFF2-40B4-BE49-F238E27FC236}">
                <a16:creationId xmlns:a16="http://schemas.microsoft.com/office/drawing/2014/main" id="{E12208A8-38A6-4198-8717-C45D9619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29375"/>
            <a:ext cx="723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5 / 7</a:t>
            </a:r>
          </a:p>
        </p:txBody>
      </p:sp>
      <p:sp>
        <p:nvSpPr>
          <p:cNvPr id="5" name="text-228">
            <a:extLst xmlns:a="http://schemas.openxmlformats.org/drawingml/2006/main">
              <a:ext uri="{FF2B5EF4-FFF2-40B4-BE49-F238E27FC236}">
                <a16:creationId xmlns:a16="http://schemas.microsoft.com/office/drawing/2014/main" id="{1A452573-E175-4F7A-B750-6997FFBB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43B9"/>
                </a:solidFill>
                <a:latin typeface="Arial"/>
                <a:ea typeface="Arial"/>
                <a:cs typeface="Arial"/>
              </a:rPr>
              <a:t>y_base</a:t>
            </a:r>
          </a:p>
        </p:txBody>
      </p:sp>
      <p:sp>
        <p:nvSpPr>
          <p:cNvPr id="6" name="text-229">
            <a:extLst xmlns:a="http://schemas.openxmlformats.org/drawingml/2006/main">
              <a:ext uri="{FF2B5EF4-FFF2-40B4-BE49-F238E27FC236}">
                <a16:creationId xmlns:a16="http://schemas.microsoft.com/office/drawing/2014/main" id="{F6243762-3610-4112-8CC4-DEEACA3A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7660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43B9"/>
                </a:solidFill>
                <a:latin typeface="Arial"/>
                <a:ea typeface="Arial"/>
                <a:cs typeface="Arial"/>
              </a:rPr>
              <a:t>acc_q</a:t>
            </a:r>
          </a:p>
        </p:txBody>
      </p:sp>
      <p:sp>
        <p:nvSpPr>
          <p:cNvPr id="11" name="mux-234">
            <a:extLst xmlns:a="http://schemas.openxmlformats.org/drawingml/2006/main">
              <a:ext uri="{FF2B5EF4-FFF2-40B4-BE49-F238E27FC236}">
                <a16:creationId xmlns:a16="http://schemas.microsoft.com/office/drawing/2014/main" id="{FABC60C3-94AA-4EB7-96EA-8C38F143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085975"/>
            <a:ext cx="952500" cy="1219200"/>
          </a:xfrm>
          <a:custGeom xmlns:a="http://schemas.openxmlformats.org/drawingml/2006/main">
            <a:pathLst>
              <a:path w="952500" h="1219200">
                <a:moveTo>
                  <a:pt x="0" y="0"/>
                </a:moveTo>
                <a:lnTo>
                  <a:pt x="952500" y="243840"/>
                </a:lnTo>
                <a:lnTo>
                  <a:pt x="952500" y="975360"/>
                </a:lnTo>
                <a:lnTo>
                  <a:pt x="0" y="1219200"/>
                </a:lnTo>
                <a:close/>
              </a:path>
            </a:pathLst>
          </a:custGeom>
          <a:solidFill xmlns:a="http://schemas.openxmlformats.org/drawingml/2006/main">
            <a:srgbClr val="F2ECFC"/>
          </a:solidFill>
          <a:ln xmlns:a="http://schemas.openxmlformats.org/drawingml/2006/main" w="19050">
            <a:solidFill>
              <a:srgbClr val="6943B9"/>
            </a:solidFill>
          </a:ln>
        </p:spPr>
      </p:sp>
      <p:sp>
        <p:nvSpPr>
          <p:cNvPr id="12" name="text-235">
            <a:extLst xmlns:a="http://schemas.openxmlformats.org/drawingml/2006/main">
              <a:ext uri="{FF2B5EF4-FFF2-40B4-BE49-F238E27FC236}">
                <a16:creationId xmlns:a16="http://schemas.microsoft.com/office/drawing/2014/main" id="{E9C419DA-D9D8-4D00-BDC0-1395C8D0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24125"/>
            <a:ext cx="85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943B9"/>
                </a:solidFill>
                <a:latin typeface="Arial"/>
                <a:ea typeface="Arial"/>
                <a:cs typeface="Arial"/>
              </a:rPr>
              <a:t>MUX</a:t>
            </a:r>
          </a:p>
        </p:txBody>
      </p:sp>
      <p:sp>
        <p:nvSpPr>
          <p:cNvPr id="14" name="text-237">
            <a:extLst xmlns:a="http://schemas.openxmlformats.org/drawingml/2006/main">
              <a:ext uri="{FF2B5EF4-FFF2-40B4-BE49-F238E27FC236}">
                <a16:creationId xmlns:a16="http://schemas.microsoft.com/office/drawing/2014/main" id="{7D6CD7D3-13DE-40F3-9999-71E7B2EA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590675"/>
            <a:ext cx="12477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first</a:t>
            </a:r>
          </a:p>
        </p:txBody>
      </p:sp>
      <p:sp>
        <p:nvSpPr>
          <p:cNvPr id="15" name="operator-238">
            <a:extLst xmlns:a="http://schemas.openxmlformats.org/drawingml/2006/main">
              <a:ext uri="{FF2B5EF4-FFF2-40B4-BE49-F238E27FC236}">
                <a16:creationId xmlns:a16="http://schemas.microsoft.com/office/drawing/2014/main" id="{557A4A2B-050D-490A-80F6-AF87D6D0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235267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CFC"/>
          </a:solidFill>
          <a:ln xmlns:a="http://schemas.openxmlformats.org/drawingml/2006/main" w="19050">
            <a:solidFill>
              <a:srgbClr val="6943B9"/>
            </a:solidFill>
          </a:ln>
        </p:spPr>
      </p:sp>
      <p:sp>
        <p:nvSpPr>
          <p:cNvPr id="16" name="text-239">
            <a:extLst xmlns:a="http://schemas.openxmlformats.org/drawingml/2006/main">
              <a:ext uri="{FF2B5EF4-FFF2-40B4-BE49-F238E27FC236}">
                <a16:creationId xmlns:a16="http://schemas.microsoft.com/office/drawing/2014/main" id="{25809C0F-8331-4447-B287-89AC9076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2352675"/>
            <a:ext cx="723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3225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225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6943B9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8" name="acc_q-241">
            <a:extLst xmlns:a="http://schemas.openxmlformats.org/drawingml/2006/main">
              <a:ext uri="{FF2B5EF4-FFF2-40B4-BE49-F238E27FC236}">
                <a16:creationId xmlns:a16="http://schemas.microsoft.com/office/drawing/2014/main" id="{72425FD5-A631-4D4A-A642-48A238CF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43125"/>
            <a:ext cx="17430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19" name="clock-242">
            <a:extLst xmlns:a="http://schemas.openxmlformats.org/drawingml/2006/main">
              <a:ext uri="{FF2B5EF4-FFF2-40B4-BE49-F238E27FC236}">
                <a16:creationId xmlns:a16="http://schemas.microsoft.com/office/drawing/2014/main" id="{F71D7304-9F7B-42DE-AA96-9ACEA6FC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62300"/>
            <a:ext cx="95250" cy="133350"/>
          </a:xfrm>
          <a:custGeom xmlns:a="http://schemas.openxmlformats.org/drawingml/2006/main"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20" name="text-243">
            <a:extLst xmlns:a="http://schemas.openxmlformats.org/drawingml/2006/main">
              <a:ext uri="{FF2B5EF4-FFF2-40B4-BE49-F238E27FC236}">
                <a16:creationId xmlns:a16="http://schemas.microsoft.com/office/drawing/2014/main" id="{2A605027-5EFC-452F-A996-A5403147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86000"/>
            <a:ext cx="1666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4B83"/>
                </a:solidFill>
                <a:latin typeface="Arial"/>
                <a:ea typeface="Arial"/>
                <a:cs typeface="Arial"/>
              </a:rPr>
              <a:t>acc_q</a:t>
            </a:r>
          </a:p>
        </p:txBody>
      </p:sp>
      <p:sp>
        <p:nvSpPr>
          <p:cNvPr id="21" name="text-244">
            <a:extLst xmlns:a="http://schemas.openxmlformats.org/drawingml/2006/main">
              <a:ext uri="{FF2B5EF4-FFF2-40B4-BE49-F238E27FC236}">
                <a16:creationId xmlns:a16="http://schemas.microsoft.com/office/drawing/2014/main" id="{1F8A901A-6AF2-4C34-984A-1431CFA6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638425"/>
            <a:ext cx="15906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54 bit</a:t>
            </a:r>
          </a:p>
        </p:txBody>
      </p:sp>
      <p:sp>
        <p:nvSpPr>
          <p:cNvPr id="23" name="text-246">
            <a:extLst xmlns:a="http://schemas.openxmlformats.org/drawingml/2006/main">
              <a:ext uri="{FF2B5EF4-FFF2-40B4-BE49-F238E27FC236}">
                <a16:creationId xmlns:a16="http://schemas.microsoft.com/office/drawing/2014/main" id="{CD80A3A0-759E-4306-8402-F75BF7BB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124075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43B9"/>
                </a:solidFill>
                <a:latin typeface="Arial"/>
                <a:ea typeface="Arial"/>
                <a:cs typeface="Arial"/>
              </a:rPr>
              <a:t>sum[53:0]</a:t>
            </a:r>
          </a:p>
        </p:txBody>
      </p:sp>
      <p:sp>
        <p:nvSpPr>
          <p:cNvPr id="25" name="text-248">
            <a:extLst xmlns:a="http://schemas.openxmlformats.org/drawingml/2006/main">
              <a:ext uri="{FF2B5EF4-FFF2-40B4-BE49-F238E27FC236}">
                <a16:creationId xmlns:a16="http://schemas.microsoft.com/office/drawing/2014/main" id="{4BD52D3A-8635-4550-8DE7-8A731AA6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38375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43B9"/>
                </a:solidFill>
                <a:latin typeface="Arial"/>
                <a:ea typeface="Arial"/>
                <a:cs typeface="Arial"/>
              </a:rPr>
              <a:t>acc / P_hat</a:t>
            </a:r>
          </a:p>
        </p:txBody>
      </p:sp>
      <p:sp>
        <p:nvSpPr>
          <p:cNvPr id="26" name="Term / 0-249">
            <a:extLst xmlns:a="http://schemas.openxmlformats.org/drawingml/2006/main">
              <a:ext uri="{FF2B5EF4-FFF2-40B4-BE49-F238E27FC236}">
                <a16:creationId xmlns:a16="http://schemas.microsoft.com/office/drawing/2014/main" id="{756D8BC3-CF17-467B-8357-762EBD7B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124325"/>
            <a:ext cx="19145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FC"/>
          </a:solidFill>
          <a:ln xmlns:a="http://schemas.openxmlformats.org/drawingml/2006/main" w="19050">
            <a:solidFill>
              <a:srgbClr val="6943B9"/>
            </a:solidFill>
          </a:ln>
        </p:spPr>
      </p:sp>
      <p:sp>
        <p:nvSpPr>
          <p:cNvPr id="27" name="text-250">
            <a:extLst xmlns:a="http://schemas.openxmlformats.org/drawingml/2006/main">
              <a:ext uri="{FF2B5EF4-FFF2-40B4-BE49-F238E27FC236}">
                <a16:creationId xmlns:a16="http://schemas.microsoft.com/office/drawing/2014/main" id="{5C3F14E9-945D-4C86-90EC-0AA92D5D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248150"/>
            <a:ext cx="17240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6943B9"/>
                </a:solidFill>
                <a:latin typeface="Arial"/>
                <a:ea typeface="Arial"/>
                <a:cs typeface="Arial"/>
              </a:rPr>
              <a:t>Term / 0</a:t>
            </a:r>
          </a:p>
        </p:txBody>
      </p:sp>
      <p:sp>
        <p:nvSpPr>
          <p:cNvPr id="28" name="text-251">
            <a:extLst xmlns:a="http://schemas.openxmlformats.org/drawingml/2006/main">
              <a:ext uri="{FF2B5EF4-FFF2-40B4-BE49-F238E27FC236}">
                <a16:creationId xmlns:a16="http://schemas.microsoft.com/office/drawing/2014/main" id="{59CD5C6B-D5EF-4923-A361-8D70E68F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619625"/>
            <a:ext cx="17240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init_only</a:t>
            </a:r>
          </a:p>
        </p:txBody>
      </p:sp>
      <p:sp>
        <p:nvSpPr>
          <p:cNvPr id="30" name="text-253">
            <a:extLst xmlns:a="http://schemas.openxmlformats.org/drawingml/2006/main">
              <a:ext uri="{FF2B5EF4-FFF2-40B4-BE49-F238E27FC236}">
                <a16:creationId xmlns:a16="http://schemas.microsoft.com/office/drawing/2014/main" id="{E92A20A3-7905-47C1-8BB5-40CBE1B1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1719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43B9"/>
                </a:solidFill>
                <a:latin typeface="Arial"/>
                <a:ea typeface="Arial"/>
                <a:cs typeface="Arial"/>
              </a:rPr>
              <a:t>term từ R2</a:t>
            </a:r>
          </a:p>
        </p:txBody>
      </p:sp>
      <p:sp>
        <p:nvSpPr>
          <p:cNvPr id="38" name="text-261">
            <a:extLst xmlns:a="http://schemas.openxmlformats.org/drawingml/2006/main">
              <a:ext uri="{FF2B5EF4-FFF2-40B4-BE49-F238E27FC236}">
                <a16:creationId xmlns:a16="http://schemas.microsoft.com/office/drawing/2014/main" id="{78B876CA-2BED-42EA-842F-6A6D0A97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400675"/>
            <a:ext cx="519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43B9"/>
                </a:solidFill>
                <a:latin typeface="Arial"/>
                <a:ea typeface="Arial"/>
                <a:cs typeface="Arial"/>
              </a:rPr>
              <a:t>Feedback tổng cũ cho commit kế tiếp</a:t>
            </a:r>
          </a:p>
        </p:txBody>
      </p:sp>
      <p:sp>
        <p:nvSpPr>
          <p:cNvPr id="40" name="text-263">
            <a:extLst xmlns:a="http://schemas.openxmlformats.org/drawingml/2006/main">
              <a:ext uri="{FF2B5EF4-FFF2-40B4-BE49-F238E27FC236}">
                <a16:creationId xmlns:a16="http://schemas.microsoft.com/office/drawing/2014/main" id="{F648280F-DB4F-4980-BE60-799B5643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428750"/>
            <a:ext cx="20669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commit_valid</a:t>
            </a:r>
          </a:p>
        </p:txBody>
      </p:sp>
      <p:sp>
        <p:nvSpPr>
          <p:cNvPr id="41" name="Done-264">
            <a:extLst xmlns:a="http://schemas.openxmlformats.org/drawingml/2006/main">
              <a:ext uri="{FF2B5EF4-FFF2-40B4-BE49-F238E27FC236}">
                <a16:creationId xmlns:a16="http://schemas.microsoft.com/office/drawing/2014/main" id="{6CEEA28E-FF07-4C2F-9CD5-02B4702B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4000500"/>
            <a:ext cx="20859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42" name="text-265">
            <a:extLst xmlns:a="http://schemas.openxmlformats.org/drawingml/2006/main">
              <a:ext uri="{FF2B5EF4-FFF2-40B4-BE49-F238E27FC236}">
                <a16:creationId xmlns:a16="http://schemas.microsoft.com/office/drawing/2014/main" id="{3FF26E96-EEF9-488E-A383-1CA2A129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124325"/>
            <a:ext cx="18954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244B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4B83"/>
                </a:solidFill>
                <a:latin typeface="Arial"/>
                <a:ea typeface="Arial"/>
                <a:cs typeface="Arial"/>
              </a:rPr>
              <a:t>Done</a:t>
            </a:r>
          </a:p>
        </p:txBody>
      </p:sp>
      <p:sp>
        <p:nvSpPr>
          <p:cNvPr id="43" name="text-266">
            <a:extLst xmlns:a="http://schemas.openxmlformats.org/drawingml/2006/main">
              <a:ext uri="{FF2B5EF4-FFF2-40B4-BE49-F238E27FC236}">
                <a16:creationId xmlns:a16="http://schemas.microsoft.com/office/drawing/2014/main" id="{2391C173-2B49-4E46-8E3E-5155D6E0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495800"/>
            <a:ext cx="18954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commit_valid</a:t>
            </a:r>
          </a:p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&amp;&amp; last</a:t>
            </a:r>
          </a:p>
        </p:txBody>
      </p:sp>
      <p:sp>
        <p:nvSpPr>
          <p:cNvPr id="44" name="clock-done-267">
            <a:extLst xmlns:a="http://schemas.openxmlformats.org/drawingml/2006/main">
              <a:ext uri="{FF2B5EF4-FFF2-40B4-BE49-F238E27FC236}">
                <a16:creationId xmlns:a16="http://schemas.microsoft.com/office/drawing/2014/main" id="{F2441D7C-2325-4960-8B72-ADC33E99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4895850"/>
            <a:ext cx="95250" cy="133350"/>
          </a:xfrm>
          <a:custGeom xmlns:a="http://schemas.openxmlformats.org/drawingml/2006/main"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4B83"/>
            </a:solidFill>
          </a:ln>
        </p:spPr>
      </p:sp>
      <p:sp>
        <p:nvSpPr>
          <p:cNvPr id="45" name="text-268">
            <a:extLst xmlns:a="http://schemas.openxmlformats.org/drawingml/2006/main">
              <a:ext uri="{FF2B5EF4-FFF2-40B4-BE49-F238E27FC236}">
                <a16:creationId xmlns:a16="http://schemas.microsoft.com/office/drawing/2014/main" id="{15E4F512-772E-44B1-AD2D-6E501894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first=1: acc_next = y_base + term</a:t>
            </a:r>
          </a:p>
          <a:p xmlns:a="http://schemas.openxmlformats.org/drawingml/2006/main">
            <a:pPr algn="l">
              <a:defRPr sz="19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init_only=1: acc_next = y_base</a:t>
            </a:r>
          </a:p>
        </p:txBody>
      </p:sp>
    </p:spTree>
    <p:extLst>
      <p:ext uri="{BB962C8B-B14F-4D97-AF65-F5344CB8AC3E}">
        <p14:creationId xmlns:p14="http://schemas.microsoft.com/office/powerpoint/2010/main" val="18392695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wire-283">
            <a:extLst xmlns:a="http://schemas.openxmlformats.org/drawingml/2006/main">
              <a:ext uri="{FF2B5EF4-FFF2-40B4-BE49-F238E27FC236}">
                <a16:creationId xmlns:a16="http://schemas.microsoft.com/office/drawing/2014/main" id="{7D36A678-5362-48FD-9F66-06094219679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353300" y="2209800"/>
            <a:ext cx="12668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triangle" w="sm" len="sm"/>
          </a:ln>
        </p:spPr>
      </p:cxnSp>
      <p:cxnSp>
        <p:nvCxnSpPr>
          <p:cNvPr id="14" name="wire-282">
            <a:extLst xmlns:a="http://schemas.openxmlformats.org/drawingml/2006/main">
              <a:ext uri="{FF2B5EF4-FFF2-40B4-BE49-F238E27FC236}">
                <a16:creationId xmlns:a16="http://schemas.microsoft.com/office/drawing/2014/main" id="{EDF8F2F3-EE2A-4054-BB60-AED5FC1F994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581400" y="2209800"/>
            <a:ext cx="1238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25672"/>
            </a:solidFill>
            <a:prstDash val="solid"/>
            <a:tailEnd type="triangle" w="sm" len="sm"/>
          </a:ln>
        </p:spPr>
      </p:cxnSp>
      <p:cxnSp>
        <p:nvCxnSpPr>
          <p:cNvPr id="3" name="wire-271">
            <a:extLst xmlns:a="http://schemas.openxmlformats.org/drawingml/2006/main">
              <a:ext uri="{FF2B5EF4-FFF2-40B4-BE49-F238E27FC236}">
                <a16:creationId xmlns:a16="http://schemas.microsoft.com/office/drawing/2014/main" id="{C83B1334-E666-4AF7-8F55-54C2D02943A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57200" y="1476375"/>
            <a:ext cx="11277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6E2"/>
            </a:solidFill>
            <a:prstDash val="solid"/>
            <a:tailEnd type="none" w="sm" len="sm"/>
          </a:ln>
        </p:spPr>
      </p:cxnSp>
      <p:sp>
        <p:nvSpPr>
          <p:cNvPr id="19" name="text-269">
            <a:extLst xmlns:a="http://schemas.openxmlformats.org/drawingml/2006/main">
              <a:ext uri="{FF2B5EF4-FFF2-40B4-BE49-F238E27FC236}">
                <a16:creationId xmlns:a16="http://schemas.microsoft.com/office/drawing/2014/main" id="{6918787C-FBBB-46AE-A403-5F8C46C5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277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Pipeline core: token đi cùng số hạng</a:t>
            </a:r>
          </a:p>
        </p:txBody>
      </p:sp>
      <p:sp>
        <p:nvSpPr>
          <p:cNvPr id="2" name="text-270">
            <a:extLst xmlns:a="http://schemas.openxmlformats.org/drawingml/2006/main">
              <a:ext uri="{FF2B5EF4-FFF2-40B4-BE49-F238E27FC236}">
                <a16:creationId xmlns:a16="http://schemas.microsoft.com/office/drawing/2014/main" id="{26034BAB-28B4-4BB1-BDDB-421A89A5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42975"/>
            <a:ext cx="1127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Ví dụ hai vòng fraction. L0 là cạnh launch được core chấp nhận</a:t>
            </a:r>
          </a:p>
        </p:txBody>
      </p:sp>
      <p:sp>
        <p:nvSpPr>
          <p:cNvPr id="4" name="text-272">
            <a:extLst xmlns:a="http://schemas.openxmlformats.org/drawingml/2006/main">
              <a:ext uri="{FF2B5EF4-FFF2-40B4-BE49-F238E27FC236}">
                <a16:creationId xmlns:a16="http://schemas.microsoft.com/office/drawing/2014/main" id="{2102D16A-8E78-4FAD-BFCB-5D017D5D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29375"/>
            <a:ext cx="723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6 / 7</a:t>
            </a:r>
          </a:p>
        </p:txBody>
      </p:sp>
      <p:sp>
        <p:nvSpPr>
          <p:cNvPr id="5" name="L1: SAC-273">
            <a:extLst xmlns:a="http://schemas.openxmlformats.org/drawingml/2006/main">
              <a:ext uri="{FF2B5EF4-FFF2-40B4-BE49-F238E27FC236}">
                <a16:creationId xmlns:a16="http://schemas.microsoft.com/office/drawing/2014/main" id="{A0D18BAF-6DAF-47B3-8D5D-223934FE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25336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D"/>
          </a:solidFill>
          <a:ln xmlns:a="http://schemas.openxmlformats.org/drawingml/2006/main" w="19050">
            <a:solidFill>
              <a:srgbClr val="A76807"/>
            </a:solidFill>
          </a:ln>
        </p:spPr>
      </p:sp>
      <p:sp>
        <p:nvSpPr>
          <p:cNvPr id="6" name="text-274">
            <a:extLst xmlns:a="http://schemas.openxmlformats.org/drawingml/2006/main">
              <a:ext uri="{FF2B5EF4-FFF2-40B4-BE49-F238E27FC236}">
                <a16:creationId xmlns:a16="http://schemas.microsoft.com/office/drawing/2014/main" id="{7A45E393-DA85-49BA-BF1C-23DC175A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76425"/>
            <a:ext cx="23431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A7680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A7680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76807"/>
                </a:solidFill>
                <a:latin typeface="Arial"/>
                <a:ea typeface="Arial"/>
                <a:cs typeface="Arial"/>
              </a:rPr>
              <a:t>L1: SAC</a:t>
            </a:r>
          </a:p>
        </p:txBody>
      </p:sp>
      <p:sp>
        <p:nvSpPr>
          <p:cNvPr id="7" name="text-275">
            <a:extLst xmlns:a="http://schemas.openxmlformats.org/drawingml/2006/main">
              <a:ext uri="{FF2B5EF4-FFF2-40B4-BE49-F238E27FC236}">
                <a16:creationId xmlns:a16="http://schemas.microsoft.com/office/drawing/2014/main" id="{9F0F2B77-62FA-49DB-9D26-D6558298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scale / first / last</a:t>
            </a:r>
          </a:p>
        </p:txBody>
      </p:sp>
      <p:sp>
        <p:nvSpPr>
          <p:cNvPr id="8" name="L2: Shift-276">
            <a:extLst xmlns:a="http://schemas.openxmlformats.org/drawingml/2006/main">
              <a:ext uri="{FF2B5EF4-FFF2-40B4-BE49-F238E27FC236}">
                <a16:creationId xmlns:a16="http://schemas.microsoft.com/office/drawing/2014/main" id="{50D8A5FE-0728-4DC6-B9CE-24642200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752600"/>
            <a:ext cx="25336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FC"/>
          </a:solidFill>
          <a:ln xmlns:a="http://schemas.openxmlformats.org/drawingml/2006/main" w="19050">
            <a:solidFill>
              <a:srgbClr val="6943B9"/>
            </a:solidFill>
          </a:ln>
        </p:spPr>
      </p:sp>
      <p:sp>
        <p:nvSpPr>
          <p:cNvPr id="9" name="text-277">
            <a:extLst xmlns:a="http://schemas.openxmlformats.org/drawingml/2006/main">
              <a:ext uri="{FF2B5EF4-FFF2-40B4-BE49-F238E27FC236}">
                <a16:creationId xmlns:a16="http://schemas.microsoft.com/office/drawing/2014/main" id="{E1FA277E-7149-434B-A74A-00CF00B0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876425"/>
            <a:ext cx="23431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943B9"/>
                </a:solidFill>
                <a:latin typeface="Arial"/>
                <a:ea typeface="Arial"/>
                <a:cs typeface="Arial"/>
              </a:rPr>
              <a:t>L2: Shift</a:t>
            </a:r>
          </a:p>
        </p:txBody>
      </p:sp>
      <p:sp>
        <p:nvSpPr>
          <p:cNvPr id="10" name="text-278">
            <a:extLst xmlns:a="http://schemas.openxmlformats.org/drawingml/2006/main">
              <a:ext uri="{FF2B5EF4-FFF2-40B4-BE49-F238E27FC236}">
                <a16:creationId xmlns:a16="http://schemas.microsoft.com/office/drawing/2014/main" id="{66C28468-838F-4E7B-BDA0-635C4328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479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term / tail / token</a:t>
            </a:r>
          </a:p>
        </p:txBody>
      </p:sp>
      <p:sp>
        <p:nvSpPr>
          <p:cNvPr id="11" name="L3: Acc-279">
            <a:extLst xmlns:a="http://schemas.openxmlformats.org/drawingml/2006/main">
              <a:ext uri="{FF2B5EF4-FFF2-40B4-BE49-F238E27FC236}">
                <a16:creationId xmlns:a16="http://schemas.microsoft.com/office/drawing/2014/main" id="{C453F51F-38ED-458F-AD0C-76B99D07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752600"/>
            <a:ext cx="25336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FC"/>
          </a:solidFill>
          <a:ln xmlns:a="http://schemas.openxmlformats.org/drawingml/2006/main" w="19050">
            <a:solidFill>
              <a:srgbClr val="6943B9"/>
            </a:solidFill>
          </a:ln>
        </p:spPr>
      </p:sp>
      <p:sp>
        <p:nvSpPr>
          <p:cNvPr id="12" name="text-280">
            <a:extLst xmlns:a="http://schemas.openxmlformats.org/drawingml/2006/main">
              <a:ext uri="{FF2B5EF4-FFF2-40B4-BE49-F238E27FC236}">
                <a16:creationId xmlns:a16="http://schemas.microsoft.com/office/drawing/2014/main" id="{77967B25-C7A7-4BF7-BDC0-04691067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76425"/>
            <a:ext cx="23431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943B9"/>
                </a:solidFill>
                <a:latin typeface="Arial"/>
                <a:ea typeface="Arial"/>
                <a:cs typeface="Arial"/>
              </a:rPr>
              <a:t>L3: Acc</a:t>
            </a:r>
          </a:p>
        </p:txBody>
      </p:sp>
      <p:sp>
        <p:nvSpPr>
          <p:cNvPr id="13" name="text-281">
            <a:extLst xmlns:a="http://schemas.openxmlformats.org/drawingml/2006/main">
              <a:ext uri="{FF2B5EF4-FFF2-40B4-BE49-F238E27FC236}">
                <a16:creationId xmlns:a16="http://schemas.microsoft.com/office/drawing/2014/main" id="{22F545E5-A631-46FF-9E85-26F08B20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2479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commit / done</a:t>
            </a:r>
          </a:p>
        </p:txBody>
      </p:sp>
      <p:graphicFrame>
        <p:nvGraphicFrame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44FB34-E8E2-4590-B79A-16A969D901A5}"/>
              </a:ext>
            </a:extLst>
          </p:cNvPr>
          <p:cNvGraphicFramePr/>
          <p:nvPr/>
        </p:nvGraphicFramePr>
        <p:xfrm>
          <a:off xmlns:a="http://schemas.openxmlformats.org/drawingml/2006/main" x="457200" y="3009900"/>
          <a:ext xmlns:a="http://schemas.openxmlformats.org/drawingml/2006/main" cx="11277600" cy="2581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1771650"/>
                <a:gridCol w="1771650"/>
                <a:gridCol w="1771650"/>
                <a:gridCol w="1771650"/>
                <a:gridCol w="1771650"/>
              </a:tblGrid>
              <a:tr h="516255"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Khối / cạnh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E2"/>
                      </a:solidFill>
                      <a:prstDash val="solid"/>
                    </a:lnL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L0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L1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L2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L3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L4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EAF1FA"/>
                    </a:solidFill>
                  </a:tcPr>
                </a:tc>
              </a:tr>
              <a:tr h="516255"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Context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E2"/>
                      </a:solidFill>
                      <a:prstDash val="solid"/>
                    </a:lnL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Chốt X,Y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Giữ 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Giữ 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Giữ 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Giữ 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6255"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SAC / R1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E2"/>
                      </a:solidFill>
                      <a:prstDash val="solid"/>
                    </a:lnL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Nạp state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Token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Token 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Dừng phát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</a:tr>
              <a:tr h="516255"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Shift / R2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E2"/>
                      </a:solidFill>
                      <a:prstDash val="solid"/>
                    </a:lnL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Term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Term 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6255"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Accumulator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E2"/>
                      </a:solidFill>
                      <a:prstDash val="solid"/>
                    </a:lnL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Y + term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+ term 2</a:t>
                      </a:r>
                    </a:p>
                    <a:p>
                      <a:pPr algn="ctr"/>
                      <a:r>
                        <a:rPr sz="1725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done=1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7" name="text-284">
            <a:extLst xmlns:a="http://schemas.openxmlformats.org/drawingml/2006/main">
              <a:ext uri="{FF2B5EF4-FFF2-40B4-BE49-F238E27FC236}">
                <a16:creationId xmlns:a16="http://schemas.microsoft.com/office/drawing/2014/main" id="{A3453A04-FBCF-4A8D-9EFD-75EB8FE5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2930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core_done sau q + 2 cạnh từ launch, với q = max(1, số vòng thực tế)</a:t>
            </a:r>
          </a:p>
        </p:txBody>
      </p:sp>
      <p:sp>
        <p:nvSpPr>
          <p:cNvPr id="18" name="text-285">
            <a:extLst xmlns:a="http://schemas.openxmlformats.org/drawingml/2006/main">
              <a:ext uri="{FF2B5EF4-FFF2-40B4-BE49-F238E27FC236}">
                <a16:creationId xmlns:a16="http://schemas.microsoft.com/office/drawing/2014/main" id="{93892C33-4824-498C-961E-087C53A9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0"/>
            <a:ext cx="1049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n=0 vẫn đi qua token init_only. early-stop giảm số vòng. release_result nhả slot của core.</a:t>
            </a:r>
          </a:p>
        </p:txBody>
      </p:sp>
    </p:spTree>
    <p:extLst>
      <p:ext uri="{BB962C8B-B14F-4D97-AF65-F5344CB8AC3E}">
        <p14:creationId xmlns:p14="http://schemas.microsoft.com/office/powerpoint/2010/main" val="6873154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" name="wire-288">
            <a:extLst xmlns:a="http://schemas.openxmlformats.org/drawingml/2006/main">
              <a:ext uri="{FF2B5EF4-FFF2-40B4-BE49-F238E27FC236}">
                <a16:creationId xmlns:a16="http://schemas.microsoft.com/office/drawing/2014/main" id="{7A9FE133-BE78-4707-BB2B-2E9A51FFF43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57200" y="1476375"/>
            <a:ext cx="11277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6E2"/>
            </a:solidFill>
            <a:prstDash val="solid"/>
            <a:tailEnd type="none" w="sm" len="sm"/>
          </a:ln>
        </p:spPr>
      </p:cxnSp>
      <p:sp>
        <p:nvSpPr>
          <p:cNvPr id="10" name="text-286">
            <a:extLst xmlns:a="http://schemas.openxmlformats.org/drawingml/2006/main">
              <a:ext uri="{FF2B5EF4-FFF2-40B4-BE49-F238E27FC236}">
                <a16:creationId xmlns:a16="http://schemas.microsoft.com/office/drawing/2014/main" id="{8874A553-F148-4F34-B757-62165FDB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277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Ví dụ 12 bit: hai vòng fraction</a:t>
            </a:r>
          </a:p>
        </p:txBody>
      </p:sp>
      <p:sp>
        <p:nvSpPr>
          <p:cNvPr id="2" name="text-287">
            <a:extLst xmlns:a="http://schemas.openxmlformats.org/drawingml/2006/main">
              <a:ext uri="{FF2B5EF4-FFF2-40B4-BE49-F238E27FC236}">
                <a16:creationId xmlns:a16="http://schemas.microsoft.com/office/drawing/2014/main" id="{C6B1F91B-EA14-4E22-916A-2EC6712D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42975"/>
            <a:ext cx="1127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X = 1.010010000000₂        Y = 1.001000001000₂        n = 2</a:t>
            </a:r>
          </a:p>
        </p:txBody>
      </p:sp>
      <p:sp>
        <p:nvSpPr>
          <p:cNvPr id="4" name="text-289">
            <a:extLst xmlns:a="http://schemas.openxmlformats.org/drawingml/2006/main">
              <a:ext uri="{FF2B5EF4-FFF2-40B4-BE49-F238E27FC236}">
                <a16:creationId xmlns:a16="http://schemas.microsoft.com/office/drawing/2014/main" id="{44548C47-77F9-4E27-9D27-9AF34CF5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29375"/>
            <a:ext cx="723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7 / 7</a:t>
            </a:r>
          </a:p>
        </p:txBody>
      </p:sp>
      <p:sp>
        <p:nvSpPr>
          <p:cNvPr id="5" name="text-290">
            <a:extLst xmlns:a="http://schemas.openxmlformats.org/drawingml/2006/main">
              <a:ext uri="{FF2B5EF4-FFF2-40B4-BE49-F238E27FC236}">
                <a16:creationId xmlns:a16="http://schemas.microsoft.com/office/drawing/2014/main" id="{73289D93-6EF3-4C8C-A442-C1D3D99F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11125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47D9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7D92"/>
                </a:solidFill>
                <a:latin typeface="Arial"/>
                <a:ea typeface="Arial"/>
                <a:cs typeface="Arial"/>
              </a:rPr>
              <a:t>Popcount X = 2, popcount Y = 2. OPS hòa nên giữ A làm X.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F79DB7-3C4A-4114-B6EC-E6CBDF9F6578}"/>
              </a:ext>
            </a:extLst>
          </p:cNvPr>
          <p:cNvGraphicFramePr/>
          <p:nvPr/>
        </p:nvGraphicFramePr>
        <p:xfrm>
          <a:off xmlns:a="http://schemas.openxmlformats.org/drawingml/2006/main" x="457200" y="2438400"/>
          <a:ext xmlns:a="http://schemas.openxmlformats.org/drawingml/2006/main" cx="11277600" cy="2333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2686050"/>
                <a:gridCol w="857250"/>
                <a:gridCol w="857250"/>
                <a:gridCol w="857250"/>
                <a:gridCol w="2076450"/>
                <a:gridCol w="2419350"/>
              </a:tblGrid>
              <a:tr h="583406"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Bước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E2"/>
                      </a:solidFill>
                      <a:prstDash val="solid"/>
                    </a:lnL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4DD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fx trước bước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4DD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K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4DD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sa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4DD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4DD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term Q12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4DD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1">
                          <a:solidFill>
                            <a:srgbClr val="172B4D"/>
                          </a:solidFill>
                          <a:latin typeface="Arial"/>
                          <a:ea typeface="Arial"/>
                          <a:cs typeface="Arial"/>
                        </a:rPr>
                        <a:t>acc Q12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T w="9525">
                      <a:solidFill>
                        <a:srgbClr val="CCD6E2"/>
                      </a:solidFill>
                      <a:prstDash val="solid"/>
                    </a:lnT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4DD"/>
                    </a:solidFill>
                  </a:tcPr>
                </a:tc>
              </a:tr>
              <a:tr h="583406"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Y_base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E2"/>
                      </a:solidFill>
                      <a:prstDash val="solid"/>
                    </a:lnL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010010000000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4616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3406"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Vòng 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E2"/>
                      </a:solidFill>
                      <a:prstDash val="solid"/>
                    </a:lnL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010010000000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1154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5770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7F9FC"/>
                    </a:solidFill>
                  </a:tcPr>
                </a:tc>
              </a:tr>
              <a:tr h="583406"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Vòng 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E2"/>
                      </a:solidFill>
                      <a:prstDash val="solid"/>
                    </a:lnL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001000000000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144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76200" rIns="85725" bIns="76200"/>
                    <a:lstStyle/>
                    <a:p>
                      <a:pPr algn="ctr"/>
                      <a:r>
                        <a:rPr sz="1800" b="0">
                          <a:solidFill>
                            <a:srgbClr val="425672"/>
                          </a:solidFill>
                          <a:latin typeface="Arial"/>
                          <a:ea typeface="Arial"/>
                          <a:cs typeface="Arial"/>
                        </a:rPr>
                        <a:t>5914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E2"/>
                      </a:solidFill>
                      <a:prstDash val="solid"/>
                    </a:lnR>
                    <a:lnB w="9525">
                      <a:solidFill>
                        <a:srgbClr val="CCD6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-291">
            <a:extLst xmlns:a="http://schemas.openxmlformats.org/drawingml/2006/main">
              <a:ext uri="{FF2B5EF4-FFF2-40B4-BE49-F238E27FC236}">
                <a16:creationId xmlns:a16="http://schemas.microsoft.com/office/drawing/2014/main" id="{5CBA9D7B-79B9-4295-B5BA-5C4DA584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19675"/>
            <a:ext cx="11125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6943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6943B9"/>
                </a:solidFill>
                <a:latin typeface="Arial"/>
                <a:ea typeface="Arial"/>
                <a:cs typeface="Arial"/>
              </a:rPr>
              <a:t>Vòng 2: 4616 / 32 = 144,25. FLOOR giữ 144 và báo term_tail=1.</a:t>
            </a:r>
          </a:p>
        </p:txBody>
      </p:sp>
      <p:sp>
        <p:nvSpPr>
          <p:cNvPr id="8" name="text-292">
            <a:extLst xmlns:a="http://schemas.openxmlformats.org/drawingml/2006/main">
              <a:ext uri="{FF2B5EF4-FFF2-40B4-BE49-F238E27FC236}">
                <a16:creationId xmlns:a16="http://schemas.microsoft.com/office/drawing/2014/main" id="{17F1AEB3-61A1-4C2C-AE5D-15C7E456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435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P_hat = 5914 / 4096 = 1,44384765625</a:t>
            </a:r>
          </a:p>
        </p:txBody>
      </p:sp>
      <p:sp>
        <p:nvSpPr>
          <p:cNvPr id="9" name="text-293">
            <a:extLst xmlns:a="http://schemas.openxmlformats.org/drawingml/2006/main">
              <a:ext uri="{FF2B5EF4-FFF2-40B4-BE49-F238E27FC236}">
                <a16:creationId xmlns:a16="http://schemas.microsoft.com/office/drawing/2014/main" id="{E3B82DAB-CD15-4C43-BB53-F2DFC5B0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57900"/>
            <a:ext cx="1072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57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57D"/>
                </a:solidFill>
                <a:latin typeface="Arial"/>
                <a:ea typeface="Arial"/>
                <a:cs typeface="Arial"/>
              </a:rPr>
              <a:t>fx_next = 0: kết thúc quét fraction. Normalize và RNE tích tiếp tục sau core_done.</a:t>
            </a:r>
          </a:p>
        </p:txBody>
      </p:sp>
    </p:spTree>
    <p:extLst>
      <p:ext uri="{BB962C8B-B14F-4D97-AF65-F5344CB8AC3E}">
        <p14:creationId xmlns:p14="http://schemas.microsoft.com/office/powerpoint/2010/main" val="1397497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2026-10-14T07:48:31.3250000Z</dcterms:created>
  <dcterms:modified xsi:type="dcterms:W3CDTF">2026-10-14T07:48:31.3250000Z</dcterms:modified>
</coreProperties>
</file>