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OPS là Operand Selector. SAC là Shift Amount Calculator. SBM là Shift-Based Multiplier. S là lượng dịch tích lũy, khác scale factor sf của Posit. Sơ đồ tổng rút gọn R0 thành bank context gồm y_q, mode/sign/sf và state SAC. R1 nằm trong iter_ctrl, R2 là t2_term và token trong mul_iter_core, L3 là acc trong sbm_accum. Các thanh ghi cùng clock. Y đi thẳng tới shifter và giữ ổn định cho toàn giao dịch. Core xử lý một giao dịch và giải phóng khi release_result; không có FIFO chồng lấn transaction. Công thức là trên mantissa/lưới FLOOR, dấu và sf được ghép sau core. ACC_W32/3=54 với EXACT_EN=1, dù payload approx chỉ16 bit.</a:t>
            </a:r>
          </a:p>
          <a:p>
            <a:endParaRPr/>
          </a:p>
          <a:p>
            <a:r>
              <a:t>Nguồn RTL và hợp đồng:</a:t>
            </a:r>
          </a:p>
          <a:p>
            <a:r>
              <a:t>C:\HCMUT\HK261\Do an 2\Posit_MAC\rtl\ops_sel_comb.sv</a:t>
            </a:r>
          </a:p>
          <a:p>
            <a:r>
              <a:t>C:\HCMUT\HK261\Do an 2\Posit_MAC\rtl\iter_ctrl.sv</a:t>
            </a:r>
          </a:p>
          <a:p>
            <a:r>
              <a:t>C:\HCMUT\HK261\Do an 2\Posit_MAC\rtl\mul_iter_core.sv</a:t>
            </a:r>
          </a:p>
          <a:p>
            <a:r>
              <a:t>C:\HCMUT\HK261\Do an 2\Posit_MAC\rtl\sbm_shift_comb.sv</a:t>
            </a:r>
          </a:p>
          <a:p>
            <a:r>
              <a:t>C:\HCMUT\HK261\Do an 2\Posit_MAC\rtl\sbm_accum.sv</a:t>
            </a:r>
          </a:p>
          <a:p>
            <a:r>
              <a:t>C:\HCMUT\HK261\Do an 2\Posit_MAC\SPEC_Posit_MAC_IP.md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OPS là khối tổ hợp, không chứa bank M0. Trong approx, cắt12 MSB rồi đặt vào12 LSB của vector26 bit effective, phần cao bằng0. Popcount đếm vector effective này. PAD_N=32 cho F26, hai cây count5 tầng logic cộng. cfg_ops0 luôn X=A; cfg_ops1 chọnB chỉ khi countB&lt;countA. Hai mux chọn X và Y ngược nhau, nên Y là toán hạng còn lại. Y hidden ở vị trí12 khi approx và26 khi exact, output27 bit. input_cut OR các bit thấp bị bỏ của A/B. sf là11 bit signed cho profile32/3. Các input cfg reserved bị wrapper từ chối. Sơ đồ chỉ vẽ datapath chính và nêu sign/sf ở dưới.</a:t>
            </a:r>
          </a:p>
          <a:p>
            <a:endParaRPr/>
          </a:p>
          <a:p>
            <a:r>
              <a:t>Nguồn RTL và hợp đồng:</a:t>
            </a:r>
          </a:p>
          <a:p>
            <a:r>
              <a:t>C:\HCMUT\HK261\Do an 2\Posit_MAC\rtl\ops_sel_comb.sv</a:t>
            </a:r>
          </a:p>
          <a:p>
            <a:r>
              <a:t>C:\HCMUT\HK261\Do an 2\Posit_MAC\rtl\mac_nf_wrapper.sv</a:t>
            </a:r>
          </a:p>
          <a:p>
            <a:r>
              <a:t>C:\HCMUT\HK261\Do an 2\Posit_MAC\SPEC_Posit_MAC_IP.md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LOD MODE0 tìm bit1 đầu tiên từ MSB, trả số leading zeros K và leading_valid. Nếu vld=0, không tạo term, sa0, scale_next giữ scale, fx_next giữ fx và exhausted1. Với vld1, step=K+1, scale_sum tính rộngS_W+1 và kiểm không vượtW_X. state_error nếu scale&gt;W hoặc scale_sum&gt;W. Chỉ term_valid khi vld&amp;&amp;!error. Dịch trái sa loại leading zeros và bit1 vừa xử lý. Khoanh các bank fx_q,scale_q là state bên ngoài sac_step_comb trong iter_ctrl. R1 là token xuấtscale đã chốt, không phải bank feedback dùng lại để đếm vòng. ApproxW12, exactW26, S_W5 ở32/3. iter_ctrl có hai instance SAC và mux mode; hình vẽ một đường active để dễ đọc.</a:t>
            </a:r>
          </a:p>
          <a:p>
            <a:endParaRPr/>
          </a:p>
          <a:p>
            <a:r>
              <a:t>Nguồn RTL và hợp đồng:</a:t>
            </a:r>
          </a:p>
          <a:p>
            <a:r>
              <a:t>C:\HCMUT\HK261\Do an 2\Posit_MAC\rtl\sac_step_comb.sv</a:t>
            </a:r>
          </a:p>
          <a:p>
            <a:r>
              <a:t>C:\HCMUT\HK261\Do an 2\Posit_MAC\rtl\lod_lzd_core.sv</a:t>
            </a:r>
          </a:p>
          <a:p>
            <a:r>
              <a:t>C:\HCMUT\HK261\Do an 2\Posit_MAC\rtl\iter_ctrl.sv</a:t>
            </a:r>
          </a:p>
          <a:p>
            <a:r>
              <a:t>C:\HCMUT\HK261\Do an 2\Posit_MAC\SPEC_Posit_MAC_IP.md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sbm_shift_comb nhận y_mant right-aligned từ OPS: approximatehidden ởbit12, exacthidden ởbit26. Approx &lt;&lt;2 tạo Q14 trong bank vật lý54 bit. FLOORmask2LSB sau shift tạo term là bội4, nên chiaacc&gt;&gt;2 lấy Q12. Exact &lt;&lt;F tạo gridQ52. shift_discard=S+2 trongapproxFLOOR, hoặcS các modekhác; term_tail ORy_base bits thấp dưới shift_discard. init_only buộcterm0 vàtail0. VớiFLOOR, numerical_tail giữORterm_tail nhưng numerical_sticky cho R(P_hat) bằng0; không dùng metadata cut khôi phục giá trị. Có thể chọn JAM ởstandalonelegacy, NFtop hardwireFLOOR. R2 lưu term vàtail trongmul_iter_core, y_base vẫn là dây tổ hợp từ y_q ổn định. Slide không vẽ muxexact/approx vàinit đầy đủ; ghi rõ trongnotes.</a:t>
            </a:r>
          </a:p>
          <a:p>
            <a:endParaRPr/>
          </a:p>
          <a:p>
            <a:r>
              <a:t>Nguồn RTL và hợp đồng:</a:t>
            </a:r>
          </a:p>
          <a:p>
            <a:r>
              <a:t>C:\HCMUT\HK261\Do an 2\Posit_MAC\rtl\sbm_shift_comb.sv</a:t>
            </a:r>
          </a:p>
          <a:p>
            <a:r>
              <a:t>C:\HCMUT\HK261\Do an 2\Posit_MAC\rtl\mul_iter_core.sv</a:t>
            </a:r>
          </a:p>
          <a:p>
            <a:r>
              <a:t>C:\HCMUT\HK261\Do an 2\Posit_MAC\rtl\sbm_accum_comb.sv</a:t>
            </a:r>
          </a:p>
          <a:p>
            <a:r>
              <a:t>C:\HCMUT\HK261\Do an 2\Posit_MAC\rtl\mul_prepack_norm_comb.sv</a:t>
            </a:r>
          </a:p>
          <a:p>
            <a:r>
              <a:t>C:\HCMUT\HK261\Do an 2\Posit_MAC\SPEC_Posit_MAC_IP.md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sbm_accum_comb sum rộng55bit đểkiểm carryerror bit54. first1 mux chọny_base thayacc; normalfirst cộngtermfraction đầu cùnghidden. init_only bỏphépcộngterm, khôngY+Y. first reset numericaltail/sticky. numericaltail ORtermtail; sticky chỉOR khi exact hoặcROUND_SCHEME1, NFapproxFLOORgiữ0. sbm_accum chốt acc, iterations_done, approx_cut_o vàtails khi commit_valid. done &lt;=commit_valid&amp;&amp;last, khôngphảiđoánkhibitfxhết ởSAC. Córesetleaf asyncassert/syncrelease2FF vàrun_ready; khôngvẽmạngresetđểgiữdatapathdễđọc. Diagram first control arrows representboolean first, labelsnearport. Bankacc giữ output khi khôngcommit. Kếtquả cầnnormalize vàRNE bênngoàicore; khôngpacktrongaccumulator.</a:t>
            </a:r>
          </a:p>
          <a:p>
            <a:endParaRPr/>
          </a:p>
          <a:p>
            <a:r>
              <a:t>Nguồn RTL và hợp đồng:</a:t>
            </a:r>
          </a:p>
          <a:p>
            <a:r>
              <a:t>C:\HCMUT\HK261\Do an 2\Posit_MAC\rtl\sbm_accum_comb.sv</a:t>
            </a:r>
          </a:p>
          <a:p>
            <a:r>
              <a:t>C:\HCMUT\HK261\Do an 2\Posit_MAC\rtl\sbm_accum.sv</a:t>
            </a:r>
          </a:p>
          <a:p>
            <a:r>
              <a:t>C:\HCMUT\HK261\Do an 2\Posit_MAC\rtl\mul_iter_core.sv</a:t>
            </a:r>
          </a:p>
          <a:p>
            <a:r>
              <a:t>C:\HCMUT\HK261\Do an 2\Posit_MAC\SPEC_Posit_MAC_IP.md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L0khácE0inputhandshake củaMAC. iter_ctrl nạpstate tạiL0, phát token1sauL1. mul_iter_core R2 chốt shift/token1L2. sbm_accum commit1L3. Token2 phátL2, R2L3, commitlastL4. t=2,q2doneL4=t+2. t0init vẫnR1L1,R2L2,accL3 nênq1done3. token_valid/first/last/init_only/iteration/cut phải đi quaR2đồngbộterm. count/n giới hạn số termfraction, hidden nằmtrongfirstkhôngđếmthêm. core vẫnbusyđếnrelease_resultdo wrapperoutputretire. Các stage khác giao dịchkhôngchồnglấptrongbaseline hiện tại. Khônggánlịchcorecho latencycảMAC. Resetflushcảvalid/datacontexttheoguideline.</a:t>
            </a:r>
          </a:p>
          <a:p>
            <a:endParaRPr/>
          </a:p>
          <a:p>
            <a:r>
              <a:t>Nguồn RTL và hợp đồng:</a:t>
            </a:r>
          </a:p>
          <a:p>
            <a:r>
              <a:t>C:\HCMUT\HK261\Do an 2\Posit_MAC\rtl\iter_ctrl.sv</a:t>
            </a:r>
          </a:p>
          <a:p>
            <a:r>
              <a:t>C:\HCMUT\HK261\Do an 2\Posit_MAC\rtl\mul_iter_core.sv</a:t>
            </a:r>
          </a:p>
          <a:p>
            <a:r>
              <a:t>C:\HCMUT\HK261\Do an 2\Posit_MAC\rtl\sbm_accum.sv</a:t>
            </a:r>
          </a:p>
          <a:p>
            <a:r>
              <a:t>C:\HCMUT\HK261\Do an 2\Posit_MAC\SPEC_Posit_MAC_IP.md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Đây là ví dụmantissa12bitvớisf_base0,dấudương. Cắtinputkhôngmấtbitvìphầnbỏ0. Xa=1.28125,Yb=1.126953125,y_baseQ12=4616. Vòng1fx010010000000,clz1,sa2,S2,fx_next001000000000;term4616&gt;&gt;2=1154,first cộng4616+1154=5770. Vòng2clz2,sa3,S5,fx_next0;termFLOOR4616&gt;&gt;5=144,đuôi8/32=.25Q12units,numericaltail1,acc5914. PayloadvậtlýQ14 ybase18464,term1=4616,term2=576,acc23656;divide4raQ12giátrị5914. Tíchmantissathật=1.44390869140625,khácprepackmộtquarterQ12LSBdoFLOOR. numerical_stickyFLOOR0,metadata inexact1. Khônggọi ví dụnàylàbằngchứngtáihiệnbaselinepaper; chỉminhhọarecurrence đãchốt. last nhậnởR1vòng2,doneởR3commitvòng2.</a:t>
            </a:r>
          </a:p>
          <a:p>
            <a:endParaRPr/>
          </a:p>
          <a:p>
            <a:r>
              <a:t>Nguồn RTL và hợp đồng:</a:t>
            </a:r>
          </a:p>
          <a:p>
            <a:r>
              <a:t>C:\HCMUT\HK261\Do an 2\Posit_MAC\rtl\ops_sel_comb.sv</a:t>
            </a:r>
          </a:p>
          <a:p>
            <a:r>
              <a:t>C:\HCMUT\HK261\Do an 2\Posit_MAC\rtl\sac_step_comb.sv</a:t>
            </a:r>
          </a:p>
          <a:p>
            <a:r>
              <a:t>C:\HCMUT\HK261\Do an 2\Posit_MAC\rtl\sbm_shift_comb.sv</a:t>
            </a:r>
          </a:p>
          <a:p>
            <a:r>
              <a:t>C:\HCMUT\HK261\Do an 2\Posit_MAC\rtl\sbm_accum_comb.sv</a:t>
            </a:r>
          </a:p>
          <a:p>
            <a:r>
              <a:t>C:\HCMUT\HK261\Do an 2\Posit_MAC\SPEC_Posit_MAC_IP.md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CB6E9A8-9EC9-463B-BC8B-5EFEC401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44168EE-18EE-40E9-AC04-0F9A7998A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9549386-2384-43EC-BB5A-1F0BDCDD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2D54B7F-CC7D-405E-90DD-0D4FB0CF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6492C91-78F7-4614-8FE0-B3D9DA131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BEFC1BE-E299-41CD-B015-7B1EEFE5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172EC18-F334-4627-9AB9-AF1C0E6BB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B418D05-CF9D-47D6-B6EE-2DEA45319DD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DA9E4CE-F520-4213-A634-0F016EDE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154552B-5D48-4783-B704-5E377A64C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wire-50">
            <a:extLst>
              <a:ext uri="{FF2B5EF4-FFF2-40B4-BE49-F238E27FC236}">
                <a16:creationId xmlns:a16="http://schemas.microsoft.com/office/drawing/2014/main" id="{D2EBAD4E-F469-4B18-AAA0-C3975B152218}"/>
              </a:ext>
            </a:extLst>
          </p:cNvPr>
          <p:cNvCxnSpPr/>
          <p:nvPr/>
        </p:nvCxnSpPr>
        <p:spPr>
          <a:xfrm flipV="1">
            <a:off x="5143500" y="3781425"/>
            <a:ext cx="0" cy="390525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49" name="wire-49">
            <a:extLst>
              <a:ext uri="{FF2B5EF4-FFF2-40B4-BE49-F238E27FC236}">
                <a16:creationId xmlns:a16="http://schemas.microsoft.com/office/drawing/2014/main" id="{47D46C58-7F30-41C0-AD06-093071466713}"/>
              </a:ext>
            </a:extLst>
          </p:cNvPr>
          <p:cNvCxnSpPr/>
          <p:nvPr/>
        </p:nvCxnSpPr>
        <p:spPr>
          <a:xfrm>
            <a:off x="4648200" y="4171950"/>
            <a:ext cx="495300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48" name="wire-48">
            <a:extLst>
              <a:ext uri="{FF2B5EF4-FFF2-40B4-BE49-F238E27FC236}">
                <a16:creationId xmlns:a16="http://schemas.microsoft.com/office/drawing/2014/main" id="{71AEB942-43C3-4348-9432-B6248D685D12}"/>
              </a:ext>
            </a:extLst>
          </p:cNvPr>
          <p:cNvCxnSpPr/>
          <p:nvPr/>
        </p:nvCxnSpPr>
        <p:spPr>
          <a:xfrm>
            <a:off x="4648200" y="3781425"/>
            <a:ext cx="0" cy="390525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46" name="wire-46">
            <a:extLst>
              <a:ext uri="{FF2B5EF4-FFF2-40B4-BE49-F238E27FC236}">
                <a16:creationId xmlns:a16="http://schemas.microsoft.com/office/drawing/2014/main" id="{9299D925-3FB6-4F34-8A7D-03EA549C2943}"/>
              </a:ext>
            </a:extLst>
          </p:cNvPr>
          <p:cNvCxnSpPr/>
          <p:nvPr/>
        </p:nvCxnSpPr>
        <p:spPr>
          <a:xfrm flipV="1">
            <a:off x="11096625" y="3781425"/>
            <a:ext cx="0" cy="390525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45" name="wire-45">
            <a:extLst>
              <a:ext uri="{FF2B5EF4-FFF2-40B4-BE49-F238E27FC236}">
                <a16:creationId xmlns:a16="http://schemas.microsoft.com/office/drawing/2014/main" id="{61776023-62CD-40CF-9DA8-3F848F9A52F4}"/>
              </a:ext>
            </a:extLst>
          </p:cNvPr>
          <p:cNvCxnSpPr/>
          <p:nvPr/>
        </p:nvCxnSpPr>
        <p:spPr>
          <a:xfrm>
            <a:off x="10639425" y="4171950"/>
            <a:ext cx="457200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44" name="wire-44">
            <a:extLst>
              <a:ext uri="{FF2B5EF4-FFF2-40B4-BE49-F238E27FC236}">
                <a16:creationId xmlns:a16="http://schemas.microsoft.com/office/drawing/2014/main" id="{D88D6A06-1F66-4ADC-9982-9850C53C13C5}"/>
              </a:ext>
            </a:extLst>
          </p:cNvPr>
          <p:cNvCxnSpPr/>
          <p:nvPr/>
        </p:nvCxnSpPr>
        <p:spPr>
          <a:xfrm>
            <a:off x="10639425" y="3781425"/>
            <a:ext cx="0" cy="390525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42" name="wire-42">
            <a:extLst>
              <a:ext uri="{FF2B5EF4-FFF2-40B4-BE49-F238E27FC236}">
                <a16:creationId xmlns:a16="http://schemas.microsoft.com/office/drawing/2014/main" id="{A5ECF19D-F88D-475E-9D4B-9DF2236903DE}"/>
              </a:ext>
            </a:extLst>
          </p:cNvPr>
          <p:cNvCxnSpPr/>
          <p:nvPr/>
        </p:nvCxnSpPr>
        <p:spPr>
          <a:xfrm>
            <a:off x="7791450" y="2238375"/>
            <a:ext cx="0" cy="40005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41" name="wire-41">
            <a:extLst>
              <a:ext uri="{FF2B5EF4-FFF2-40B4-BE49-F238E27FC236}">
                <a16:creationId xmlns:a16="http://schemas.microsoft.com/office/drawing/2014/main" id="{EFB8177C-9DC4-4813-8A5E-9ACB05092C1C}"/>
              </a:ext>
            </a:extLst>
          </p:cNvPr>
          <p:cNvCxnSpPr/>
          <p:nvPr/>
        </p:nvCxnSpPr>
        <p:spPr>
          <a:xfrm>
            <a:off x="3086100" y="2238375"/>
            <a:ext cx="4705350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0" name="wire-40">
            <a:extLst>
              <a:ext uri="{FF2B5EF4-FFF2-40B4-BE49-F238E27FC236}">
                <a16:creationId xmlns:a16="http://schemas.microsoft.com/office/drawing/2014/main" id="{D4A32F9C-E011-46FC-B1CF-8DB1C199D62E}"/>
              </a:ext>
            </a:extLst>
          </p:cNvPr>
          <p:cNvCxnSpPr/>
          <p:nvPr/>
        </p:nvCxnSpPr>
        <p:spPr>
          <a:xfrm flipV="1">
            <a:off x="3086100" y="2238375"/>
            <a:ext cx="0" cy="40005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36" name="wire-36">
            <a:extLst>
              <a:ext uri="{FF2B5EF4-FFF2-40B4-BE49-F238E27FC236}">
                <a16:creationId xmlns:a16="http://schemas.microsoft.com/office/drawing/2014/main" id="{92EF35BD-52D6-44FC-8514-4EF4453D8788}"/>
              </a:ext>
            </a:extLst>
          </p:cNvPr>
          <p:cNvCxnSpPr/>
          <p:nvPr/>
        </p:nvCxnSpPr>
        <p:spPr>
          <a:xfrm>
            <a:off x="9629775" y="3209925"/>
            <a:ext cx="428625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35" name="wire-35">
            <a:extLst>
              <a:ext uri="{FF2B5EF4-FFF2-40B4-BE49-F238E27FC236}">
                <a16:creationId xmlns:a16="http://schemas.microsoft.com/office/drawing/2014/main" id="{4682F3A8-B001-4096-B309-97C94DF4A9EF}"/>
              </a:ext>
            </a:extLst>
          </p:cNvPr>
          <p:cNvCxnSpPr/>
          <p:nvPr/>
        </p:nvCxnSpPr>
        <p:spPr>
          <a:xfrm>
            <a:off x="8534400" y="3209925"/>
            <a:ext cx="495300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34" name="wire-34">
            <a:extLst>
              <a:ext uri="{FF2B5EF4-FFF2-40B4-BE49-F238E27FC236}">
                <a16:creationId xmlns:a16="http://schemas.microsoft.com/office/drawing/2014/main" id="{E79C5777-EC3D-4265-A332-DB85E6781BBF}"/>
              </a:ext>
            </a:extLst>
          </p:cNvPr>
          <p:cNvCxnSpPr/>
          <p:nvPr/>
        </p:nvCxnSpPr>
        <p:spPr>
          <a:xfrm>
            <a:off x="6524625" y="3209925"/>
            <a:ext cx="438150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33" name="wire-33">
            <a:extLst>
              <a:ext uri="{FF2B5EF4-FFF2-40B4-BE49-F238E27FC236}">
                <a16:creationId xmlns:a16="http://schemas.microsoft.com/office/drawing/2014/main" id="{86250E29-0D6C-4770-9079-2D63CEF3F89A}"/>
              </a:ext>
            </a:extLst>
          </p:cNvPr>
          <p:cNvCxnSpPr/>
          <p:nvPr/>
        </p:nvCxnSpPr>
        <p:spPr>
          <a:xfrm>
            <a:off x="5562600" y="3209925"/>
            <a:ext cx="361950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32" name="wire-32">
            <a:extLst>
              <a:ext uri="{FF2B5EF4-FFF2-40B4-BE49-F238E27FC236}">
                <a16:creationId xmlns:a16="http://schemas.microsoft.com/office/drawing/2014/main" id="{68F7701A-EE78-4AE8-A1F5-7F43F50CCBD7}"/>
              </a:ext>
            </a:extLst>
          </p:cNvPr>
          <p:cNvCxnSpPr/>
          <p:nvPr/>
        </p:nvCxnSpPr>
        <p:spPr>
          <a:xfrm>
            <a:off x="3400425" y="3209925"/>
            <a:ext cx="523875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31" name="wire-31">
            <a:extLst>
              <a:ext uri="{FF2B5EF4-FFF2-40B4-BE49-F238E27FC236}">
                <a16:creationId xmlns:a16="http://schemas.microsoft.com/office/drawing/2014/main" id="{2787EA6F-E64B-4250-BE9F-5E5D6155B28C}"/>
              </a:ext>
            </a:extLst>
          </p:cNvPr>
          <p:cNvCxnSpPr/>
          <p:nvPr/>
        </p:nvCxnSpPr>
        <p:spPr>
          <a:xfrm>
            <a:off x="2257425" y="3209925"/>
            <a:ext cx="523875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3" name="wire-3">
            <a:extLst>
              <a:ext uri="{FF2B5EF4-FFF2-40B4-BE49-F238E27FC236}">
                <a16:creationId xmlns:a16="http://schemas.microsoft.com/office/drawing/2014/main" id="{5B11817D-B987-429A-8DB1-57A6FD4672B2}"/>
              </a:ext>
            </a:extLst>
          </p:cNvPr>
          <p:cNvCxnSpPr/>
          <p:nvPr/>
        </p:nvCxnSpPr>
        <p:spPr>
          <a:xfrm>
            <a:off x="457200" y="1476375"/>
            <a:ext cx="11277600" cy="0"/>
          </a:xfrm>
          <a:prstGeom prst="straightConnector1">
            <a:avLst/>
          </a:prstGeom>
          <a:ln w="9525">
            <a:solidFill>
              <a:srgbClr val="CCD6E2"/>
            </a:solidFill>
            <a:prstDash val="solid"/>
            <a:tailEnd type="none" w="sm" len="sm"/>
          </a:ln>
        </p:spPr>
      </p:cxnSp>
      <p:sp>
        <p:nvSpPr>
          <p:cNvPr id="54" name="text-1">
            <a:extLst>
              <a:ext uri="{FF2B5EF4-FFF2-40B4-BE49-F238E27FC236}">
                <a16:creationId xmlns:a16="http://schemas.microsoft.com/office/drawing/2014/main" id="{915EAEE8-7B96-4A54-A421-0D5534DA5AB9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Datapath nhân lặp: OPS, SAC và SBM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7841B875-0AB1-4041-A96F-12BAF08103B4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Profile minh họa: posit32/ES=3, FRAC_W=12, FLOOR, EXACT_EN=1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BD6C4AE8-390E-43CD-AD20-799C81D7438A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723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772B3BE3-E40A-4DF4-8AD3-AD3DCD23E00B}"/>
              </a:ext>
            </a:extLst>
          </p:cNvPr>
          <p:cNvSpPr>
            <a:spLocks noGrp="1"/>
          </p:cNvSpPr>
          <p:nvPr/>
        </p:nvSpPr>
        <p:spPr>
          <a:xfrm>
            <a:off x="428625" y="188595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A/B đã parse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24398740-20B0-4A65-B0DA-10B84BA2662A}"/>
              </a:ext>
            </a:extLst>
          </p:cNvPr>
          <p:cNvSpPr>
            <a:spLocks noGrp="1"/>
          </p:cNvSpPr>
          <p:nvPr/>
        </p:nvSpPr>
        <p:spPr>
          <a:xfrm>
            <a:off x="3000375" y="188595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4B83"/>
                </a:solidFill>
                <a:latin typeface="Arial"/>
                <a:ea typeface="Arial"/>
                <a:cs typeface="Arial"/>
              </a:rPr>
              <a:t>L0: launch</a:t>
            </a:r>
          </a:p>
        </p:txBody>
      </p:sp>
      <p:sp>
        <p:nvSpPr>
          <p:cNvPr id="7" name="text-7">
            <a:extLst>
              <a:ext uri="{FF2B5EF4-FFF2-40B4-BE49-F238E27FC236}">
                <a16:creationId xmlns:a16="http://schemas.microsoft.com/office/drawing/2014/main" id="{066D04B1-387F-40AD-9EF4-B9CE60269DB0}"/>
              </a:ext>
            </a:extLst>
          </p:cNvPr>
          <p:cNvSpPr>
            <a:spLocks noGrp="1"/>
          </p:cNvSpPr>
          <p:nvPr/>
        </p:nvSpPr>
        <p:spPr>
          <a:xfrm>
            <a:off x="5905500" y="18859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4B83"/>
                </a:solidFill>
                <a:latin typeface="Arial"/>
                <a:ea typeface="Arial"/>
                <a:cs typeface="Arial"/>
              </a:rPr>
              <a:t>L1</a:t>
            </a: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FED19881-11A2-4008-8C4E-6E3DA1B9C6FB}"/>
              </a:ext>
            </a:extLst>
          </p:cNvPr>
          <p:cNvSpPr>
            <a:spLocks noGrp="1"/>
          </p:cNvSpPr>
          <p:nvPr/>
        </p:nvSpPr>
        <p:spPr>
          <a:xfrm>
            <a:off x="9029700" y="18859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4B83"/>
                </a:solidFill>
                <a:latin typeface="Arial"/>
                <a:ea typeface="Arial"/>
                <a:cs typeface="Arial"/>
              </a:rPr>
              <a:t>L2</a:t>
            </a:r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C44E00A4-719E-4EFC-BFEE-84B9C91DADA4}"/>
              </a:ext>
            </a:extLst>
          </p:cNvPr>
          <p:cNvSpPr>
            <a:spLocks noGrp="1"/>
          </p:cNvSpPr>
          <p:nvPr/>
        </p:nvSpPr>
        <p:spPr>
          <a:xfrm>
            <a:off x="9944100" y="1885950"/>
            <a:ext cx="1666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44B83"/>
                </a:solidFill>
                <a:latin typeface="Arial"/>
                <a:ea typeface="Arial"/>
                <a:cs typeface="Arial"/>
              </a:rPr>
              <a:t>L3: commit</a:t>
            </a:r>
          </a:p>
        </p:txBody>
      </p:sp>
      <p:sp>
        <p:nvSpPr>
          <p:cNvPr id="10" name="OPS-10">
            <a:extLst>
              <a:ext uri="{FF2B5EF4-FFF2-40B4-BE49-F238E27FC236}">
                <a16:creationId xmlns:a16="http://schemas.microsoft.com/office/drawing/2014/main" id="{A94170CA-65FC-46E4-AB31-84803C2FD747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1647825" cy="1143000"/>
          </a:xfrm>
          <a:prstGeom prst="rect">
            <a:avLst/>
          </a:pr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1B56FA7E-0C74-484B-8571-CB9867A06B3F}"/>
              </a:ext>
            </a:extLst>
          </p:cNvPr>
          <p:cNvSpPr>
            <a:spLocks noGrp="1"/>
          </p:cNvSpPr>
          <p:nvPr/>
        </p:nvSpPr>
        <p:spPr>
          <a:xfrm>
            <a:off x="704850" y="2762250"/>
            <a:ext cx="14573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12" name="text-12">
            <a:extLst>
              <a:ext uri="{FF2B5EF4-FFF2-40B4-BE49-F238E27FC236}">
                <a16:creationId xmlns:a16="http://schemas.microsoft.com/office/drawing/2014/main" id="{B5D7D735-1B82-403D-BB36-2FE2C5FC2411}"/>
              </a:ext>
            </a:extLst>
          </p:cNvPr>
          <p:cNvSpPr>
            <a:spLocks noGrp="1"/>
          </p:cNvSpPr>
          <p:nvPr/>
        </p:nvSpPr>
        <p:spPr>
          <a:xfrm>
            <a:off x="704850" y="3133725"/>
            <a:ext cx="14573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Chọn X / Y</a:t>
            </a:r>
          </a:p>
        </p:txBody>
      </p:sp>
      <p:sp>
        <p:nvSpPr>
          <p:cNvPr id="13" name="R0-13">
            <a:extLst>
              <a:ext uri="{FF2B5EF4-FFF2-40B4-BE49-F238E27FC236}">
                <a16:creationId xmlns:a16="http://schemas.microsoft.com/office/drawing/2014/main" id="{59C64289-53ED-4C3A-8D52-46C9A3A5EB55}"/>
              </a:ext>
            </a:extLst>
          </p:cNvPr>
          <p:cNvSpPr>
            <a:spLocks noGrp="1"/>
          </p:cNvSpPr>
          <p:nvPr/>
        </p:nvSpPr>
        <p:spPr>
          <a:xfrm>
            <a:off x="2781300" y="2638425"/>
            <a:ext cx="619125" cy="1143000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14" name="clock-14">
            <a:extLst>
              <a:ext uri="{FF2B5EF4-FFF2-40B4-BE49-F238E27FC236}">
                <a16:creationId xmlns:a16="http://schemas.microsoft.com/office/drawing/2014/main" id="{C3837BE2-3803-49DF-9DA0-C70D83288558}"/>
              </a:ext>
            </a:extLst>
          </p:cNvPr>
          <p:cNvSpPr>
            <a:spLocks noGrp="1"/>
          </p:cNvSpPr>
          <p:nvPr/>
        </p:nvSpPr>
        <p:spPr>
          <a:xfrm>
            <a:off x="2781300" y="3562350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15" name="text-15">
            <a:extLst>
              <a:ext uri="{FF2B5EF4-FFF2-40B4-BE49-F238E27FC236}">
                <a16:creationId xmlns:a16="http://schemas.microsoft.com/office/drawing/2014/main" id="{96DA8439-EADB-4D7D-88C0-5ABEE7DA872A}"/>
              </a:ext>
            </a:extLst>
          </p:cNvPr>
          <p:cNvSpPr>
            <a:spLocks noGrp="1"/>
          </p:cNvSpPr>
          <p:nvPr/>
        </p:nvSpPr>
        <p:spPr>
          <a:xfrm>
            <a:off x="2819400" y="2781300"/>
            <a:ext cx="5429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R0</a:t>
            </a:r>
          </a:p>
        </p:txBody>
      </p:sp>
      <p:sp>
        <p:nvSpPr>
          <p:cNvPr id="16" name="SAC-16">
            <a:extLst>
              <a:ext uri="{FF2B5EF4-FFF2-40B4-BE49-F238E27FC236}">
                <a16:creationId xmlns:a16="http://schemas.microsoft.com/office/drawing/2014/main" id="{2E01A203-91C6-467B-9167-CB7219AA14E3}"/>
              </a:ext>
            </a:extLst>
          </p:cNvPr>
          <p:cNvSpPr>
            <a:spLocks noGrp="1"/>
          </p:cNvSpPr>
          <p:nvPr/>
        </p:nvSpPr>
        <p:spPr>
          <a:xfrm>
            <a:off x="3924300" y="2638425"/>
            <a:ext cx="1638300" cy="1143000"/>
          </a:xfrm>
          <a:prstGeom prst="rect">
            <a:avLst/>
          </a:prstGeom>
          <a:solidFill>
            <a:srgbClr val="FFF4DD"/>
          </a:solidFill>
          <a:ln w="19050">
            <a:solidFill>
              <a:srgbClr val="A76807"/>
            </a:solidFill>
          </a:ln>
        </p:spPr>
      </p:sp>
      <p:sp>
        <p:nvSpPr>
          <p:cNvPr id="17" name="text-17">
            <a:extLst>
              <a:ext uri="{FF2B5EF4-FFF2-40B4-BE49-F238E27FC236}">
                <a16:creationId xmlns:a16="http://schemas.microsoft.com/office/drawing/2014/main" id="{59879885-B8ED-491C-A76C-E3D0EB735351}"/>
              </a:ext>
            </a:extLst>
          </p:cNvPr>
          <p:cNvSpPr>
            <a:spLocks noGrp="1"/>
          </p:cNvSpPr>
          <p:nvPr/>
        </p:nvSpPr>
        <p:spPr>
          <a:xfrm>
            <a:off x="4019550" y="2762250"/>
            <a:ext cx="1447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76807"/>
                </a:solidFill>
                <a:latin typeface="Arial"/>
                <a:ea typeface="Arial"/>
                <a:cs typeface="Arial"/>
              </a:rPr>
              <a:t>SAC</a:t>
            </a:r>
          </a:p>
        </p:txBody>
      </p:sp>
      <p:sp>
        <p:nvSpPr>
          <p:cNvPr id="18" name="text-18">
            <a:extLst>
              <a:ext uri="{FF2B5EF4-FFF2-40B4-BE49-F238E27FC236}">
                <a16:creationId xmlns:a16="http://schemas.microsoft.com/office/drawing/2014/main" id="{8EEEDC29-1CC0-4042-8B88-3507ABBFE2F3}"/>
              </a:ext>
            </a:extLst>
          </p:cNvPr>
          <p:cNvSpPr>
            <a:spLocks noGrp="1"/>
          </p:cNvSpPr>
          <p:nvPr/>
        </p:nvSpPr>
        <p:spPr>
          <a:xfrm>
            <a:off x="4019550" y="3133725"/>
            <a:ext cx="1447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Tạo S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Cập nhật fx</a:t>
            </a:r>
          </a:p>
        </p:txBody>
      </p:sp>
      <p:sp>
        <p:nvSpPr>
          <p:cNvPr id="19" name="R1-19">
            <a:extLst>
              <a:ext uri="{FF2B5EF4-FFF2-40B4-BE49-F238E27FC236}">
                <a16:creationId xmlns:a16="http://schemas.microsoft.com/office/drawing/2014/main" id="{5F9A30A5-21BB-48B8-822A-049BC640F71A}"/>
              </a:ext>
            </a:extLst>
          </p:cNvPr>
          <p:cNvSpPr>
            <a:spLocks noGrp="1"/>
          </p:cNvSpPr>
          <p:nvPr/>
        </p:nvSpPr>
        <p:spPr>
          <a:xfrm>
            <a:off x="5924550" y="2638425"/>
            <a:ext cx="600075" cy="1143000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20" name="clock-20">
            <a:extLst>
              <a:ext uri="{FF2B5EF4-FFF2-40B4-BE49-F238E27FC236}">
                <a16:creationId xmlns:a16="http://schemas.microsoft.com/office/drawing/2014/main" id="{EDBB2EB3-3BCA-4D77-9A58-6AB25B069E02}"/>
              </a:ext>
            </a:extLst>
          </p:cNvPr>
          <p:cNvSpPr>
            <a:spLocks noGrp="1"/>
          </p:cNvSpPr>
          <p:nvPr/>
        </p:nvSpPr>
        <p:spPr>
          <a:xfrm>
            <a:off x="5924550" y="3562350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21" name="text-21">
            <a:extLst>
              <a:ext uri="{FF2B5EF4-FFF2-40B4-BE49-F238E27FC236}">
                <a16:creationId xmlns:a16="http://schemas.microsoft.com/office/drawing/2014/main" id="{1A21A603-1A0F-47E0-A27D-E58B2752F3FD}"/>
              </a:ext>
            </a:extLst>
          </p:cNvPr>
          <p:cNvSpPr>
            <a:spLocks noGrp="1"/>
          </p:cNvSpPr>
          <p:nvPr/>
        </p:nvSpPr>
        <p:spPr>
          <a:xfrm>
            <a:off x="5962650" y="2781300"/>
            <a:ext cx="52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22" name="SBM Shift-22">
            <a:extLst>
              <a:ext uri="{FF2B5EF4-FFF2-40B4-BE49-F238E27FC236}">
                <a16:creationId xmlns:a16="http://schemas.microsoft.com/office/drawing/2014/main" id="{A4A20D76-1C22-40B8-A295-695B00951274}"/>
              </a:ext>
            </a:extLst>
          </p:cNvPr>
          <p:cNvSpPr>
            <a:spLocks noGrp="1"/>
          </p:cNvSpPr>
          <p:nvPr/>
        </p:nvSpPr>
        <p:spPr>
          <a:xfrm>
            <a:off x="6962775" y="2638425"/>
            <a:ext cx="1571625" cy="1143000"/>
          </a:xfrm>
          <a:prstGeom prst="rect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23" name="text-23">
            <a:extLst>
              <a:ext uri="{FF2B5EF4-FFF2-40B4-BE49-F238E27FC236}">
                <a16:creationId xmlns:a16="http://schemas.microsoft.com/office/drawing/2014/main" id="{87FB72C1-EBAF-4AE7-8378-835C66C2B9A8}"/>
              </a:ext>
            </a:extLst>
          </p:cNvPr>
          <p:cNvSpPr>
            <a:spLocks noGrp="1"/>
          </p:cNvSpPr>
          <p:nvPr/>
        </p:nvSpPr>
        <p:spPr>
          <a:xfrm>
            <a:off x="7058025" y="2762250"/>
            <a:ext cx="1381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SBM Shift</a:t>
            </a:r>
          </a:p>
        </p:txBody>
      </p:sp>
      <p:sp>
        <p:nvSpPr>
          <p:cNvPr id="24" name="text-24">
            <a:extLst>
              <a:ext uri="{FF2B5EF4-FFF2-40B4-BE49-F238E27FC236}">
                <a16:creationId xmlns:a16="http://schemas.microsoft.com/office/drawing/2014/main" id="{FAEA7147-FE50-42F9-83D6-653EB5752B05}"/>
              </a:ext>
            </a:extLst>
          </p:cNvPr>
          <p:cNvSpPr>
            <a:spLocks noGrp="1"/>
          </p:cNvSpPr>
          <p:nvPr/>
        </p:nvSpPr>
        <p:spPr>
          <a:xfrm>
            <a:off x="7058025" y="3133725"/>
            <a:ext cx="13811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Dịch Y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Cắt term</a:t>
            </a:r>
          </a:p>
        </p:txBody>
      </p:sp>
      <p:sp>
        <p:nvSpPr>
          <p:cNvPr id="25" name="R2-25">
            <a:extLst>
              <a:ext uri="{FF2B5EF4-FFF2-40B4-BE49-F238E27FC236}">
                <a16:creationId xmlns:a16="http://schemas.microsoft.com/office/drawing/2014/main" id="{FDE244D5-24BA-4225-8E27-2594568902FF}"/>
              </a:ext>
            </a:extLst>
          </p:cNvPr>
          <p:cNvSpPr>
            <a:spLocks noGrp="1"/>
          </p:cNvSpPr>
          <p:nvPr/>
        </p:nvSpPr>
        <p:spPr>
          <a:xfrm>
            <a:off x="9029700" y="2638425"/>
            <a:ext cx="600075" cy="1143000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26" name="clock-26">
            <a:extLst>
              <a:ext uri="{FF2B5EF4-FFF2-40B4-BE49-F238E27FC236}">
                <a16:creationId xmlns:a16="http://schemas.microsoft.com/office/drawing/2014/main" id="{FEFC7388-8414-4506-8533-E8594BF91E7C}"/>
              </a:ext>
            </a:extLst>
          </p:cNvPr>
          <p:cNvSpPr>
            <a:spLocks noGrp="1"/>
          </p:cNvSpPr>
          <p:nvPr/>
        </p:nvSpPr>
        <p:spPr>
          <a:xfrm>
            <a:off x="9029700" y="3562350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27" name="text-27">
            <a:extLst>
              <a:ext uri="{FF2B5EF4-FFF2-40B4-BE49-F238E27FC236}">
                <a16:creationId xmlns:a16="http://schemas.microsoft.com/office/drawing/2014/main" id="{40705E55-B59C-4559-B9E8-50660734B1CB}"/>
              </a:ext>
            </a:extLst>
          </p:cNvPr>
          <p:cNvSpPr>
            <a:spLocks noGrp="1"/>
          </p:cNvSpPr>
          <p:nvPr/>
        </p:nvSpPr>
        <p:spPr>
          <a:xfrm>
            <a:off x="9067800" y="2781300"/>
            <a:ext cx="52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8" name="SBM Acc-28">
            <a:extLst>
              <a:ext uri="{FF2B5EF4-FFF2-40B4-BE49-F238E27FC236}">
                <a16:creationId xmlns:a16="http://schemas.microsoft.com/office/drawing/2014/main" id="{358E8257-6C21-4D72-8DA6-1B99BE289006}"/>
              </a:ext>
            </a:extLst>
          </p:cNvPr>
          <p:cNvSpPr>
            <a:spLocks noGrp="1"/>
          </p:cNvSpPr>
          <p:nvPr/>
        </p:nvSpPr>
        <p:spPr>
          <a:xfrm>
            <a:off x="10058400" y="2638425"/>
            <a:ext cx="1676400" cy="1143000"/>
          </a:xfrm>
          <a:prstGeom prst="rect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29" name="text-29">
            <a:extLst>
              <a:ext uri="{FF2B5EF4-FFF2-40B4-BE49-F238E27FC236}">
                <a16:creationId xmlns:a16="http://schemas.microsoft.com/office/drawing/2014/main" id="{DE41D411-E787-4814-9352-1352B055C02E}"/>
              </a:ext>
            </a:extLst>
          </p:cNvPr>
          <p:cNvSpPr>
            <a:spLocks noGrp="1"/>
          </p:cNvSpPr>
          <p:nvPr/>
        </p:nvSpPr>
        <p:spPr>
          <a:xfrm>
            <a:off x="10153650" y="2762250"/>
            <a:ext cx="14859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SBM Acc</a:t>
            </a:r>
          </a:p>
        </p:txBody>
      </p:sp>
      <p:sp>
        <p:nvSpPr>
          <p:cNvPr id="30" name="text-30">
            <a:extLst>
              <a:ext uri="{FF2B5EF4-FFF2-40B4-BE49-F238E27FC236}">
                <a16:creationId xmlns:a16="http://schemas.microsoft.com/office/drawing/2014/main" id="{9907266C-9A30-442F-BE75-6CCBACEA5ED2}"/>
              </a:ext>
            </a:extLst>
          </p:cNvPr>
          <p:cNvSpPr>
            <a:spLocks noGrp="1"/>
          </p:cNvSpPr>
          <p:nvPr/>
        </p:nvSpPr>
        <p:spPr>
          <a:xfrm>
            <a:off x="10153650" y="3133725"/>
            <a:ext cx="1485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Cộng term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Giữ acc_q</a:t>
            </a:r>
          </a:p>
        </p:txBody>
      </p:sp>
      <p:sp>
        <p:nvSpPr>
          <p:cNvPr id="37" name="text-37">
            <a:extLst>
              <a:ext uri="{FF2B5EF4-FFF2-40B4-BE49-F238E27FC236}">
                <a16:creationId xmlns:a16="http://schemas.microsoft.com/office/drawing/2014/main" id="{1C5880C8-322D-4DBB-8A5B-3AC33B8109DE}"/>
              </a:ext>
            </a:extLst>
          </p:cNvPr>
          <p:cNvSpPr>
            <a:spLocks noGrp="1"/>
          </p:cNvSpPr>
          <p:nvPr/>
        </p:nvSpPr>
        <p:spPr>
          <a:xfrm>
            <a:off x="3409950" y="28384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fx</a:t>
            </a:r>
          </a:p>
        </p:txBody>
      </p:sp>
      <p:sp>
        <p:nvSpPr>
          <p:cNvPr id="38" name="text-38">
            <a:extLst>
              <a:ext uri="{FF2B5EF4-FFF2-40B4-BE49-F238E27FC236}">
                <a16:creationId xmlns:a16="http://schemas.microsoft.com/office/drawing/2014/main" id="{B848DFD0-C2F2-41B6-B4C4-05D6F40229E0}"/>
              </a:ext>
            </a:extLst>
          </p:cNvPr>
          <p:cNvSpPr>
            <a:spLocks noGrp="1"/>
          </p:cNvSpPr>
          <p:nvPr/>
        </p:nvSpPr>
        <p:spPr>
          <a:xfrm>
            <a:off x="6524625" y="2800350"/>
            <a:ext cx="438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39" name="text-39">
            <a:extLst>
              <a:ext uri="{FF2B5EF4-FFF2-40B4-BE49-F238E27FC236}">
                <a16:creationId xmlns:a16="http://schemas.microsoft.com/office/drawing/2014/main" id="{CB745870-44A3-4792-90E3-29B8A50BA59D}"/>
              </a:ext>
            </a:extLst>
          </p:cNvPr>
          <p:cNvSpPr>
            <a:spLocks noGrp="1"/>
          </p:cNvSpPr>
          <p:nvPr/>
        </p:nvSpPr>
        <p:spPr>
          <a:xfrm>
            <a:off x="8534400" y="283845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43" name="text-43">
            <a:extLst>
              <a:ext uri="{FF2B5EF4-FFF2-40B4-BE49-F238E27FC236}">
                <a16:creationId xmlns:a16="http://schemas.microsoft.com/office/drawing/2014/main" id="{4F8E6435-37C0-403B-91EA-73C145B9345B}"/>
              </a:ext>
            </a:extLst>
          </p:cNvPr>
          <p:cNvSpPr>
            <a:spLocks noGrp="1"/>
          </p:cNvSpPr>
          <p:nvPr/>
        </p:nvSpPr>
        <p:spPr>
          <a:xfrm>
            <a:off x="3952875" y="1571625"/>
            <a:ext cx="33051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D92"/>
                </a:solidFill>
                <a:latin typeface="Arial"/>
                <a:ea typeface="Arial"/>
                <a:cs typeface="Arial"/>
              </a:rPr>
              <a:t>Y giữ ổn định trong y_q</a:t>
            </a:r>
          </a:p>
        </p:txBody>
      </p:sp>
      <p:sp>
        <p:nvSpPr>
          <p:cNvPr id="47" name="text-47">
            <a:extLst>
              <a:ext uri="{FF2B5EF4-FFF2-40B4-BE49-F238E27FC236}">
                <a16:creationId xmlns:a16="http://schemas.microsoft.com/office/drawing/2014/main" id="{4AF819F3-6D8C-4B8E-933D-932C9F99595B}"/>
              </a:ext>
            </a:extLst>
          </p:cNvPr>
          <p:cNvSpPr>
            <a:spLocks noGrp="1"/>
          </p:cNvSpPr>
          <p:nvPr/>
        </p:nvSpPr>
        <p:spPr>
          <a:xfrm>
            <a:off x="9391650" y="4219575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feedback acc_q</a:t>
            </a:r>
          </a:p>
        </p:txBody>
      </p:sp>
      <p:sp>
        <p:nvSpPr>
          <p:cNvPr id="51" name="text-51">
            <a:extLst>
              <a:ext uri="{FF2B5EF4-FFF2-40B4-BE49-F238E27FC236}">
                <a16:creationId xmlns:a16="http://schemas.microsoft.com/office/drawing/2014/main" id="{7C465590-2ED3-4DF0-984B-BE29ABE273EE}"/>
              </a:ext>
            </a:extLst>
          </p:cNvPr>
          <p:cNvSpPr>
            <a:spLocks noGrp="1"/>
          </p:cNvSpPr>
          <p:nvPr/>
        </p:nvSpPr>
        <p:spPr>
          <a:xfrm>
            <a:off x="3714750" y="4219575"/>
            <a:ext cx="3095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feedback fx_q / scale_q</a:t>
            </a:r>
          </a:p>
        </p:txBody>
      </p:sp>
      <p:sp>
        <p:nvSpPr>
          <p:cNvPr id="52" name="text-52">
            <a:extLst>
              <a:ext uri="{FF2B5EF4-FFF2-40B4-BE49-F238E27FC236}">
                <a16:creationId xmlns:a16="http://schemas.microsoft.com/office/drawing/2014/main" id="{214600F6-C817-49F1-AD32-1819AB6BE203}"/>
              </a:ext>
            </a:extLst>
          </p:cNvPr>
          <p:cNvSpPr>
            <a:spLocks noGrp="1"/>
          </p:cNvSpPr>
          <p:nvPr/>
        </p:nvSpPr>
        <p:spPr>
          <a:xfrm>
            <a:off x="457200" y="4838700"/>
            <a:ext cx="1009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P_hat = Y + Σ trunc_Q12(Y / 2^Sᵢ)</a:t>
            </a:r>
          </a:p>
        </p:txBody>
      </p:sp>
      <p:sp>
        <p:nvSpPr>
          <p:cNvPr id="53" name="text-53">
            <a:extLst>
              <a:ext uri="{FF2B5EF4-FFF2-40B4-BE49-F238E27FC236}">
                <a16:creationId xmlns:a16="http://schemas.microsoft.com/office/drawing/2014/main" id="{4439A6D8-0066-4341-9992-6DF31C99F280}"/>
              </a:ext>
            </a:extLst>
          </p:cNvPr>
          <p:cNvSpPr>
            <a:spLocks noGrp="1"/>
          </p:cNvSpPr>
          <p:nvPr/>
        </p:nvSpPr>
        <p:spPr>
          <a:xfrm>
            <a:off x="457200" y="5457825"/>
            <a:ext cx="10715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Chốt dấu và sf_A + sf_B tại launch. Sau core_done, chuyển acc sang normalize / round.</a:t>
            </a:r>
          </a:p>
        </p:txBody>
      </p:sp>
    </p:spTree>
    <p:extLst>
      <p:ext uri="{BB962C8B-B14F-4D97-AF65-F5344CB8AC3E}">
        <p14:creationId xmlns:p14="http://schemas.microsoft.com/office/powerpoint/2010/main" val="190200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wire-116">
            <a:extLst>
              <a:ext uri="{FF2B5EF4-FFF2-40B4-BE49-F238E27FC236}">
                <a16:creationId xmlns:a16="http://schemas.microsoft.com/office/drawing/2014/main" id="{5CCF50A3-D624-4998-8E01-70FBDA586A3E}"/>
              </a:ext>
            </a:extLst>
          </p:cNvPr>
          <p:cNvCxnSpPr/>
          <p:nvPr/>
        </p:nvCxnSpPr>
        <p:spPr>
          <a:xfrm>
            <a:off x="10058400" y="4533900"/>
            <a:ext cx="46672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62" name="wire-115">
            <a:extLst>
              <a:ext uri="{FF2B5EF4-FFF2-40B4-BE49-F238E27FC236}">
                <a16:creationId xmlns:a16="http://schemas.microsoft.com/office/drawing/2014/main" id="{BE4D13F8-19B5-4201-9CDC-51B034583BDF}"/>
              </a:ext>
            </a:extLst>
          </p:cNvPr>
          <p:cNvCxnSpPr/>
          <p:nvPr/>
        </p:nvCxnSpPr>
        <p:spPr>
          <a:xfrm>
            <a:off x="10058400" y="2609850"/>
            <a:ext cx="1676400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61" name="wire-114">
            <a:extLst>
              <a:ext uri="{FF2B5EF4-FFF2-40B4-BE49-F238E27FC236}">
                <a16:creationId xmlns:a16="http://schemas.microsoft.com/office/drawing/2014/main" id="{55E75845-DED7-44D8-95A1-3C3B5113B0AB}"/>
              </a:ext>
            </a:extLst>
          </p:cNvPr>
          <p:cNvCxnSpPr/>
          <p:nvPr/>
        </p:nvCxnSpPr>
        <p:spPr>
          <a:xfrm>
            <a:off x="9648825" y="3524250"/>
            <a:ext cx="0" cy="476250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triangle" w="sm" len="sm"/>
          </a:ln>
        </p:spPr>
      </p:cxnSp>
      <p:cxnSp>
        <p:nvCxnSpPr>
          <p:cNvPr id="60" name="wire-113">
            <a:extLst>
              <a:ext uri="{FF2B5EF4-FFF2-40B4-BE49-F238E27FC236}">
                <a16:creationId xmlns:a16="http://schemas.microsoft.com/office/drawing/2014/main" id="{D5EFD6A3-01D6-415C-B32B-3D93F31009B4}"/>
              </a:ext>
            </a:extLst>
          </p:cNvPr>
          <p:cNvCxnSpPr/>
          <p:nvPr/>
        </p:nvCxnSpPr>
        <p:spPr>
          <a:xfrm flipV="1">
            <a:off x="9648825" y="3143250"/>
            <a:ext cx="0" cy="381000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triangle" w="sm" len="sm"/>
          </a:ln>
        </p:spPr>
      </p:cxnSp>
      <p:cxnSp>
        <p:nvCxnSpPr>
          <p:cNvPr id="59" name="wire-112">
            <a:extLst>
              <a:ext uri="{FF2B5EF4-FFF2-40B4-BE49-F238E27FC236}">
                <a16:creationId xmlns:a16="http://schemas.microsoft.com/office/drawing/2014/main" id="{DCF224A9-D121-4F7A-A191-590320CC0231}"/>
              </a:ext>
            </a:extLst>
          </p:cNvPr>
          <p:cNvCxnSpPr/>
          <p:nvPr/>
        </p:nvCxnSpPr>
        <p:spPr>
          <a:xfrm>
            <a:off x="9096375" y="3524250"/>
            <a:ext cx="552450" cy="0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none" w="sm" len="sm"/>
          </a:ln>
        </p:spPr>
      </p:cxnSp>
      <p:cxnSp>
        <p:nvCxnSpPr>
          <p:cNvPr id="58" name="wire-111">
            <a:extLst>
              <a:ext uri="{FF2B5EF4-FFF2-40B4-BE49-F238E27FC236}">
                <a16:creationId xmlns:a16="http://schemas.microsoft.com/office/drawing/2014/main" id="{228A0453-7DF9-4A56-BF02-F370824E35E2}"/>
              </a:ext>
            </a:extLst>
          </p:cNvPr>
          <p:cNvCxnSpPr/>
          <p:nvPr/>
        </p:nvCxnSpPr>
        <p:spPr>
          <a:xfrm>
            <a:off x="9096375" y="3209925"/>
            <a:ext cx="0" cy="314325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none" w="sm" len="sm"/>
          </a:ln>
        </p:spPr>
      </p:cxnSp>
      <p:cxnSp>
        <p:nvCxnSpPr>
          <p:cNvPr id="57" name="wire-110">
            <a:extLst>
              <a:ext uri="{FF2B5EF4-FFF2-40B4-BE49-F238E27FC236}">
                <a16:creationId xmlns:a16="http://schemas.microsoft.com/office/drawing/2014/main" id="{131ED1D7-7AE9-48E6-BF13-3D5FC089221D}"/>
              </a:ext>
            </a:extLst>
          </p:cNvPr>
          <p:cNvCxnSpPr/>
          <p:nvPr/>
        </p:nvCxnSpPr>
        <p:spPr>
          <a:xfrm>
            <a:off x="8553450" y="3209925"/>
            <a:ext cx="542925" cy="0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none" w="sm" len="sm"/>
          </a:ln>
        </p:spPr>
      </p:cxnSp>
      <p:cxnSp>
        <p:nvCxnSpPr>
          <p:cNvPr id="56" name="wire-109">
            <a:extLst>
              <a:ext uri="{FF2B5EF4-FFF2-40B4-BE49-F238E27FC236}">
                <a16:creationId xmlns:a16="http://schemas.microsoft.com/office/drawing/2014/main" id="{F5768D1E-5C44-412C-A8B9-FAF2ECEA730D}"/>
              </a:ext>
            </a:extLst>
          </p:cNvPr>
          <p:cNvCxnSpPr/>
          <p:nvPr/>
        </p:nvCxnSpPr>
        <p:spPr>
          <a:xfrm>
            <a:off x="8782050" y="4267200"/>
            <a:ext cx="476250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55" name="wire-108">
            <a:extLst>
              <a:ext uri="{FF2B5EF4-FFF2-40B4-BE49-F238E27FC236}">
                <a16:creationId xmlns:a16="http://schemas.microsoft.com/office/drawing/2014/main" id="{7F6B1B67-0F80-4FE4-A9F9-3471A0524113}"/>
              </a:ext>
            </a:extLst>
          </p:cNvPr>
          <p:cNvCxnSpPr/>
          <p:nvPr/>
        </p:nvCxnSpPr>
        <p:spPr>
          <a:xfrm>
            <a:off x="8782050" y="3333750"/>
            <a:ext cx="0" cy="93345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54" name="wire-107">
            <a:extLst>
              <a:ext uri="{FF2B5EF4-FFF2-40B4-BE49-F238E27FC236}">
                <a16:creationId xmlns:a16="http://schemas.microsoft.com/office/drawing/2014/main" id="{EF35EB9B-2CC9-4D39-9D69-3C067AF38BAB}"/>
              </a:ext>
            </a:extLst>
          </p:cNvPr>
          <p:cNvCxnSpPr/>
          <p:nvPr/>
        </p:nvCxnSpPr>
        <p:spPr>
          <a:xfrm>
            <a:off x="5029200" y="3333750"/>
            <a:ext cx="3752850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53" name="wire-106">
            <a:extLst>
              <a:ext uri="{FF2B5EF4-FFF2-40B4-BE49-F238E27FC236}">
                <a16:creationId xmlns:a16="http://schemas.microsoft.com/office/drawing/2014/main" id="{9276331F-8709-444B-8AA5-324AE679B024}"/>
              </a:ext>
            </a:extLst>
          </p:cNvPr>
          <p:cNvCxnSpPr/>
          <p:nvPr/>
        </p:nvCxnSpPr>
        <p:spPr>
          <a:xfrm>
            <a:off x="5029200" y="2695575"/>
            <a:ext cx="0" cy="638175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52" name="wire-105">
            <a:extLst>
              <a:ext uri="{FF2B5EF4-FFF2-40B4-BE49-F238E27FC236}">
                <a16:creationId xmlns:a16="http://schemas.microsoft.com/office/drawing/2014/main" id="{FFBF60D0-DC90-4CD6-AA38-1E94BAAEB645}"/>
              </a:ext>
            </a:extLst>
          </p:cNvPr>
          <p:cNvCxnSpPr/>
          <p:nvPr/>
        </p:nvCxnSpPr>
        <p:spPr>
          <a:xfrm>
            <a:off x="4752975" y="2695575"/>
            <a:ext cx="27622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51" name="wire-104">
            <a:extLst>
              <a:ext uri="{FF2B5EF4-FFF2-40B4-BE49-F238E27FC236}">
                <a16:creationId xmlns:a16="http://schemas.microsoft.com/office/drawing/2014/main" id="{F0D3DAD8-9313-41A9-87C8-697D7BC0C1A0}"/>
              </a:ext>
            </a:extLst>
          </p:cNvPr>
          <p:cNvCxnSpPr/>
          <p:nvPr/>
        </p:nvCxnSpPr>
        <p:spPr>
          <a:xfrm>
            <a:off x="8829675" y="2876550"/>
            <a:ext cx="42862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50" name="wire-103">
            <a:extLst>
              <a:ext uri="{FF2B5EF4-FFF2-40B4-BE49-F238E27FC236}">
                <a16:creationId xmlns:a16="http://schemas.microsoft.com/office/drawing/2014/main" id="{0BDBB48C-73E3-4DF3-88C6-DE37131C3874}"/>
              </a:ext>
            </a:extLst>
          </p:cNvPr>
          <p:cNvCxnSpPr/>
          <p:nvPr/>
        </p:nvCxnSpPr>
        <p:spPr>
          <a:xfrm flipV="1">
            <a:off x="8829675" y="2876550"/>
            <a:ext cx="0" cy="295275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9" name="wire-102">
            <a:extLst>
              <a:ext uri="{FF2B5EF4-FFF2-40B4-BE49-F238E27FC236}">
                <a16:creationId xmlns:a16="http://schemas.microsoft.com/office/drawing/2014/main" id="{A549CE62-F2AF-48F3-8B1E-D1202E4A9933}"/>
              </a:ext>
            </a:extLst>
          </p:cNvPr>
          <p:cNvCxnSpPr>
            <a:cxnSpLocks/>
          </p:cNvCxnSpPr>
          <p:nvPr/>
        </p:nvCxnSpPr>
        <p:spPr>
          <a:xfrm>
            <a:off x="4891087" y="3171825"/>
            <a:ext cx="3938588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8" name="wire-101">
            <a:extLst>
              <a:ext uri="{FF2B5EF4-FFF2-40B4-BE49-F238E27FC236}">
                <a16:creationId xmlns:a16="http://schemas.microsoft.com/office/drawing/2014/main" id="{B20C2B3C-3370-4809-8256-A1EC21B8A46C}"/>
              </a:ext>
            </a:extLst>
          </p:cNvPr>
          <p:cNvCxnSpPr/>
          <p:nvPr/>
        </p:nvCxnSpPr>
        <p:spPr>
          <a:xfrm flipV="1">
            <a:off x="4891087" y="3171825"/>
            <a:ext cx="0" cy="110490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7" name="wire-100">
            <a:extLst>
              <a:ext uri="{FF2B5EF4-FFF2-40B4-BE49-F238E27FC236}">
                <a16:creationId xmlns:a16="http://schemas.microsoft.com/office/drawing/2014/main" id="{F1365C7E-72E5-4527-996D-1C519A323E90}"/>
              </a:ext>
            </a:extLst>
          </p:cNvPr>
          <p:cNvCxnSpPr>
            <a:cxnSpLocks/>
          </p:cNvCxnSpPr>
          <p:nvPr/>
        </p:nvCxnSpPr>
        <p:spPr>
          <a:xfrm flipV="1">
            <a:off x="4752975" y="4267200"/>
            <a:ext cx="138112" cy="9525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6" name="wire-99">
            <a:extLst>
              <a:ext uri="{FF2B5EF4-FFF2-40B4-BE49-F238E27FC236}">
                <a16:creationId xmlns:a16="http://schemas.microsoft.com/office/drawing/2014/main" id="{0DE308A3-9F05-497B-915C-74A7641C10EF}"/>
              </a:ext>
            </a:extLst>
          </p:cNvPr>
          <p:cNvCxnSpPr/>
          <p:nvPr/>
        </p:nvCxnSpPr>
        <p:spPr>
          <a:xfrm>
            <a:off x="8963025" y="4800600"/>
            <a:ext cx="29527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45" name="wire-98">
            <a:extLst>
              <a:ext uri="{FF2B5EF4-FFF2-40B4-BE49-F238E27FC236}">
                <a16:creationId xmlns:a16="http://schemas.microsoft.com/office/drawing/2014/main" id="{6A62A953-AE28-44C0-8A2F-E1CC6DE48673}"/>
              </a:ext>
            </a:extLst>
          </p:cNvPr>
          <p:cNvCxnSpPr/>
          <p:nvPr/>
        </p:nvCxnSpPr>
        <p:spPr>
          <a:xfrm flipV="1">
            <a:off x="8963025" y="4800600"/>
            <a:ext cx="0" cy="45720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4" name="wire-97">
            <a:extLst>
              <a:ext uri="{FF2B5EF4-FFF2-40B4-BE49-F238E27FC236}">
                <a16:creationId xmlns:a16="http://schemas.microsoft.com/office/drawing/2014/main" id="{B720E75B-A46B-4C86-A738-E872A4AB83E1}"/>
              </a:ext>
            </a:extLst>
          </p:cNvPr>
          <p:cNvCxnSpPr/>
          <p:nvPr/>
        </p:nvCxnSpPr>
        <p:spPr>
          <a:xfrm>
            <a:off x="4953000" y="5257800"/>
            <a:ext cx="401002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3" name="wire-96">
            <a:extLst>
              <a:ext uri="{FF2B5EF4-FFF2-40B4-BE49-F238E27FC236}">
                <a16:creationId xmlns:a16="http://schemas.microsoft.com/office/drawing/2014/main" id="{373F335F-E166-4EB5-B111-E2E9C4F3EBB3}"/>
              </a:ext>
            </a:extLst>
          </p:cNvPr>
          <p:cNvCxnSpPr>
            <a:cxnSpLocks/>
          </p:cNvCxnSpPr>
          <p:nvPr/>
        </p:nvCxnSpPr>
        <p:spPr>
          <a:xfrm>
            <a:off x="4953000" y="4391025"/>
            <a:ext cx="0" cy="866775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2" name="wire-95">
            <a:extLst>
              <a:ext uri="{FF2B5EF4-FFF2-40B4-BE49-F238E27FC236}">
                <a16:creationId xmlns:a16="http://schemas.microsoft.com/office/drawing/2014/main" id="{A69A1201-9DCB-46DF-AAEA-BDE8ACF6E0B0}"/>
              </a:ext>
            </a:extLst>
          </p:cNvPr>
          <p:cNvCxnSpPr>
            <a:cxnSpLocks/>
          </p:cNvCxnSpPr>
          <p:nvPr/>
        </p:nvCxnSpPr>
        <p:spPr>
          <a:xfrm flipV="1">
            <a:off x="4724400" y="4391025"/>
            <a:ext cx="228600" cy="3048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41" name="wire-94">
            <a:extLst>
              <a:ext uri="{FF2B5EF4-FFF2-40B4-BE49-F238E27FC236}">
                <a16:creationId xmlns:a16="http://schemas.microsoft.com/office/drawing/2014/main" id="{76956053-8234-465A-A056-12A46750A2A2}"/>
              </a:ext>
            </a:extLst>
          </p:cNvPr>
          <p:cNvCxnSpPr/>
          <p:nvPr/>
        </p:nvCxnSpPr>
        <p:spPr>
          <a:xfrm>
            <a:off x="8934450" y="2343150"/>
            <a:ext cx="323850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40" name="wire-93">
            <a:extLst>
              <a:ext uri="{FF2B5EF4-FFF2-40B4-BE49-F238E27FC236}">
                <a16:creationId xmlns:a16="http://schemas.microsoft.com/office/drawing/2014/main" id="{31E63FFB-BF29-4138-AA58-7F02FE03B120}"/>
              </a:ext>
            </a:extLst>
          </p:cNvPr>
          <p:cNvCxnSpPr/>
          <p:nvPr/>
        </p:nvCxnSpPr>
        <p:spPr>
          <a:xfrm>
            <a:off x="8934450" y="1647825"/>
            <a:ext cx="0" cy="695325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39" name="wire-92">
            <a:extLst>
              <a:ext uri="{FF2B5EF4-FFF2-40B4-BE49-F238E27FC236}">
                <a16:creationId xmlns:a16="http://schemas.microsoft.com/office/drawing/2014/main" id="{303E44AA-1E28-4E95-A5C1-B44A0B6F708A}"/>
              </a:ext>
            </a:extLst>
          </p:cNvPr>
          <p:cNvCxnSpPr/>
          <p:nvPr/>
        </p:nvCxnSpPr>
        <p:spPr>
          <a:xfrm>
            <a:off x="4924425" y="1647825"/>
            <a:ext cx="401002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38" name="wire-91">
            <a:extLst>
              <a:ext uri="{FF2B5EF4-FFF2-40B4-BE49-F238E27FC236}">
                <a16:creationId xmlns:a16="http://schemas.microsoft.com/office/drawing/2014/main" id="{AF04C53C-FE8B-48C4-8088-A53D3840EF3D}"/>
              </a:ext>
            </a:extLst>
          </p:cNvPr>
          <p:cNvCxnSpPr>
            <a:cxnSpLocks/>
          </p:cNvCxnSpPr>
          <p:nvPr/>
        </p:nvCxnSpPr>
        <p:spPr>
          <a:xfrm flipV="1">
            <a:off x="4924425" y="1647825"/>
            <a:ext cx="0" cy="523875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37" name="wire-90">
            <a:extLst>
              <a:ext uri="{FF2B5EF4-FFF2-40B4-BE49-F238E27FC236}">
                <a16:creationId xmlns:a16="http://schemas.microsoft.com/office/drawing/2014/main" id="{F35AE48B-8752-4784-9C7A-75B9D4CFCE42}"/>
              </a:ext>
            </a:extLst>
          </p:cNvPr>
          <p:cNvCxnSpPr/>
          <p:nvPr/>
        </p:nvCxnSpPr>
        <p:spPr>
          <a:xfrm>
            <a:off x="4752975" y="2171700"/>
            <a:ext cx="171450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28" name="wire-81">
            <a:extLst>
              <a:ext uri="{FF2B5EF4-FFF2-40B4-BE49-F238E27FC236}">
                <a16:creationId xmlns:a16="http://schemas.microsoft.com/office/drawing/2014/main" id="{ADAF478E-5A5F-4280-816B-29C51E0F5F6C}"/>
              </a:ext>
            </a:extLst>
          </p:cNvPr>
          <p:cNvCxnSpPr/>
          <p:nvPr/>
        </p:nvCxnSpPr>
        <p:spPr>
          <a:xfrm flipV="1">
            <a:off x="8248650" y="3514725"/>
            <a:ext cx="0" cy="53340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27" name="wire-80">
            <a:extLst>
              <a:ext uri="{FF2B5EF4-FFF2-40B4-BE49-F238E27FC236}">
                <a16:creationId xmlns:a16="http://schemas.microsoft.com/office/drawing/2014/main" id="{C4356D14-C6B9-4D02-B199-F30F5CD24003}"/>
              </a:ext>
            </a:extLst>
          </p:cNvPr>
          <p:cNvCxnSpPr/>
          <p:nvPr/>
        </p:nvCxnSpPr>
        <p:spPr>
          <a:xfrm>
            <a:off x="7543800" y="4048125"/>
            <a:ext cx="704850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26" name="wire-79">
            <a:extLst>
              <a:ext uri="{FF2B5EF4-FFF2-40B4-BE49-F238E27FC236}">
                <a16:creationId xmlns:a16="http://schemas.microsoft.com/office/drawing/2014/main" id="{90F7FE2F-3D99-44D8-A01F-23694F419B21}"/>
              </a:ext>
            </a:extLst>
          </p:cNvPr>
          <p:cNvCxnSpPr/>
          <p:nvPr/>
        </p:nvCxnSpPr>
        <p:spPr>
          <a:xfrm>
            <a:off x="8248650" y="2371725"/>
            <a:ext cx="0" cy="542925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25" name="wire-78">
            <a:extLst>
              <a:ext uri="{FF2B5EF4-FFF2-40B4-BE49-F238E27FC236}">
                <a16:creationId xmlns:a16="http://schemas.microsoft.com/office/drawing/2014/main" id="{A83FB13C-AB28-474E-8915-4F5B55615C00}"/>
              </a:ext>
            </a:extLst>
          </p:cNvPr>
          <p:cNvCxnSpPr/>
          <p:nvPr/>
        </p:nvCxnSpPr>
        <p:spPr>
          <a:xfrm>
            <a:off x="7543800" y="2371725"/>
            <a:ext cx="704850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none" w="sm" len="sm"/>
          </a:ln>
        </p:spPr>
      </p:cxnSp>
      <p:cxnSp>
        <p:nvCxnSpPr>
          <p:cNvPr id="22" name="wire-75">
            <a:extLst>
              <a:ext uri="{FF2B5EF4-FFF2-40B4-BE49-F238E27FC236}">
                <a16:creationId xmlns:a16="http://schemas.microsoft.com/office/drawing/2014/main" id="{355A083D-2A51-4298-ACBA-3B0564DFC537}"/>
              </a:ext>
            </a:extLst>
          </p:cNvPr>
          <p:cNvCxnSpPr/>
          <p:nvPr/>
        </p:nvCxnSpPr>
        <p:spPr>
          <a:xfrm>
            <a:off x="4752975" y="4048125"/>
            <a:ext cx="40957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21" name="wire-74">
            <a:extLst>
              <a:ext uri="{FF2B5EF4-FFF2-40B4-BE49-F238E27FC236}">
                <a16:creationId xmlns:a16="http://schemas.microsoft.com/office/drawing/2014/main" id="{0BD31BA0-0A29-477C-B7FD-32BC73C42BE9}"/>
              </a:ext>
            </a:extLst>
          </p:cNvPr>
          <p:cNvCxnSpPr/>
          <p:nvPr/>
        </p:nvCxnSpPr>
        <p:spPr>
          <a:xfrm>
            <a:off x="4752975" y="2352675"/>
            <a:ext cx="40957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14" name="wire-67">
            <a:extLst>
              <a:ext uri="{FF2B5EF4-FFF2-40B4-BE49-F238E27FC236}">
                <a16:creationId xmlns:a16="http://schemas.microsoft.com/office/drawing/2014/main" id="{4B0D1717-14EB-4D8E-82EF-CD2BFEC2C335}"/>
              </a:ext>
            </a:extLst>
          </p:cNvPr>
          <p:cNvCxnSpPr/>
          <p:nvPr/>
        </p:nvCxnSpPr>
        <p:spPr>
          <a:xfrm>
            <a:off x="561975" y="4229100"/>
            <a:ext cx="195262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13" name="wire-66">
            <a:extLst>
              <a:ext uri="{FF2B5EF4-FFF2-40B4-BE49-F238E27FC236}">
                <a16:creationId xmlns:a16="http://schemas.microsoft.com/office/drawing/2014/main" id="{D49233C2-A25C-467C-80D9-9C55A223A728}"/>
              </a:ext>
            </a:extLst>
          </p:cNvPr>
          <p:cNvCxnSpPr/>
          <p:nvPr/>
        </p:nvCxnSpPr>
        <p:spPr>
          <a:xfrm>
            <a:off x="561975" y="2590800"/>
            <a:ext cx="1952625" cy="0"/>
          </a:xfrm>
          <a:prstGeom prst="straightConnector1">
            <a:avLst/>
          </a:prstGeom>
          <a:ln w="23813">
            <a:solidFill>
              <a:srgbClr val="147D92"/>
            </a:solidFill>
            <a:prstDash val="solid"/>
            <a:tailEnd type="triangle" w="sm" len="sm"/>
          </a:ln>
        </p:spPr>
      </p:cxnSp>
      <p:cxnSp>
        <p:nvCxnSpPr>
          <p:cNvPr id="3" name="wire-56">
            <a:extLst>
              <a:ext uri="{FF2B5EF4-FFF2-40B4-BE49-F238E27FC236}">
                <a16:creationId xmlns:a16="http://schemas.microsoft.com/office/drawing/2014/main" id="{B4CF0FD2-4526-431E-BCCD-BCEFD7D65A0F}"/>
              </a:ext>
            </a:extLst>
          </p:cNvPr>
          <p:cNvCxnSpPr/>
          <p:nvPr/>
        </p:nvCxnSpPr>
        <p:spPr>
          <a:xfrm>
            <a:off x="457200" y="1476375"/>
            <a:ext cx="11277600" cy="0"/>
          </a:xfrm>
          <a:prstGeom prst="straightConnector1">
            <a:avLst/>
          </a:prstGeom>
          <a:ln w="9525">
            <a:solidFill>
              <a:srgbClr val="CCD6E2"/>
            </a:solidFill>
            <a:prstDash val="solid"/>
            <a:tailEnd type="none" w="sm" len="sm"/>
          </a:ln>
        </p:spPr>
      </p:cxnSp>
      <p:sp>
        <p:nvSpPr>
          <p:cNvPr id="71" name="text-54">
            <a:extLst>
              <a:ext uri="{FF2B5EF4-FFF2-40B4-BE49-F238E27FC236}">
                <a16:creationId xmlns:a16="http://schemas.microsoft.com/office/drawing/2014/main" id="{1B809189-2B97-4BA0-8019-668541E98D8E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OPS: chọn toán hạng điều khiển vòng lặp</a:t>
            </a:r>
          </a:p>
        </p:txBody>
      </p:sp>
      <p:sp>
        <p:nvSpPr>
          <p:cNvPr id="2" name="text-55">
            <a:extLst>
              <a:ext uri="{FF2B5EF4-FFF2-40B4-BE49-F238E27FC236}">
                <a16:creationId xmlns:a16="http://schemas.microsoft.com/office/drawing/2014/main" id="{C5B33B1C-7BDE-4740-BE8D-7FF1A71D55AD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OPS=1 chọn fraction có ít bit 1 hơn. Hòa popcount giữ A làm X</a:t>
            </a:r>
          </a:p>
        </p:txBody>
      </p:sp>
      <p:sp>
        <p:nvSpPr>
          <p:cNvPr id="4" name="text-57">
            <a:extLst>
              <a:ext uri="{FF2B5EF4-FFF2-40B4-BE49-F238E27FC236}">
                <a16:creationId xmlns:a16="http://schemas.microsoft.com/office/drawing/2014/main" id="{310F981C-5FF5-47B8-B2E6-33D355264C41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723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5" name="text-58">
            <a:extLst>
              <a:ext uri="{FF2B5EF4-FFF2-40B4-BE49-F238E27FC236}">
                <a16:creationId xmlns:a16="http://schemas.microsoft.com/office/drawing/2014/main" id="{3B5F7A04-7625-42E9-BBF0-B60D713CF4AE}"/>
              </a:ext>
            </a:extLst>
          </p:cNvPr>
          <p:cNvSpPr>
            <a:spLocks noGrp="1"/>
          </p:cNvSpPr>
          <p:nvPr/>
        </p:nvSpPr>
        <p:spPr>
          <a:xfrm>
            <a:off x="447675" y="18859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D92"/>
                </a:solidFill>
                <a:latin typeface="Arial"/>
                <a:ea typeface="Arial"/>
                <a:cs typeface="Arial"/>
              </a:rPr>
              <a:t>frac_A [25:0]</a:t>
            </a:r>
          </a:p>
        </p:txBody>
      </p:sp>
      <p:sp>
        <p:nvSpPr>
          <p:cNvPr id="6" name="text-59">
            <a:extLst>
              <a:ext uri="{FF2B5EF4-FFF2-40B4-BE49-F238E27FC236}">
                <a16:creationId xmlns:a16="http://schemas.microsoft.com/office/drawing/2014/main" id="{96C4166F-DAC9-451A-82DA-22290352C64B}"/>
              </a:ext>
            </a:extLst>
          </p:cNvPr>
          <p:cNvSpPr>
            <a:spLocks noGrp="1"/>
          </p:cNvSpPr>
          <p:nvPr/>
        </p:nvSpPr>
        <p:spPr>
          <a:xfrm>
            <a:off x="447675" y="354330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D92"/>
                </a:solidFill>
                <a:latin typeface="Arial"/>
                <a:ea typeface="Arial"/>
                <a:cs typeface="Arial"/>
              </a:rPr>
              <a:t>frac_B [25:0]</a:t>
            </a:r>
          </a:p>
        </p:txBody>
      </p:sp>
      <p:sp>
        <p:nvSpPr>
          <p:cNvPr id="7" name="Chọn độ rộng-60">
            <a:extLst>
              <a:ext uri="{FF2B5EF4-FFF2-40B4-BE49-F238E27FC236}">
                <a16:creationId xmlns:a16="http://schemas.microsoft.com/office/drawing/2014/main" id="{AD5A3B51-691A-41E8-A296-432993979219}"/>
              </a:ext>
            </a:extLst>
          </p:cNvPr>
          <p:cNvSpPr>
            <a:spLocks noGrp="1"/>
          </p:cNvSpPr>
          <p:nvPr/>
        </p:nvSpPr>
        <p:spPr>
          <a:xfrm>
            <a:off x="2514600" y="1885950"/>
            <a:ext cx="2238375" cy="1162050"/>
          </a:xfrm>
          <a:prstGeom prst="rect">
            <a:avLst/>
          </a:pr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8" name="text-61">
            <a:extLst>
              <a:ext uri="{FF2B5EF4-FFF2-40B4-BE49-F238E27FC236}">
                <a16:creationId xmlns:a16="http://schemas.microsoft.com/office/drawing/2014/main" id="{8D6B7B08-846F-442A-B62F-5E40FCA8EC27}"/>
              </a:ext>
            </a:extLst>
          </p:cNvPr>
          <p:cNvSpPr>
            <a:spLocks noGrp="1"/>
          </p:cNvSpPr>
          <p:nvPr/>
        </p:nvSpPr>
        <p:spPr>
          <a:xfrm>
            <a:off x="2609850" y="2009775"/>
            <a:ext cx="2047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Chọn độ rộng</a:t>
            </a:r>
          </a:p>
        </p:txBody>
      </p:sp>
      <p:sp>
        <p:nvSpPr>
          <p:cNvPr id="9" name="text-62">
            <a:extLst>
              <a:ext uri="{FF2B5EF4-FFF2-40B4-BE49-F238E27FC236}">
                <a16:creationId xmlns:a16="http://schemas.microsoft.com/office/drawing/2014/main" id="{F56D881A-CDC1-449C-A64A-744172C28529}"/>
              </a:ext>
            </a:extLst>
          </p:cNvPr>
          <p:cNvSpPr>
            <a:spLocks noGrp="1"/>
          </p:cNvSpPr>
          <p:nvPr/>
        </p:nvSpPr>
        <p:spPr>
          <a:xfrm>
            <a:off x="2609850" y="2381250"/>
            <a:ext cx="2047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Exact: 26 bit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Approx: 12 MSB</a:t>
            </a:r>
          </a:p>
        </p:txBody>
      </p:sp>
      <p:sp>
        <p:nvSpPr>
          <p:cNvPr id="10" name="Chọn độ rộng-63">
            <a:extLst>
              <a:ext uri="{FF2B5EF4-FFF2-40B4-BE49-F238E27FC236}">
                <a16:creationId xmlns:a16="http://schemas.microsoft.com/office/drawing/2014/main" id="{A77236E7-21BA-4C46-B32A-385D95F2E5A7}"/>
              </a:ext>
            </a:extLst>
          </p:cNvPr>
          <p:cNvSpPr>
            <a:spLocks noGrp="1"/>
          </p:cNvSpPr>
          <p:nvPr/>
        </p:nvSpPr>
        <p:spPr>
          <a:xfrm>
            <a:off x="2514600" y="3543300"/>
            <a:ext cx="2238375" cy="1162050"/>
          </a:xfrm>
          <a:prstGeom prst="rect">
            <a:avLst/>
          </a:pr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11" name="text-64">
            <a:extLst>
              <a:ext uri="{FF2B5EF4-FFF2-40B4-BE49-F238E27FC236}">
                <a16:creationId xmlns:a16="http://schemas.microsoft.com/office/drawing/2014/main" id="{9BDC0325-452D-4F68-A1C6-D71ABCCF65D1}"/>
              </a:ext>
            </a:extLst>
          </p:cNvPr>
          <p:cNvSpPr>
            <a:spLocks noGrp="1"/>
          </p:cNvSpPr>
          <p:nvPr/>
        </p:nvSpPr>
        <p:spPr>
          <a:xfrm>
            <a:off x="2609850" y="3667125"/>
            <a:ext cx="2047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Chọn độ rộng</a:t>
            </a:r>
          </a:p>
        </p:txBody>
      </p:sp>
      <p:sp>
        <p:nvSpPr>
          <p:cNvPr id="12" name="text-65">
            <a:extLst>
              <a:ext uri="{FF2B5EF4-FFF2-40B4-BE49-F238E27FC236}">
                <a16:creationId xmlns:a16="http://schemas.microsoft.com/office/drawing/2014/main" id="{F8866EC8-644F-43F4-AC85-CEC5C59F2DE3}"/>
              </a:ext>
            </a:extLst>
          </p:cNvPr>
          <p:cNvSpPr>
            <a:spLocks noGrp="1"/>
          </p:cNvSpPr>
          <p:nvPr/>
        </p:nvSpPr>
        <p:spPr>
          <a:xfrm>
            <a:off x="2609850" y="4038600"/>
            <a:ext cx="2047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Exact: 26 bit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Approx: 12 MSB</a:t>
            </a:r>
          </a:p>
        </p:txBody>
      </p:sp>
      <p:sp>
        <p:nvSpPr>
          <p:cNvPr id="15" name="Popcount A-68">
            <a:extLst>
              <a:ext uri="{FF2B5EF4-FFF2-40B4-BE49-F238E27FC236}">
                <a16:creationId xmlns:a16="http://schemas.microsoft.com/office/drawing/2014/main" id="{F9FD0342-95AF-49CF-B3FE-11FA9E5C3A83}"/>
              </a:ext>
            </a:extLst>
          </p:cNvPr>
          <p:cNvSpPr>
            <a:spLocks noGrp="1"/>
          </p:cNvSpPr>
          <p:nvPr/>
        </p:nvSpPr>
        <p:spPr>
          <a:xfrm>
            <a:off x="5162550" y="1847850"/>
            <a:ext cx="2381250" cy="1095375"/>
          </a:xfrm>
          <a:prstGeom prst="rect">
            <a:avLst/>
          </a:pr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16" name="text-69">
            <a:extLst>
              <a:ext uri="{FF2B5EF4-FFF2-40B4-BE49-F238E27FC236}">
                <a16:creationId xmlns:a16="http://schemas.microsoft.com/office/drawing/2014/main" id="{89B98EF9-AC91-4D0D-B382-F6F4D53F6402}"/>
              </a:ext>
            </a:extLst>
          </p:cNvPr>
          <p:cNvSpPr>
            <a:spLocks noGrp="1"/>
          </p:cNvSpPr>
          <p:nvPr/>
        </p:nvSpPr>
        <p:spPr>
          <a:xfrm>
            <a:off x="5257800" y="1971675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Popcount A</a:t>
            </a:r>
          </a:p>
        </p:txBody>
      </p:sp>
      <p:sp>
        <p:nvSpPr>
          <p:cNvPr id="17" name="text-70">
            <a:extLst>
              <a:ext uri="{FF2B5EF4-FFF2-40B4-BE49-F238E27FC236}">
                <a16:creationId xmlns:a16="http://schemas.microsoft.com/office/drawing/2014/main" id="{6AACE83D-B967-4616-A19E-558CCF5B803D}"/>
              </a:ext>
            </a:extLst>
          </p:cNvPr>
          <p:cNvSpPr>
            <a:spLocks noGrp="1"/>
          </p:cNvSpPr>
          <p:nvPr/>
        </p:nvSpPr>
        <p:spPr>
          <a:xfrm>
            <a:off x="5257800" y="2343150"/>
            <a:ext cx="2190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Cây cộng cân bằng</a:t>
            </a:r>
          </a:p>
        </p:txBody>
      </p:sp>
      <p:sp>
        <p:nvSpPr>
          <p:cNvPr id="18" name="Popcount B-71">
            <a:extLst>
              <a:ext uri="{FF2B5EF4-FFF2-40B4-BE49-F238E27FC236}">
                <a16:creationId xmlns:a16="http://schemas.microsoft.com/office/drawing/2014/main" id="{FB62EA26-B361-4772-B8BE-A0550594FFB2}"/>
              </a:ext>
            </a:extLst>
          </p:cNvPr>
          <p:cNvSpPr>
            <a:spLocks noGrp="1"/>
          </p:cNvSpPr>
          <p:nvPr/>
        </p:nvSpPr>
        <p:spPr>
          <a:xfrm>
            <a:off x="5162550" y="3533775"/>
            <a:ext cx="2381250" cy="1095375"/>
          </a:xfrm>
          <a:prstGeom prst="rect">
            <a:avLst/>
          </a:pr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19" name="text-72">
            <a:extLst>
              <a:ext uri="{FF2B5EF4-FFF2-40B4-BE49-F238E27FC236}">
                <a16:creationId xmlns:a16="http://schemas.microsoft.com/office/drawing/2014/main" id="{5FD1F625-F290-48C5-A83F-3F97C331FC51}"/>
              </a:ext>
            </a:extLst>
          </p:cNvPr>
          <p:cNvSpPr>
            <a:spLocks noGrp="1"/>
          </p:cNvSpPr>
          <p:nvPr/>
        </p:nvSpPr>
        <p:spPr>
          <a:xfrm>
            <a:off x="5257800" y="3657600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Popcount B</a:t>
            </a:r>
          </a:p>
        </p:txBody>
      </p:sp>
      <p:sp>
        <p:nvSpPr>
          <p:cNvPr id="20" name="text-73">
            <a:extLst>
              <a:ext uri="{FF2B5EF4-FFF2-40B4-BE49-F238E27FC236}">
                <a16:creationId xmlns:a16="http://schemas.microsoft.com/office/drawing/2014/main" id="{A792B2E4-75F8-4F91-9A8D-490E7F8F3ACC}"/>
              </a:ext>
            </a:extLst>
          </p:cNvPr>
          <p:cNvSpPr>
            <a:spLocks noGrp="1"/>
          </p:cNvSpPr>
          <p:nvPr/>
        </p:nvSpPr>
        <p:spPr>
          <a:xfrm>
            <a:off x="5257800" y="4029075"/>
            <a:ext cx="2190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Cây cộng cân bằng</a:t>
            </a:r>
          </a:p>
        </p:txBody>
      </p:sp>
      <p:sp>
        <p:nvSpPr>
          <p:cNvPr id="23" name="operator-76">
            <a:extLst>
              <a:ext uri="{FF2B5EF4-FFF2-40B4-BE49-F238E27FC236}">
                <a16:creationId xmlns:a16="http://schemas.microsoft.com/office/drawing/2014/main" id="{393749F2-BDCE-46B9-8E11-A1122E757799}"/>
              </a:ext>
            </a:extLst>
          </p:cNvPr>
          <p:cNvSpPr>
            <a:spLocks noGrp="1"/>
          </p:cNvSpPr>
          <p:nvPr/>
        </p:nvSpPr>
        <p:spPr>
          <a:xfrm>
            <a:off x="7953375" y="2914650"/>
            <a:ext cx="600075" cy="600075"/>
          </a:xfrm>
          <a:prstGeom prst="ellipse">
            <a:avLst/>
          </a:pr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24" name="text-77">
            <a:extLst>
              <a:ext uri="{FF2B5EF4-FFF2-40B4-BE49-F238E27FC236}">
                <a16:creationId xmlns:a16="http://schemas.microsoft.com/office/drawing/2014/main" id="{74CF56C1-FF53-4F21-BE5E-F74BFBD6A302}"/>
              </a:ext>
            </a:extLst>
          </p:cNvPr>
          <p:cNvSpPr>
            <a:spLocks noGrp="1"/>
          </p:cNvSpPr>
          <p:nvPr/>
        </p:nvSpPr>
        <p:spPr>
          <a:xfrm>
            <a:off x="7953375" y="2914650"/>
            <a:ext cx="6000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B&lt;A</a:t>
            </a:r>
          </a:p>
        </p:txBody>
      </p:sp>
      <p:sp>
        <p:nvSpPr>
          <p:cNvPr id="29" name="mux-82">
            <a:extLst>
              <a:ext uri="{FF2B5EF4-FFF2-40B4-BE49-F238E27FC236}">
                <a16:creationId xmlns:a16="http://schemas.microsoft.com/office/drawing/2014/main" id="{7EA60880-1CF6-49F1-A0E0-3820E26495B9}"/>
              </a:ext>
            </a:extLst>
          </p:cNvPr>
          <p:cNvSpPr>
            <a:spLocks noGrp="1"/>
          </p:cNvSpPr>
          <p:nvPr/>
        </p:nvSpPr>
        <p:spPr>
          <a:xfrm>
            <a:off x="9258300" y="2076450"/>
            <a:ext cx="800100" cy="1066800"/>
          </a:xfrm>
          <a:custGeom>
            <a:avLst/>
            <a:gdLst/>
            <a:ahLst/>
            <a:cxnLst/>
            <a:rect l="0" t="0" r="0" b="0"/>
            <a:pathLst>
              <a:path w="800100" h="1066800">
                <a:moveTo>
                  <a:pt x="0" y="0"/>
                </a:moveTo>
                <a:lnTo>
                  <a:pt x="800100" y="213360"/>
                </a:lnTo>
                <a:lnTo>
                  <a:pt x="800100" y="853440"/>
                </a:lnTo>
                <a:lnTo>
                  <a:pt x="0" y="1066800"/>
                </a:lnTo>
                <a:close/>
              </a:path>
            </a:pathLst>
          </a:cu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30" name="text-83">
            <a:extLst>
              <a:ext uri="{FF2B5EF4-FFF2-40B4-BE49-F238E27FC236}">
                <a16:creationId xmlns:a16="http://schemas.microsoft.com/office/drawing/2014/main" id="{8CFAE90B-2A94-4948-9F3C-E08329E484AC}"/>
              </a:ext>
            </a:extLst>
          </p:cNvPr>
          <p:cNvSpPr>
            <a:spLocks noGrp="1"/>
          </p:cNvSpPr>
          <p:nvPr/>
        </p:nvSpPr>
        <p:spPr>
          <a:xfrm>
            <a:off x="9286875" y="2438400"/>
            <a:ext cx="704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SEL</a:t>
            </a:r>
          </a:p>
        </p:txBody>
      </p:sp>
      <p:sp>
        <p:nvSpPr>
          <p:cNvPr id="31" name="mux-84">
            <a:extLst>
              <a:ext uri="{FF2B5EF4-FFF2-40B4-BE49-F238E27FC236}">
                <a16:creationId xmlns:a16="http://schemas.microsoft.com/office/drawing/2014/main" id="{F0F49786-A3B1-4370-9332-A60344367707}"/>
              </a:ext>
            </a:extLst>
          </p:cNvPr>
          <p:cNvSpPr>
            <a:spLocks noGrp="1"/>
          </p:cNvSpPr>
          <p:nvPr/>
        </p:nvSpPr>
        <p:spPr>
          <a:xfrm>
            <a:off x="9258300" y="4000500"/>
            <a:ext cx="800100" cy="1066800"/>
          </a:xfrm>
          <a:custGeom>
            <a:avLst/>
            <a:gdLst/>
            <a:ahLst/>
            <a:cxnLst/>
            <a:rect l="0" t="0" r="0" b="0"/>
            <a:pathLst>
              <a:path w="800100" h="1066800">
                <a:moveTo>
                  <a:pt x="0" y="0"/>
                </a:moveTo>
                <a:lnTo>
                  <a:pt x="800100" y="213360"/>
                </a:lnTo>
                <a:lnTo>
                  <a:pt x="800100" y="853440"/>
                </a:lnTo>
                <a:lnTo>
                  <a:pt x="0" y="1066800"/>
                </a:lnTo>
                <a:close/>
              </a:path>
            </a:pathLst>
          </a:cu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32" name="text-85">
            <a:extLst>
              <a:ext uri="{FF2B5EF4-FFF2-40B4-BE49-F238E27FC236}">
                <a16:creationId xmlns:a16="http://schemas.microsoft.com/office/drawing/2014/main" id="{B019FA20-2BB0-45B4-82A0-CB634DB2FC5F}"/>
              </a:ext>
            </a:extLst>
          </p:cNvPr>
          <p:cNvSpPr>
            <a:spLocks noGrp="1"/>
          </p:cNvSpPr>
          <p:nvPr/>
        </p:nvSpPr>
        <p:spPr>
          <a:xfrm>
            <a:off x="9286875" y="4362450"/>
            <a:ext cx="704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SEL</a:t>
            </a:r>
          </a:p>
        </p:txBody>
      </p:sp>
      <p:sp>
        <p:nvSpPr>
          <p:cNvPr id="33" name="text-86">
            <a:extLst>
              <a:ext uri="{FF2B5EF4-FFF2-40B4-BE49-F238E27FC236}">
                <a16:creationId xmlns:a16="http://schemas.microsoft.com/office/drawing/2014/main" id="{0C1EBD61-BCD1-4B4B-8D8D-6BC10201F0F2}"/>
              </a:ext>
            </a:extLst>
          </p:cNvPr>
          <p:cNvSpPr>
            <a:spLocks noGrp="1"/>
          </p:cNvSpPr>
          <p:nvPr/>
        </p:nvSpPr>
        <p:spPr>
          <a:xfrm>
            <a:off x="9324975" y="2228850"/>
            <a:ext cx="190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D9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text-87">
            <a:extLst>
              <a:ext uri="{FF2B5EF4-FFF2-40B4-BE49-F238E27FC236}">
                <a16:creationId xmlns:a16="http://schemas.microsoft.com/office/drawing/2014/main" id="{F44E1EBD-7DF0-423F-945C-C5C71BD80490}"/>
              </a:ext>
            </a:extLst>
          </p:cNvPr>
          <p:cNvSpPr>
            <a:spLocks noGrp="1"/>
          </p:cNvSpPr>
          <p:nvPr/>
        </p:nvSpPr>
        <p:spPr>
          <a:xfrm>
            <a:off x="9324975" y="2762250"/>
            <a:ext cx="190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D9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text-88">
            <a:extLst>
              <a:ext uri="{FF2B5EF4-FFF2-40B4-BE49-F238E27FC236}">
                <a16:creationId xmlns:a16="http://schemas.microsoft.com/office/drawing/2014/main" id="{9DD74481-0E40-412B-A286-D6CF5F6A5C68}"/>
              </a:ext>
            </a:extLst>
          </p:cNvPr>
          <p:cNvSpPr>
            <a:spLocks noGrp="1"/>
          </p:cNvSpPr>
          <p:nvPr/>
        </p:nvSpPr>
        <p:spPr>
          <a:xfrm>
            <a:off x="9324975" y="4152900"/>
            <a:ext cx="190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D9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text-89">
            <a:extLst>
              <a:ext uri="{FF2B5EF4-FFF2-40B4-BE49-F238E27FC236}">
                <a16:creationId xmlns:a16="http://schemas.microsoft.com/office/drawing/2014/main" id="{D0F1986D-C01B-4723-99B3-5B8EFA0A3F32}"/>
              </a:ext>
            </a:extLst>
          </p:cNvPr>
          <p:cNvSpPr>
            <a:spLocks noGrp="1"/>
          </p:cNvSpPr>
          <p:nvPr/>
        </p:nvSpPr>
        <p:spPr>
          <a:xfrm>
            <a:off x="9324975" y="4686300"/>
            <a:ext cx="190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D9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4" name="1.fY-117">
            <a:extLst>
              <a:ext uri="{FF2B5EF4-FFF2-40B4-BE49-F238E27FC236}">
                <a16:creationId xmlns:a16="http://schemas.microsoft.com/office/drawing/2014/main" id="{65798C9E-959F-43FB-B7BE-1B5D49B430C0}"/>
              </a:ext>
            </a:extLst>
          </p:cNvPr>
          <p:cNvSpPr>
            <a:spLocks noGrp="1"/>
          </p:cNvSpPr>
          <p:nvPr/>
        </p:nvSpPr>
        <p:spPr>
          <a:xfrm>
            <a:off x="10534650" y="4000500"/>
            <a:ext cx="1200150" cy="1066800"/>
          </a:xfrm>
          <a:prstGeom prst="rect">
            <a:avLst/>
          </a:prstGeom>
          <a:solidFill>
            <a:srgbClr val="E8F6F8"/>
          </a:solidFill>
          <a:ln w="19050">
            <a:solidFill>
              <a:srgbClr val="147D92"/>
            </a:solidFill>
          </a:ln>
        </p:spPr>
      </p:sp>
      <p:sp>
        <p:nvSpPr>
          <p:cNvPr id="65" name="text-118">
            <a:extLst>
              <a:ext uri="{FF2B5EF4-FFF2-40B4-BE49-F238E27FC236}">
                <a16:creationId xmlns:a16="http://schemas.microsoft.com/office/drawing/2014/main" id="{B5E0E8F8-8AF1-4287-B8BC-10C335448697}"/>
              </a:ext>
            </a:extLst>
          </p:cNvPr>
          <p:cNvSpPr>
            <a:spLocks noGrp="1"/>
          </p:cNvSpPr>
          <p:nvPr/>
        </p:nvSpPr>
        <p:spPr>
          <a:xfrm>
            <a:off x="10629900" y="4124325"/>
            <a:ext cx="10096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1.fY</a:t>
            </a:r>
          </a:p>
        </p:txBody>
      </p:sp>
      <p:sp>
        <p:nvSpPr>
          <p:cNvPr id="66" name="text-119">
            <a:extLst>
              <a:ext uri="{FF2B5EF4-FFF2-40B4-BE49-F238E27FC236}">
                <a16:creationId xmlns:a16="http://schemas.microsoft.com/office/drawing/2014/main" id="{DA117602-B21A-411C-8B5B-6F971C39D9E1}"/>
              </a:ext>
            </a:extLst>
          </p:cNvPr>
          <p:cNvSpPr>
            <a:spLocks noGrp="1"/>
          </p:cNvSpPr>
          <p:nvPr/>
        </p:nvSpPr>
        <p:spPr>
          <a:xfrm>
            <a:off x="10629900" y="4495800"/>
            <a:ext cx="1009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Y mant</a:t>
            </a:r>
          </a:p>
        </p:txBody>
      </p:sp>
      <p:sp>
        <p:nvSpPr>
          <p:cNvPr id="67" name="text-120">
            <a:extLst>
              <a:ext uri="{FF2B5EF4-FFF2-40B4-BE49-F238E27FC236}">
                <a16:creationId xmlns:a16="http://schemas.microsoft.com/office/drawing/2014/main" id="{D2C08845-E396-4C0A-8EBA-06B9F1F21ECB}"/>
              </a:ext>
            </a:extLst>
          </p:cNvPr>
          <p:cNvSpPr>
            <a:spLocks noGrp="1"/>
          </p:cNvSpPr>
          <p:nvPr/>
        </p:nvSpPr>
        <p:spPr>
          <a:xfrm>
            <a:off x="10010775" y="2171700"/>
            <a:ext cx="16859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7D92"/>
                </a:solidFill>
                <a:latin typeface="Arial"/>
                <a:ea typeface="Arial"/>
                <a:cs typeface="Arial"/>
              </a:rPr>
              <a:t>X fraction</a:t>
            </a:r>
          </a:p>
        </p:txBody>
      </p:sp>
      <p:sp>
        <p:nvSpPr>
          <p:cNvPr id="68" name="text-121">
            <a:extLst>
              <a:ext uri="{FF2B5EF4-FFF2-40B4-BE49-F238E27FC236}">
                <a16:creationId xmlns:a16="http://schemas.microsoft.com/office/drawing/2014/main" id="{8E802BF0-80E5-4A5D-8A6A-C5A3103B6F75}"/>
              </a:ext>
            </a:extLst>
          </p:cNvPr>
          <p:cNvSpPr>
            <a:spLocks noGrp="1"/>
          </p:cNvSpPr>
          <p:nvPr/>
        </p:nvSpPr>
        <p:spPr>
          <a:xfrm>
            <a:off x="9353550" y="5495925"/>
            <a:ext cx="2343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X: chỉ fraction</a:t>
            </a:r>
          </a:p>
          <a:p>
            <a:pPr algn="l">
              <a:defRPr sz="180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Y: có hidden bit</a:t>
            </a:r>
          </a:p>
        </p:txBody>
      </p:sp>
      <p:sp>
        <p:nvSpPr>
          <p:cNvPr id="69" name="text-122">
            <a:extLst>
              <a:ext uri="{FF2B5EF4-FFF2-40B4-BE49-F238E27FC236}">
                <a16:creationId xmlns:a16="http://schemas.microsoft.com/office/drawing/2014/main" id="{3FA5B3BD-1FC9-4A25-95BA-A41A91CDB86D}"/>
              </a:ext>
            </a:extLst>
          </p:cNvPr>
          <p:cNvSpPr>
            <a:spLocks noGrp="1"/>
          </p:cNvSpPr>
          <p:nvPr/>
        </p:nvSpPr>
        <p:spPr>
          <a:xfrm>
            <a:off x="457200" y="5543550"/>
            <a:ext cx="819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choose_b = OPS_EN &amp;&amp; (cfg_ops == 1) &amp;&amp; (count_B &lt; count_A)</a:t>
            </a:r>
          </a:p>
        </p:txBody>
      </p:sp>
      <p:sp>
        <p:nvSpPr>
          <p:cNvPr id="70" name="text-123">
            <a:extLst>
              <a:ext uri="{FF2B5EF4-FFF2-40B4-BE49-F238E27FC236}">
                <a16:creationId xmlns:a16="http://schemas.microsoft.com/office/drawing/2014/main" id="{B882B420-FF98-4586-BA33-5ACE025CBB48}"/>
              </a:ext>
            </a:extLst>
          </p:cNvPr>
          <p:cNvSpPr>
            <a:spLocks noGrp="1"/>
          </p:cNvSpPr>
          <p:nvPr/>
        </p:nvSpPr>
        <p:spPr>
          <a:xfrm>
            <a:off x="457200" y="5962650"/>
            <a:ext cx="8953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53657D"/>
                </a:solidFill>
                <a:latin typeface="Arial"/>
                <a:ea typeface="Arial"/>
                <a:cs typeface="Arial"/>
              </a:rPr>
              <a:t>sign = </a:t>
            </a:r>
            <a:r>
              <a:rPr sz="1800" b="0" dirty="0" err="1">
                <a:solidFill>
                  <a:srgbClr val="53657D"/>
                </a:solidFill>
                <a:latin typeface="Arial"/>
                <a:ea typeface="Arial"/>
                <a:cs typeface="Arial"/>
              </a:rPr>
              <a:t>s_A</a:t>
            </a:r>
            <a:r>
              <a:rPr sz="1800" b="0" dirty="0">
                <a:solidFill>
                  <a:srgbClr val="53657D"/>
                </a:solidFill>
                <a:latin typeface="Arial"/>
                <a:ea typeface="Arial"/>
                <a:cs typeface="Arial"/>
              </a:rPr>
              <a:t> XOR </a:t>
            </a:r>
            <a:r>
              <a:rPr sz="1800" b="0" dirty="0" err="1">
                <a:solidFill>
                  <a:srgbClr val="53657D"/>
                </a:solidFill>
                <a:latin typeface="Arial"/>
                <a:ea typeface="Arial"/>
                <a:cs typeface="Arial"/>
              </a:rPr>
              <a:t>s_B</a:t>
            </a:r>
            <a:r>
              <a:rPr sz="1800" b="0" dirty="0">
                <a:solidFill>
                  <a:srgbClr val="53657D"/>
                </a:solidFill>
                <a:latin typeface="Arial"/>
                <a:ea typeface="Arial"/>
                <a:cs typeface="Arial"/>
              </a:rPr>
              <a:t>       </a:t>
            </a:r>
            <a:r>
              <a:rPr sz="1800" b="0" dirty="0" err="1">
                <a:solidFill>
                  <a:srgbClr val="53657D"/>
                </a:solidFill>
                <a:latin typeface="Arial"/>
                <a:ea typeface="Arial"/>
                <a:cs typeface="Arial"/>
              </a:rPr>
              <a:t>sf_base</a:t>
            </a:r>
            <a:r>
              <a:rPr sz="1800" b="0" dirty="0">
                <a:solidFill>
                  <a:srgbClr val="53657D"/>
                </a:solidFill>
                <a:latin typeface="Arial"/>
                <a:ea typeface="Arial"/>
                <a:cs typeface="Arial"/>
              </a:rPr>
              <a:t> = </a:t>
            </a:r>
            <a:r>
              <a:rPr sz="1800" b="0" dirty="0" err="1">
                <a:solidFill>
                  <a:srgbClr val="53657D"/>
                </a:solidFill>
                <a:latin typeface="Arial"/>
                <a:ea typeface="Arial"/>
                <a:cs typeface="Arial"/>
              </a:rPr>
              <a:t>sf_A</a:t>
            </a:r>
            <a:r>
              <a:rPr sz="1800" b="0" dirty="0">
                <a:solidFill>
                  <a:srgbClr val="53657D"/>
                </a:solidFill>
                <a:latin typeface="Arial"/>
                <a:ea typeface="Arial"/>
                <a:cs typeface="Arial"/>
              </a:rPr>
              <a:t> + </a:t>
            </a:r>
            <a:r>
              <a:rPr sz="1800" b="0" dirty="0" err="1">
                <a:solidFill>
                  <a:srgbClr val="53657D"/>
                </a:solidFill>
                <a:latin typeface="Arial"/>
                <a:ea typeface="Arial"/>
                <a:cs typeface="Arial"/>
              </a:rPr>
              <a:t>sf_B</a:t>
            </a:r>
            <a:endParaRPr sz="1800" b="0" dirty="0">
              <a:solidFill>
                <a:srgbClr val="53657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65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wire-183">
            <a:extLst>
              <a:ext uri="{FF2B5EF4-FFF2-40B4-BE49-F238E27FC236}">
                <a16:creationId xmlns:a16="http://schemas.microsoft.com/office/drawing/2014/main" id="{A34CBE72-AAAE-4B66-BB69-1ED69AA47304}"/>
              </a:ext>
            </a:extLst>
          </p:cNvPr>
          <p:cNvCxnSpPr/>
          <p:nvPr/>
        </p:nvCxnSpPr>
        <p:spPr>
          <a:xfrm flipV="1">
            <a:off x="10801350" y="3524250"/>
            <a:ext cx="0" cy="1019175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59" name="wire-182">
            <a:extLst>
              <a:ext uri="{FF2B5EF4-FFF2-40B4-BE49-F238E27FC236}">
                <a16:creationId xmlns:a16="http://schemas.microsoft.com/office/drawing/2014/main" id="{FC5402CD-4E77-4A8D-B0E5-C09D33D30739}"/>
              </a:ext>
            </a:extLst>
          </p:cNvPr>
          <p:cNvCxnSpPr/>
          <p:nvPr/>
        </p:nvCxnSpPr>
        <p:spPr>
          <a:xfrm>
            <a:off x="7429500" y="4543425"/>
            <a:ext cx="3371850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none" w="sm" len="sm"/>
          </a:ln>
        </p:spPr>
      </p:cxnSp>
      <p:cxnSp>
        <p:nvCxnSpPr>
          <p:cNvPr id="58" name="wire-181">
            <a:extLst>
              <a:ext uri="{FF2B5EF4-FFF2-40B4-BE49-F238E27FC236}">
                <a16:creationId xmlns:a16="http://schemas.microsoft.com/office/drawing/2014/main" id="{11950FB1-053F-4173-ADBF-B1381B44E52E}"/>
              </a:ext>
            </a:extLst>
          </p:cNvPr>
          <p:cNvCxnSpPr/>
          <p:nvPr/>
        </p:nvCxnSpPr>
        <p:spPr>
          <a:xfrm>
            <a:off x="10801350" y="2133600"/>
            <a:ext cx="0" cy="7620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57" name="wire-180">
            <a:extLst>
              <a:ext uri="{FF2B5EF4-FFF2-40B4-BE49-F238E27FC236}">
                <a16:creationId xmlns:a16="http://schemas.microsoft.com/office/drawing/2014/main" id="{CA387695-E9D9-4E1F-8939-AC741F9D5BB1}"/>
              </a:ext>
            </a:extLst>
          </p:cNvPr>
          <p:cNvCxnSpPr/>
          <p:nvPr/>
        </p:nvCxnSpPr>
        <p:spPr>
          <a:xfrm>
            <a:off x="9658350" y="2133600"/>
            <a:ext cx="1143000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none" w="sm" len="sm"/>
          </a:ln>
        </p:spPr>
      </p:cxnSp>
      <p:cxnSp>
        <p:nvCxnSpPr>
          <p:cNvPr id="56" name="wire-179">
            <a:extLst>
              <a:ext uri="{FF2B5EF4-FFF2-40B4-BE49-F238E27FC236}">
                <a16:creationId xmlns:a16="http://schemas.microsoft.com/office/drawing/2014/main" id="{D21312AC-AF9E-4EA8-B526-0D862A1BC157}"/>
              </a:ext>
            </a:extLst>
          </p:cNvPr>
          <p:cNvCxnSpPr/>
          <p:nvPr/>
        </p:nvCxnSpPr>
        <p:spPr>
          <a:xfrm flipV="1">
            <a:off x="9658350" y="2133600"/>
            <a:ext cx="0" cy="131445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none" w="sm" len="sm"/>
          </a:ln>
        </p:spPr>
      </p:cxnSp>
      <p:cxnSp>
        <p:nvCxnSpPr>
          <p:cNvPr id="55" name="wire-178">
            <a:extLst>
              <a:ext uri="{FF2B5EF4-FFF2-40B4-BE49-F238E27FC236}">
                <a16:creationId xmlns:a16="http://schemas.microsoft.com/office/drawing/2014/main" id="{21D78EC3-BD74-47E7-9C47-A104C89136A0}"/>
              </a:ext>
            </a:extLst>
          </p:cNvPr>
          <p:cNvCxnSpPr/>
          <p:nvPr/>
        </p:nvCxnSpPr>
        <p:spPr>
          <a:xfrm>
            <a:off x="7762875" y="3448050"/>
            <a:ext cx="1895475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none" w="sm" len="sm"/>
          </a:ln>
        </p:spPr>
      </p:cxnSp>
      <p:cxnSp>
        <p:nvCxnSpPr>
          <p:cNvPr id="54" name="wire-177">
            <a:extLst>
              <a:ext uri="{FF2B5EF4-FFF2-40B4-BE49-F238E27FC236}">
                <a16:creationId xmlns:a16="http://schemas.microsoft.com/office/drawing/2014/main" id="{0273D614-374C-4011-9C90-7F60E31F917C}"/>
              </a:ext>
            </a:extLst>
          </p:cNvPr>
          <p:cNvCxnSpPr/>
          <p:nvPr/>
        </p:nvCxnSpPr>
        <p:spPr>
          <a:xfrm>
            <a:off x="7762875" y="2543175"/>
            <a:ext cx="0" cy="904875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none" w="sm" len="sm"/>
          </a:ln>
        </p:spPr>
      </p:cxnSp>
      <p:cxnSp>
        <p:nvCxnSpPr>
          <p:cNvPr id="49" name="wire-172">
            <a:extLst>
              <a:ext uri="{FF2B5EF4-FFF2-40B4-BE49-F238E27FC236}">
                <a16:creationId xmlns:a16="http://schemas.microsoft.com/office/drawing/2014/main" id="{C1B1CF68-E720-4233-8DFF-9BDDE5F025EF}"/>
              </a:ext>
            </a:extLst>
          </p:cNvPr>
          <p:cNvCxnSpPr/>
          <p:nvPr/>
        </p:nvCxnSpPr>
        <p:spPr>
          <a:xfrm flipH="1">
            <a:off x="7058025" y="3505200"/>
            <a:ext cx="457200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48" name="wire-171">
            <a:extLst>
              <a:ext uri="{FF2B5EF4-FFF2-40B4-BE49-F238E27FC236}">
                <a16:creationId xmlns:a16="http://schemas.microsoft.com/office/drawing/2014/main" id="{428C1F46-AD14-4903-ACD7-9EBDD69C3F94}"/>
              </a:ext>
            </a:extLst>
          </p:cNvPr>
          <p:cNvCxnSpPr/>
          <p:nvPr/>
        </p:nvCxnSpPr>
        <p:spPr>
          <a:xfrm>
            <a:off x="7515225" y="2543175"/>
            <a:ext cx="0" cy="962025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46" name="wire-169">
            <a:extLst>
              <a:ext uri="{FF2B5EF4-FFF2-40B4-BE49-F238E27FC236}">
                <a16:creationId xmlns:a16="http://schemas.microsoft.com/office/drawing/2014/main" id="{B6FF2819-8C1A-4C5E-B6F2-21255233061C}"/>
              </a:ext>
            </a:extLst>
          </p:cNvPr>
          <p:cNvCxnSpPr/>
          <p:nvPr/>
        </p:nvCxnSpPr>
        <p:spPr>
          <a:xfrm flipV="1">
            <a:off x="1171575" y="3362325"/>
            <a:ext cx="0" cy="211455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45" name="wire-168">
            <a:extLst>
              <a:ext uri="{FF2B5EF4-FFF2-40B4-BE49-F238E27FC236}">
                <a16:creationId xmlns:a16="http://schemas.microsoft.com/office/drawing/2014/main" id="{5FFF61B1-E940-4C45-B108-32F73A16DE8D}"/>
              </a:ext>
            </a:extLst>
          </p:cNvPr>
          <p:cNvCxnSpPr/>
          <p:nvPr/>
        </p:nvCxnSpPr>
        <p:spPr>
          <a:xfrm flipH="1">
            <a:off x="1171575" y="5476875"/>
            <a:ext cx="6324600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44" name="wire-167">
            <a:extLst>
              <a:ext uri="{FF2B5EF4-FFF2-40B4-BE49-F238E27FC236}">
                <a16:creationId xmlns:a16="http://schemas.microsoft.com/office/drawing/2014/main" id="{8AC1108C-77CE-4914-A5F7-B5A0A2ACA99E}"/>
              </a:ext>
            </a:extLst>
          </p:cNvPr>
          <p:cNvCxnSpPr/>
          <p:nvPr/>
        </p:nvCxnSpPr>
        <p:spPr>
          <a:xfrm>
            <a:off x="7496175" y="4543425"/>
            <a:ext cx="0" cy="93345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43" name="wire-166">
            <a:extLst>
              <a:ext uri="{FF2B5EF4-FFF2-40B4-BE49-F238E27FC236}">
                <a16:creationId xmlns:a16="http://schemas.microsoft.com/office/drawing/2014/main" id="{7E738683-5B1A-48F4-86CD-E930109F1B8E}"/>
              </a:ext>
            </a:extLst>
          </p:cNvPr>
          <p:cNvCxnSpPr/>
          <p:nvPr/>
        </p:nvCxnSpPr>
        <p:spPr>
          <a:xfrm>
            <a:off x="5105400" y="4543425"/>
            <a:ext cx="2390775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42" name="wire-165">
            <a:extLst>
              <a:ext uri="{FF2B5EF4-FFF2-40B4-BE49-F238E27FC236}">
                <a16:creationId xmlns:a16="http://schemas.microsoft.com/office/drawing/2014/main" id="{E6975216-9CE7-41A0-A1B3-20A5A77D6F7C}"/>
              </a:ext>
            </a:extLst>
          </p:cNvPr>
          <p:cNvCxnSpPr/>
          <p:nvPr/>
        </p:nvCxnSpPr>
        <p:spPr>
          <a:xfrm>
            <a:off x="3762375" y="3562350"/>
            <a:ext cx="0" cy="533400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triangle" w="sm" len="sm"/>
          </a:ln>
        </p:spPr>
      </p:cxnSp>
      <p:cxnSp>
        <p:nvCxnSpPr>
          <p:cNvPr id="41" name="wire-164">
            <a:extLst>
              <a:ext uri="{FF2B5EF4-FFF2-40B4-BE49-F238E27FC236}">
                <a16:creationId xmlns:a16="http://schemas.microsoft.com/office/drawing/2014/main" id="{DFFDF51E-4DDD-484B-AFD9-FBD15AFF3906}"/>
              </a:ext>
            </a:extLst>
          </p:cNvPr>
          <p:cNvCxnSpPr/>
          <p:nvPr/>
        </p:nvCxnSpPr>
        <p:spPr>
          <a:xfrm flipH="1">
            <a:off x="3762375" y="3562350"/>
            <a:ext cx="1143000" cy="0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none" w="sm" len="sm"/>
          </a:ln>
        </p:spPr>
      </p:cxnSp>
      <p:cxnSp>
        <p:nvCxnSpPr>
          <p:cNvPr id="40" name="wire-163">
            <a:extLst>
              <a:ext uri="{FF2B5EF4-FFF2-40B4-BE49-F238E27FC236}">
                <a16:creationId xmlns:a16="http://schemas.microsoft.com/office/drawing/2014/main" id="{098D2278-64B4-4E95-9334-865E1CAD8AFE}"/>
              </a:ext>
            </a:extLst>
          </p:cNvPr>
          <p:cNvCxnSpPr/>
          <p:nvPr/>
        </p:nvCxnSpPr>
        <p:spPr>
          <a:xfrm>
            <a:off x="4905375" y="2847975"/>
            <a:ext cx="0" cy="714375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none" w="sm" len="sm"/>
          </a:ln>
        </p:spPr>
      </p:cxnSp>
      <p:cxnSp>
        <p:nvCxnSpPr>
          <p:cNvPr id="39" name="wire-162">
            <a:extLst>
              <a:ext uri="{FF2B5EF4-FFF2-40B4-BE49-F238E27FC236}">
                <a16:creationId xmlns:a16="http://schemas.microsoft.com/office/drawing/2014/main" id="{F64694FE-D285-4584-974B-E6E4D7350815}"/>
              </a:ext>
            </a:extLst>
          </p:cNvPr>
          <p:cNvCxnSpPr/>
          <p:nvPr/>
        </p:nvCxnSpPr>
        <p:spPr>
          <a:xfrm>
            <a:off x="2095500" y="4543425"/>
            <a:ext cx="323850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38" name="wire-161">
            <a:extLst>
              <a:ext uri="{FF2B5EF4-FFF2-40B4-BE49-F238E27FC236}">
                <a16:creationId xmlns:a16="http://schemas.microsoft.com/office/drawing/2014/main" id="{C0DDDF90-1C04-4EC7-85E4-E93A616E4005}"/>
              </a:ext>
            </a:extLst>
          </p:cNvPr>
          <p:cNvCxnSpPr/>
          <p:nvPr/>
        </p:nvCxnSpPr>
        <p:spPr>
          <a:xfrm>
            <a:off x="2095500" y="2809875"/>
            <a:ext cx="0" cy="173355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37" name="wire-160">
            <a:extLst>
              <a:ext uri="{FF2B5EF4-FFF2-40B4-BE49-F238E27FC236}">
                <a16:creationId xmlns:a16="http://schemas.microsoft.com/office/drawing/2014/main" id="{95381244-7D03-488B-84CD-D2D65735BA04}"/>
              </a:ext>
            </a:extLst>
          </p:cNvPr>
          <p:cNvCxnSpPr/>
          <p:nvPr/>
        </p:nvCxnSpPr>
        <p:spPr>
          <a:xfrm>
            <a:off x="1866900" y="2809875"/>
            <a:ext cx="228600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33" name="wire-156">
            <a:extLst>
              <a:ext uri="{FF2B5EF4-FFF2-40B4-BE49-F238E27FC236}">
                <a16:creationId xmlns:a16="http://schemas.microsoft.com/office/drawing/2014/main" id="{A0B88C64-FB7A-4500-8509-14A8BB5878AE}"/>
              </a:ext>
            </a:extLst>
          </p:cNvPr>
          <p:cNvCxnSpPr/>
          <p:nvPr/>
        </p:nvCxnSpPr>
        <p:spPr>
          <a:xfrm flipV="1">
            <a:off x="6524625" y="2847975"/>
            <a:ext cx="0" cy="238125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32" name="wire-155">
            <a:extLst>
              <a:ext uri="{FF2B5EF4-FFF2-40B4-BE49-F238E27FC236}">
                <a16:creationId xmlns:a16="http://schemas.microsoft.com/office/drawing/2014/main" id="{99C404E5-D8FF-4DC8-AE64-50073913686C}"/>
              </a:ext>
            </a:extLst>
          </p:cNvPr>
          <p:cNvCxnSpPr/>
          <p:nvPr/>
        </p:nvCxnSpPr>
        <p:spPr>
          <a:xfrm>
            <a:off x="6210300" y="3086100"/>
            <a:ext cx="314325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31" name="wire-154">
            <a:extLst>
              <a:ext uri="{FF2B5EF4-FFF2-40B4-BE49-F238E27FC236}">
                <a16:creationId xmlns:a16="http://schemas.microsoft.com/office/drawing/2014/main" id="{AAE007C9-C4A7-40B4-8D23-9D34E41F9C61}"/>
              </a:ext>
            </a:extLst>
          </p:cNvPr>
          <p:cNvCxnSpPr/>
          <p:nvPr/>
        </p:nvCxnSpPr>
        <p:spPr>
          <a:xfrm flipV="1">
            <a:off x="6210300" y="3086100"/>
            <a:ext cx="0" cy="20955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none" w="sm" len="sm"/>
          </a:ln>
        </p:spPr>
      </p:cxnSp>
      <p:cxnSp>
        <p:nvCxnSpPr>
          <p:cNvPr id="23" name="wire-146">
            <a:extLst>
              <a:ext uri="{FF2B5EF4-FFF2-40B4-BE49-F238E27FC236}">
                <a16:creationId xmlns:a16="http://schemas.microsoft.com/office/drawing/2014/main" id="{0DC3A479-D3AD-4E92-A80D-5971E79463A1}"/>
              </a:ext>
            </a:extLst>
          </p:cNvPr>
          <p:cNvCxnSpPr/>
          <p:nvPr/>
        </p:nvCxnSpPr>
        <p:spPr>
          <a:xfrm>
            <a:off x="6829425" y="2543175"/>
            <a:ext cx="1143000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22" name="wire-145">
            <a:extLst>
              <a:ext uri="{FF2B5EF4-FFF2-40B4-BE49-F238E27FC236}">
                <a16:creationId xmlns:a16="http://schemas.microsoft.com/office/drawing/2014/main" id="{24FAD9D1-3CCD-489C-B320-CB579AA601D9}"/>
              </a:ext>
            </a:extLst>
          </p:cNvPr>
          <p:cNvCxnSpPr/>
          <p:nvPr/>
        </p:nvCxnSpPr>
        <p:spPr>
          <a:xfrm>
            <a:off x="5200650" y="2552700"/>
            <a:ext cx="1019175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21" name="wire-144">
            <a:extLst>
              <a:ext uri="{FF2B5EF4-FFF2-40B4-BE49-F238E27FC236}">
                <a16:creationId xmlns:a16="http://schemas.microsoft.com/office/drawing/2014/main" id="{99E33B99-28D4-46BB-B4D3-6FE2AF4F2F45}"/>
              </a:ext>
            </a:extLst>
          </p:cNvPr>
          <p:cNvCxnSpPr/>
          <p:nvPr/>
        </p:nvCxnSpPr>
        <p:spPr>
          <a:xfrm>
            <a:off x="4162425" y="2571750"/>
            <a:ext cx="428625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20" name="wire-143">
            <a:extLst>
              <a:ext uri="{FF2B5EF4-FFF2-40B4-BE49-F238E27FC236}">
                <a16:creationId xmlns:a16="http://schemas.microsoft.com/office/drawing/2014/main" id="{B460DA3B-C7A4-4D5B-BA44-D1D021E26392}"/>
              </a:ext>
            </a:extLst>
          </p:cNvPr>
          <p:cNvCxnSpPr/>
          <p:nvPr/>
        </p:nvCxnSpPr>
        <p:spPr>
          <a:xfrm>
            <a:off x="1866900" y="2590800"/>
            <a:ext cx="533400" cy="0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3" name="wire-126">
            <a:extLst>
              <a:ext uri="{FF2B5EF4-FFF2-40B4-BE49-F238E27FC236}">
                <a16:creationId xmlns:a16="http://schemas.microsoft.com/office/drawing/2014/main" id="{40D49460-763E-4669-B001-2BBEA8497E19}"/>
              </a:ext>
            </a:extLst>
          </p:cNvPr>
          <p:cNvCxnSpPr/>
          <p:nvPr/>
        </p:nvCxnSpPr>
        <p:spPr>
          <a:xfrm>
            <a:off x="457200" y="1476375"/>
            <a:ext cx="11277600" cy="0"/>
          </a:xfrm>
          <a:prstGeom prst="straightConnector1">
            <a:avLst/>
          </a:prstGeom>
          <a:ln w="9525">
            <a:solidFill>
              <a:srgbClr val="CCD6E2"/>
            </a:solidFill>
            <a:prstDash val="solid"/>
            <a:tailEnd type="none" w="sm" len="sm"/>
          </a:ln>
        </p:spPr>
      </p:cxnSp>
      <p:sp>
        <p:nvSpPr>
          <p:cNvPr id="62" name="text-124">
            <a:extLst>
              <a:ext uri="{FF2B5EF4-FFF2-40B4-BE49-F238E27FC236}">
                <a16:creationId xmlns:a16="http://schemas.microsoft.com/office/drawing/2014/main" id="{085476F8-9389-42BA-9E01-5500531592FD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SAC: quét bit 1 và tính lượng dịch tích lũy</a:t>
            </a:r>
          </a:p>
        </p:txBody>
      </p:sp>
      <p:sp>
        <p:nvSpPr>
          <p:cNvPr id="2" name="text-125">
            <a:extLst>
              <a:ext uri="{FF2B5EF4-FFF2-40B4-BE49-F238E27FC236}">
                <a16:creationId xmlns:a16="http://schemas.microsoft.com/office/drawing/2014/main" id="{EDB7FF17-E043-4B16-968E-4CC4F9A5068A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sac_step_comb là tổ hợp. iter_ctrl giữ fx_q, scale_q và số vòng</a:t>
            </a:r>
          </a:p>
        </p:txBody>
      </p:sp>
      <p:sp>
        <p:nvSpPr>
          <p:cNvPr id="4" name="text-127">
            <a:extLst>
              <a:ext uri="{FF2B5EF4-FFF2-40B4-BE49-F238E27FC236}">
                <a16:creationId xmlns:a16="http://schemas.microsoft.com/office/drawing/2014/main" id="{39C0A577-553B-421C-A389-BD38F494F04B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723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sp>
        <p:nvSpPr>
          <p:cNvPr id="5" name="fx_q-128">
            <a:extLst>
              <a:ext uri="{FF2B5EF4-FFF2-40B4-BE49-F238E27FC236}">
                <a16:creationId xmlns:a16="http://schemas.microsoft.com/office/drawing/2014/main" id="{243666DE-6045-4EE3-BB39-D4701E17832F}"/>
              </a:ext>
            </a:extLst>
          </p:cNvPr>
          <p:cNvSpPr>
            <a:spLocks noGrp="1"/>
          </p:cNvSpPr>
          <p:nvPr/>
        </p:nvSpPr>
        <p:spPr>
          <a:xfrm>
            <a:off x="457200" y="2228850"/>
            <a:ext cx="1409700" cy="1133475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6" name="clock-129">
            <a:extLst>
              <a:ext uri="{FF2B5EF4-FFF2-40B4-BE49-F238E27FC236}">
                <a16:creationId xmlns:a16="http://schemas.microsoft.com/office/drawing/2014/main" id="{AC5493EA-A399-49C3-B513-164BCE204CEC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7" name="text-130">
            <a:extLst>
              <a:ext uri="{FF2B5EF4-FFF2-40B4-BE49-F238E27FC236}">
                <a16:creationId xmlns:a16="http://schemas.microsoft.com/office/drawing/2014/main" id="{DA050BC5-68A1-40D0-8C6A-90647690C1B1}"/>
              </a:ext>
            </a:extLst>
          </p:cNvPr>
          <p:cNvSpPr>
            <a:spLocks noGrp="1"/>
          </p:cNvSpPr>
          <p:nvPr/>
        </p:nvSpPr>
        <p:spPr>
          <a:xfrm>
            <a:off x="495300" y="2371725"/>
            <a:ext cx="133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fx_q</a:t>
            </a:r>
          </a:p>
        </p:txBody>
      </p:sp>
      <p:sp>
        <p:nvSpPr>
          <p:cNvPr id="8" name="text-131">
            <a:extLst>
              <a:ext uri="{FF2B5EF4-FFF2-40B4-BE49-F238E27FC236}">
                <a16:creationId xmlns:a16="http://schemas.microsoft.com/office/drawing/2014/main" id="{06BCE1ED-36BA-47A7-A008-6DE7A1EF6423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12573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 bit</a:t>
            </a:r>
          </a:p>
        </p:txBody>
      </p:sp>
      <p:sp>
        <p:nvSpPr>
          <p:cNvPr id="9" name="LOD-132">
            <a:extLst>
              <a:ext uri="{FF2B5EF4-FFF2-40B4-BE49-F238E27FC236}">
                <a16:creationId xmlns:a16="http://schemas.microsoft.com/office/drawing/2014/main" id="{AE7124BF-0221-46E0-99A7-1503CC7C5A2B}"/>
              </a:ext>
            </a:extLst>
          </p:cNvPr>
          <p:cNvSpPr>
            <a:spLocks noGrp="1"/>
          </p:cNvSpPr>
          <p:nvPr/>
        </p:nvSpPr>
        <p:spPr>
          <a:xfrm>
            <a:off x="2400300" y="2038350"/>
            <a:ext cx="1762125" cy="1066800"/>
          </a:xfrm>
          <a:prstGeom prst="rect">
            <a:avLst/>
          </a:prstGeom>
          <a:solidFill>
            <a:srgbClr val="FFF4DD"/>
          </a:solidFill>
          <a:ln w="19050">
            <a:solidFill>
              <a:srgbClr val="A76807"/>
            </a:solidFill>
          </a:ln>
        </p:spPr>
      </p:sp>
      <p:sp>
        <p:nvSpPr>
          <p:cNvPr id="10" name="text-133">
            <a:extLst>
              <a:ext uri="{FF2B5EF4-FFF2-40B4-BE49-F238E27FC236}">
                <a16:creationId xmlns:a16="http://schemas.microsoft.com/office/drawing/2014/main" id="{E5576BBC-4985-4AC2-BF63-6AC31475FB24}"/>
              </a:ext>
            </a:extLst>
          </p:cNvPr>
          <p:cNvSpPr>
            <a:spLocks noGrp="1"/>
          </p:cNvSpPr>
          <p:nvPr/>
        </p:nvSpPr>
        <p:spPr>
          <a:xfrm>
            <a:off x="2495550" y="2162175"/>
            <a:ext cx="1571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76807"/>
                </a:solidFill>
                <a:latin typeface="Arial"/>
                <a:ea typeface="Arial"/>
                <a:cs typeface="Arial"/>
              </a:rPr>
              <a:t>LOD</a:t>
            </a:r>
          </a:p>
        </p:txBody>
      </p:sp>
      <p:sp>
        <p:nvSpPr>
          <p:cNvPr id="11" name="text-134">
            <a:extLst>
              <a:ext uri="{FF2B5EF4-FFF2-40B4-BE49-F238E27FC236}">
                <a16:creationId xmlns:a16="http://schemas.microsoft.com/office/drawing/2014/main" id="{7352BF13-9817-4954-8B48-6F5CB1D789E1}"/>
              </a:ext>
            </a:extLst>
          </p:cNvPr>
          <p:cNvSpPr>
            <a:spLocks noGrp="1"/>
          </p:cNvSpPr>
          <p:nvPr/>
        </p:nvSpPr>
        <p:spPr>
          <a:xfrm>
            <a:off x="2495550" y="2533650"/>
            <a:ext cx="1571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K = clz(fx)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vld</a:t>
            </a:r>
          </a:p>
        </p:txBody>
      </p:sp>
      <p:sp>
        <p:nvSpPr>
          <p:cNvPr id="12" name="operator-135">
            <a:extLst>
              <a:ext uri="{FF2B5EF4-FFF2-40B4-BE49-F238E27FC236}">
                <a16:creationId xmlns:a16="http://schemas.microsoft.com/office/drawing/2014/main" id="{0D67E900-1A2E-4C32-ABA3-899197D572AB}"/>
              </a:ext>
            </a:extLst>
          </p:cNvPr>
          <p:cNvSpPr>
            <a:spLocks noGrp="1"/>
          </p:cNvSpPr>
          <p:nvPr/>
        </p:nvSpPr>
        <p:spPr>
          <a:xfrm>
            <a:off x="4591050" y="2238375"/>
            <a:ext cx="609600" cy="609600"/>
          </a:xfrm>
          <a:prstGeom prst="ellipse">
            <a:avLst/>
          </a:prstGeom>
          <a:solidFill>
            <a:srgbClr val="FFF4DD"/>
          </a:solidFill>
          <a:ln w="19050">
            <a:solidFill>
              <a:srgbClr val="A76807"/>
            </a:solidFill>
          </a:ln>
        </p:spPr>
      </p:sp>
      <p:sp>
        <p:nvSpPr>
          <p:cNvPr id="13" name="text-136">
            <a:extLst>
              <a:ext uri="{FF2B5EF4-FFF2-40B4-BE49-F238E27FC236}">
                <a16:creationId xmlns:a16="http://schemas.microsoft.com/office/drawing/2014/main" id="{887B01F9-AC58-444F-903D-FB62B6DB0D87}"/>
              </a:ext>
            </a:extLst>
          </p:cNvPr>
          <p:cNvSpPr>
            <a:spLocks noGrp="1"/>
          </p:cNvSpPr>
          <p:nvPr/>
        </p:nvSpPr>
        <p:spPr>
          <a:xfrm>
            <a:off x="4591050" y="2238375"/>
            <a:ext cx="609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2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807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14" name="operator-137">
            <a:extLst>
              <a:ext uri="{FF2B5EF4-FFF2-40B4-BE49-F238E27FC236}">
                <a16:creationId xmlns:a16="http://schemas.microsoft.com/office/drawing/2014/main" id="{7C68C6D7-794B-4585-BE39-3F1E65566ABE}"/>
              </a:ext>
            </a:extLst>
          </p:cNvPr>
          <p:cNvSpPr>
            <a:spLocks noGrp="1"/>
          </p:cNvSpPr>
          <p:nvPr/>
        </p:nvSpPr>
        <p:spPr>
          <a:xfrm>
            <a:off x="6219825" y="2238375"/>
            <a:ext cx="609600" cy="609600"/>
          </a:xfrm>
          <a:prstGeom prst="ellipse">
            <a:avLst/>
          </a:prstGeom>
          <a:solidFill>
            <a:srgbClr val="FFF4DD"/>
          </a:solidFill>
          <a:ln w="19050">
            <a:solidFill>
              <a:srgbClr val="A76807"/>
            </a:solidFill>
          </a:ln>
        </p:spPr>
      </p:sp>
      <p:sp>
        <p:nvSpPr>
          <p:cNvPr id="15" name="text-138">
            <a:extLst>
              <a:ext uri="{FF2B5EF4-FFF2-40B4-BE49-F238E27FC236}">
                <a16:creationId xmlns:a16="http://schemas.microsoft.com/office/drawing/2014/main" id="{703BB494-F8C6-4E51-A8BB-DC0D3086A676}"/>
              </a:ext>
            </a:extLst>
          </p:cNvPr>
          <p:cNvSpPr>
            <a:spLocks noGrp="1"/>
          </p:cNvSpPr>
          <p:nvPr/>
        </p:nvSpPr>
        <p:spPr>
          <a:xfrm>
            <a:off x="6219825" y="2238375"/>
            <a:ext cx="609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8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7680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6" name="R1-139">
            <a:extLst>
              <a:ext uri="{FF2B5EF4-FFF2-40B4-BE49-F238E27FC236}">
                <a16:creationId xmlns:a16="http://schemas.microsoft.com/office/drawing/2014/main" id="{E768DA42-A186-48E9-89C4-669B17B8425A}"/>
              </a:ext>
            </a:extLst>
          </p:cNvPr>
          <p:cNvSpPr>
            <a:spLocks noGrp="1"/>
          </p:cNvSpPr>
          <p:nvPr/>
        </p:nvSpPr>
        <p:spPr>
          <a:xfrm>
            <a:off x="7972425" y="2228850"/>
            <a:ext cx="1476375" cy="1133475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17" name="clock-140">
            <a:extLst>
              <a:ext uri="{FF2B5EF4-FFF2-40B4-BE49-F238E27FC236}">
                <a16:creationId xmlns:a16="http://schemas.microsoft.com/office/drawing/2014/main" id="{D444DDCC-6303-4669-8A25-06E0E93BF495}"/>
              </a:ext>
            </a:extLst>
          </p:cNvPr>
          <p:cNvSpPr>
            <a:spLocks noGrp="1"/>
          </p:cNvSpPr>
          <p:nvPr/>
        </p:nvSpPr>
        <p:spPr>
          <a:xfrm>
            <a:off x="7972425" y="3143250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18" name="text-141">
            <a:extLst>
              <a:ext uri="{FF2B5EF4-FFF2-40B4-BE49-F238E27FC236}">
                <a16:creationId xmlns:a16="http://schemas.microsoft.com/office/drawing/2014/main" id="{3D5792F4-7A92-4283-A99D-04E5E66C8F54}"/>
              </a:ext>
            </a:extLst>
          </p:cNvPr>
          <p:cNvSpPr>
            <a:spLocks noGrp="1"/>
          </p:cNvSpPr>
          <p:nvPr/>
        </p:nvSpPr>
        <p:spPr>
          <a:xfrm>
            <a:off x="8010525" y="2371725"/>
            <a:ext cx="1400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19" name="text-142">
            <a:extLst>
              <a:ext uri="{FF2B5EF4-FFF2-40B4-BE49-F238E27FC236}">
                <a16:creationId xmlns:a16="http://schemas.microsoft.com/office/drawing/2014/main" id="{A347DC4B-03FA-4F4D-B609-0178958F88F3}"/>
              </a:ext>
            </a:extLst>
          </p:cNvPr>
          <p:cNvSpPr>
            <a:spLocks noGrp="1"/>
          </p:cNvSpPr>
          <p:nvPr/>
        </p:nvSpPr>
        <p:spPr>
          <a:xfrm>
            <a:off x="8048625" y="2724150"/>
            <a:ext cx="13239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scale = S</a:t>
            </a:r>
          </a:p>
        </p:txBody>
      </p:sp>
      <p:sp>
        <p:nvSpPr>
          <p:cNvPr id="24" name="text-147">
            <a:extLst>
              <a:ext uri="{FF2B5EF4-FFF2-40B4-BE49-F238E27FC236}">
                <a16:creationId xmlns:a16="http://schemas.microsoft.com/office/drawing/2014/main" id="{42402BFC-6245-4DFF-842B-7FC9584CA0A6}"/>
              </a:ext>
            </a:extLst>
          </p:cNvPr>
          <p:cNvSpPr>
            <a:spLocks noGrp="1"/>
          </p:cNvSpPr>
          <p:nvPr/>
        </p:nvSpPr>
        <p:spPr>
          <a:xfrm>
            <a:off x="4162425" y="2076450"/>
            <a:ext cx="419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5" name="text-148">
            <a:extLst>
              <a:ext uri="{FF2B5EF4-FFF2-40B4-BE49-F238E27FC236}">
                <a16:creationId xmlns:a16="http://schemas.microsoft.com/office/drawing/2014/main" id="{AE04993B-A870-4BC2-9FC8-618B08A3A305}"/>
              </a:ext>
            </a:extLst>
          </p:cNvPr>
          <p:cNvSpPr>
            <a:spLocks noGrp="1"/>
          </p:cNvSpPr>
          <p:nvPr/>
        </p:nvSpPr>
        <p:spPr>
          <a:xfrm>
            <a:off x="5248275" y="2076450"/>
            <a:ext cx="9239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sa</a:t>
            </a:r>
          </a:p>
        </p:txBody>
      </p:sp>
      <p:sp>
        <p:nvSpPr>
          <p:cNvPr id="26" name="text-149">
            <a:extLst>
              <a:ext uri="{FF2B5EF4-FFF2-40B4-BE49-F238E27FC236}">
                <a16:creationId xmlns:a16="http://schemas.microsoft.com/office/drawing/2014/main" id="{77371814-7440-4717-888C-D3791D8540CF}"/>
              </a:ext>
            </a:extLst>
          </p:cNvPr>
          <p:cNvSpPr>
            <a:spLocks noGrp="1"/>
          </p:cNvSpPr>
          <p:nvPr/>
        </p:nvSpPr>
        <p:spPr>
          <a:xfrm>
            <a:off x="6838950" y="2076450"/>
            <a:ext cx="10763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S_next</a:t>
            </a:r>
          </a:p>
        </p:txBody>
      </p:sp>
      <p:sp>
        <p:nvSpPr>
          <p:cNvPr id="27" name="scale_q-150">
            <a:extLst>
              <a:ext uri="{FF2B5EF4-FFF2-40B4-BE49-F238E27FC236}">
                <a16:creationId xmlns:a16="http://schemas.microsoft.com/office/drawing/2014/main" id="{82AFA7E9-1404-449A-ACCE-33BC72994821}"/>
              </a:ext>
            </a:extLst>
          </p:cNvPr>
          <p:cNvSpPr>
            <a:spLocks noGrp="1"/>
          </p:cNvSpPr>
          <p:nvPr/>
        </p:nvSpPr>
        <p:spPr>
          <a:xfrm>
            <a:off x="5372100" y="3295650"/>
            <a:ext cx="1685925" cy="1066800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28" name="clock-151">
            <a:extLst>
              <a:ext uri="{FF2B5EF4-FFF2-40B4-BE49-F238E27FC236}">
                <a16:creationId xmlns:a16="http://schemas.microsoft.com/office/drawing/2014/main" id="{0DFFB4F8-6556-4D1F-BF5F-104FF3C08E1C}"/>
              </a:ext>
            </a:extLst>
          </p:cNvPr>
          <p:cNvSpPr>
            <a:spLocks noGrp="1"/>
          </p:cNvSpPr>
          <p:nvPr/>
        </p:nvSpPr>
        <p:spPr>
          <a:xfrm>
            <a:off x="5372100" y="4143375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29" name="text-152">
            <a:extLst>
              <a:ext uri="{FF2B5EF4-FFF2-40B4-BE49-F238E27FC236}">
                <a16:creationId xmlns:a16="http://schemas.microsoft.com/office/drawing/2014/main" id="{D228811C-E9AC-4D13-B68E-891033817958}"/>
              </a:ext>
            </a:extLst>
          </p:cNvPr>
          <p:cNvSpPr>
            <a:spLocks noGrp="1"/>
          </p:cNvSpPr>
          <p:nvPr/>
        </p:nvSpPr>
        <p:spPr>
          <a:xfrm>
            <a:off x="5410200" y="3438525"/>
            <a:ext cx="1609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scale_q</a:t>
            </a:r>
          </a:p>
        </p:txBody>
      </p:sp>
      <p:sp>
        <p:nvSpPr>
          <p:cNvPr id="30" name="text-153">
            <a:extLst>
              <a:ext uri="{FF2B5EF4-FFF2-40B4-BE49-F238E27FC236}">
                <a16:creationId xmlns:a16="http://schemas.microsoft.com/office/drawing/2014/main" id="{3E05F325-EBD9-4EEF-A579-B0D89C422DD5}"/>
              </a:ext>
            </a:extLst>
          </p:cNvPr>
          <p:cNvSpPr>
            <a:spLocks noGrp="1"/>
          </p:cNvSpPr>
          <p:nvPr/>
        </p:nvSpPr>
        <p:spPr>
          <a:xfrm>
            <a:off x="5448300" y="3790950"/>
            <a:ext cx="15335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 hiện tại</a:t>
            </a:r>
          </a:p>
        </p:txBody>
      </p:sp>
      <p:sp>
        <p:nvSpPr>
          <p:cNvPr id="34" name="Dịch trái-157">
            <a:extLst>
              <a:ext uri="{FF2B5EF4-FFF2-40B4-BE49-F238E27FC236}">
                <a16:creationId xmlns:a16="http://schemas.microsoft.com/office/drawing/2014/main" id="{CA7A4E30-6A2D-4447-A4AB-A59620B8970C}"/>
              </a:ext>
            </a:extLst>
          </p:cNvPr>
          <p:cNvSpPr>
            <a:spLocks noGrp="1"/>
          </p:cNvSpPr>
          <p:nvPr/>
        </p:nvSpPr>
        <p:spPr>
          <a:xfrm>
            <a:off x="2419350" y="4095750"/>
            <a:ext cx="2686050" cy="1009650"/>
          </a:xfrm>
          <a:prstGeom prst="rect">
            <a:avLst/>
          </a:prstGeom>
          <a:solidFill>
            <a:srgbClr val="FFF4DD"/>
          </a:solidFill>
          <a:ln w="19050">
            <a:solidFill>
              <a:srgbClr val="A76807"/>
            </a:solidFill>
          </a:ln>
        </p:spPr>
      </p:sp>
      <p:sp>
        <p:nvSpPr>
          <p:cNvPr id="35" name="text-158">
            <a:extLst>
              <a:ext uri="{FF2B5EF4-FFF2-40B4-BE49-F238E27FC236}">
                <a16:creationId xmlns:a16="http://schemas.microsoft.com/office/drawing/2014/main" id="{A30A9632-1570-45EF-96EF-DB7E958A3D7B}"/>
              </a:ext>
            </a:extLst>
          </p:cNvPr>
          <p:cNvSpPr>
            <a:spLocks noGrp="1"/>
          </p:cNvSpPr>
          <p:nvPr/>
        </p:nvSpPr>
        <p:spPr>
          <a:xfrm>
            <a:off x="2514600" y="4219575"/>
            <a:ext cx="2495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76807"/>
                </a:solidFill>
                <a:latin typeface="Arial"/>
                <a:ea typeface="Arial"/>
                <a:cs typeface="Arial"/>
              </a:rPr>
              <a:t>Dịch trái</a:t>
            </a:r>
          </a:p>
        </p:txBody>
      </p:sp>
      <p:sp>
        <p:nvSpPr>
          <p:cNvPr id="36" name="text-159">
            <a:extLst>
              <a:ext uri="{FF2B5EF4-FFF2-40B4-BE49-F238E27FC236}">
                <a16:creationId xmlns:a16="http://schemas.microsoft.com/office/drawing/2014/main" id="{FA9AAD27-AA1B-4145-93C0-3A60767F4D9D}"/>
              </a:ext>
            </a:extLst>
          </p:cNvPr>
          <p:cNvSpPr>
            <a:spLocks noGrp="1"/>
          </p:cNvSpPr>
          <p:nvPr/>
        </p:nvSpPr>
        <p:spPr>
          <a:xfrm>
            <a:off x="2514600" y="4591050"/>
            <a:ext cx="2495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fx_next = fx &lt;&lt; sa</a:t>
            </a:r>
          </a:p>
        </p:txBody>
      </p:sp>
      <p:sp>
        <p:nvSpPr>
          <p:cNvPr id="47" name="text-170">
            <a:extLst>
              <a:ext uri="{FF2B5EF4-FFF2-40B4-BE49-F238E27FC236}">
                <a16:creationId xmlns:a16="http://schemas.microsoft.com/office/drawing/2014/main" id="{1BF1D76A-5E24-4D82-90D3-8C1084180206}"/>
              </a:ext>
            </a:extLst>
          </p:cNvPr>
          <p:cNvSpPr>
            <a:spLocks noGrp="1"/>
          </p:cNvSpPr>
          <p:nvPr/>
        </p:nvSpPr>
        <p:spPr>
          <a:xfrm>
            <a:off x="2171700" y="5514975"/>
            <a:ext cx="4171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fx_next cập nhật ở cạnh clock</a:t>
            </a:r>
          </a:p>
        </p:txBody>
      </p:sp>
      <p:sp>
        <p:nvSpPr>
          <p:cNvPr id="50" name="text-173">
            <a:extLst>
              <a:ext uri="{FF2B5EF4-FFF2-40B4-BE49-F238E27FC236}">
                <a16:creationId xmlns:a16="http://schemas.microsoft.com/office/drawing/2014/main" id="{FFC9DDEC-F934-4730-9723-50A773BB15DA}"/>
              </a:ext>
            </a:extLst>
          </p:cNvPr>
          <p:cNvSpPr>
            <a:spLocks noGrp="1"/>
          </p:cNvSpPr>
          <p:nvPr/>
        </p:nvSpPr>
        <p:spPr>
          <a:xfrm>
            <a:off x="7115175" y="36671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S_next</a:t>
            </a:r>
          </a:p>
        </p:txBody>
      </p:sp>
      <p:sp>
        <p:nvSpPr>
          <p:cNvPr id="51" name="Kiểm tra-174">
            <a:extLst>
              <a:ext uri="{FF2B5EF4-FFF2-40B4-BE49-F238E27FC236}">
                <a16:creationId xmlns:a16="http://schemas.microsoft.com/office/drawing/2014/main" id="{F1C09432-C1B5-4C3D-92BF-FAD9D378C589}"/>
              </a:ext>
            </a:extLst>
          </p:cNvPr>
          <p:cNvSpPr>
            <a:spLocks noGrp="1"/>
          </p:cNvSpPr>
          <p:nvPr/>
        </p:nvSpPr>
        <p:spPr>
          <a:xfrm>
            <a:off x="9877425" y="2209800"/>
            <a:ext cx="1857375" cy="1314450"/>
          </a:xfrm>
          <a:prstGeom prst="rect">
            <a:avLst/>
          </a:prstGeom>
          <a:solidFill>
            <a:srgbClr val="EEF2F7"/>
          </a:solidFill>
          <a:ln w="19050">
            <a:solidFill>
              <a:srgbClr val="425672"/>
            </a:solidFill>
          </a:ln>
        </p:spPr>
      </p:sp>
      <p:sp>
        <p:nvSpPr>
          <p:cNvPr id="52" name="text-175">
            <a:extLst>
              <a:ext uri="{FF2B5EF4-FFF2-40B4-BE49-F238E27FC236}">
                <a16:creationId xmlns:a16="http://schemas.microsoft.com/office/drawing/2014/main" id="{331D47C4-5DC0-49BF-8BD8-7396D2E6723C}"/>
              </a:ext>
            </a:extLst>
          </p:cNvPr>
          <p:cNvSpPr>
            <a:spLocks noGrp="1"/>
          </p:cNvSpPr>
          <p:nvPr/>
        </p:nvSpPr>
        <p:spPr>
          <a:xfrm>
            <a:off x="9972675" y="2333625"/>
            <a:ext cx="1666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42567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4256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5672"/>
                </a:solidFill>
                <a:latin typeface="Arial"/>
                <a:ea typeface="Arial"/>
                <a:cs typeface="Arial"/>
              </a:rPr>
              <a:t>Kiểm tra</a:t>
            </a:r>
          </a:p>
        </p:txBody>
      </p:sp>
      <p:sp>
        <p:nvSpPr>
          <p:cNvPr id="53" name="text-176">
            <a:extLst>
              <a:ext uri="{FF2B5EF4-FFF2-40B4-BE49-F238E27FC236}">
                <a16:creationId xmlns:a16="http://schemas.microsoft.com/office/drawing/2014/main" id="{7962F7D3-1CB6-4C3D-993F-956527771091}"/>
              </a:ext>
            </a:extLst>
          </p:cNvPr>
          <p:cNvSpPr>
            <a:spLocks noGrp="1"/>
          </p:cNvSpPr>
          <p:nvPr/>
        </p:nvSpPr>
        <p:spPr>
          <a:xfrm>
            <a:off x="9972675" y="2705100"/>
            <a:ext cx="16668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S_next ≤ W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fx_next == 0</a:t>
            </a:r>
          </a:p>
        </p:txBody>
      </p:sp>
      <p:sp>
        <p:nvSpPr>
          <p:cNvPr id="61" name="text-184">
            <a:extLst>
              <a:ext uri="{FF2B5EF4-FFF2-40B4-BE49-F238E27FC236}">
                <a16:creationId xmlns:a16="http://schemas.microsoft.com/office/drawing/2014/main" id="{7E0E8705-B173-4A4D-BEBC-D44B2C1D9EE5}"/>
              </a:ext>
            </a:extLst>
          </p:cNvPr>
          <p:cNvSpPr>
            <a:spLocks noGrp="1"/>
          </p:cNvSpPr>
          <p:nvPr/>
        </p:nvSpPr>
        <p:spPr>
          <a:xfrm>
            <a:off x="457200" y="6086475"/>
            <a:ext cx="95250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sa = K + 1       S_next = S + sa</a:t>
            </a:r>
          </a:p>
        </p:txBody>
      </p:sp>
    </p:spTree>
    <p:extLst>
      <p:ext uri="{BB962C8B-B14F-4D97-AF65-F5344CB8AC3E}">
        <p14:creationId xmlns:p14="http://schemas.microsoft.com/office/powerpoint/2010/main" val="2137789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wire-221">
            <a:extLst>
              <a:ext uri="{FF2B5EF4-FFF2-40B4-BE49-F238E27FC236}">
                <a16:creationId xmlns:a16="http://schemas.microsoft.com/office/drawing/2014/main" id="{CEA226D8-B9B6-4DCC-8FEC-F3B494E6B422}"/>
              </a:ext>
            </a:extLst>
          </p:cNvPr>
          <p:cNvCxnSpPr/>
          <p:nvPr/>
        </p:nvCxnSpPr>
        <p:spPr>
          <a:xfrm flipV="1">
            <a:off x="11001375" y="3714750"/>
            <a:ext cx="0" cy="942975"/>
          </a:xfrm>
          <a:prstGeom prst="straightConnector1">
            <a:avLst/>
          </a:prstGeom>
          <a:ln w="23813">
            <a:solidFill>
              <a:srgbClr val="B44A3A"/>
            </a:solidFill>
            <a:prstDash val="solid"/>
            <a:tailEnd type="triangle" w="sm" len="sm"/>
          </a:ln>
        </p:spPr>
      </p:cxnSp>
      <p:cxnSp>
        <p:nvCxnSpPr>
          <p:cNvPr id="36" name="wire-220">
            <a:extLst>
              <a:ext uri="{FF2B5EF4-FFF2-40B4-BE49-F238E27FC236}">
                <a16:creationId xmlns:a16="http://schemas.microsoft.com/office/drawing/2014/main" id="{AB402801-87F4-4C84-8279-6B903CAF32D7}"/>
              </a:ext>
            </a:extLst>
          </p:cNvPr>
          <p:cNvCxnSpPr/>
          <p:nvPr/>
        </p:nvCxnSpPr>
        <p:spPr>
          <a:xfrm>
            <a:off x="8915400" y="4657725"/>
            <a:ext cx="2085975" cy="0"/>
          </a:xfrm>
          <a:prstGeom prst="straightConnector1">
            <a:avLst/>
          </a:prstGeom>
          <a:ln w="23813">
            <a:solidFill>
              <a:srgbClr val="B44A3A"/>
            </a:solidFill>
            <a:prstDash val="solid"/>
            <a:tailEnd type="none" w="sm" len="sm"/>
          </a:ln>
        </p:spPr>
      </p:cxnSp>
      <p:cxnSp>
        <p:nvCxnSpPr>
          <p:cNvPr id="35" name="wire-219">
            <a:extLst>
              <a:ext uri="{FF2B5EF4-FFF2-40B4-BE49-F238E27FC236}">
                <a16:creationId xmlns:a16="http://schemas.microsoft.com/office/drawing/2014/main" id="{39054A3E-01DD-4DE7-B358-D23D529779C3}"/>
              </a:ext>
            </a:extLst>
          </p:cNvPr>
          <p:cNvCxnSpPr/>
          <p:nvPr/>
        </p:nvCxnSpPr>
        <p:spPr>
          <a:xfrm>
            <a:off x="6162675" y="4657725"/>
            <a:ext cx="285750" cy="0"/>
          </a:xfrm>
          <a:prstGeom prst="straightConnector1">
            <a:avLst/>
          </a:prstGeom>
          <a:ln w="23813">
            <a:solidFill>
              <a:srgbClr val="B44A3A"/>
            </a:solidFill>
            <a:prstDash val="solid"/>
            <a:tailEnd type="triangle" w="sm" len="sm"/>
          </a:ln>
        </p:spPr>
      </p:cxnSp>
      <p:cxnSp>
        <p:nvCxnSpPr>
          <p:cNvPr id="34" name="wire-218">
            <a:extLst>
              <a:ext uri="{FF2B5EF4-FFF2-40B4-BE49-F238E27FC236}">
                <a16:creationId xmlns:a16="http://schemas.microsoft.com/office/drawing/2014/main" id="{792BC464-42F3-40F7-9742-7F2A90266096}"/>
              </a:ext>
            </a:extLst>
          </p:cNvPr>
          <p:cNvCxnSpPr/>
          <p:nvPr/>
        </p:nvCxnSpPr>
        <p:spPr>
          <a:xfrm>
            <a:off x="6162675" y="3743325"/>
            <a:ext cx="0" cy="914400"/>
          </a:xfrm>
          <a:prstGeom prst="straightConnector1">
            <a:avLst/>
          </a:prstGeom>
          <a:ln w="23813">
            <a:solidFill>
              <a:srgbClr val="B44A3A"/>
            </a:solidFill>
            <a:prstDash val="solid"/>
            <a:tailEnd type="none" w="sm" len="sm"/>
          </a:ln>
        </p:spPr>
      </p:cxnSp>
      <p:cxnSp>
        <p:nvCxnSpPr>
          <p:cNvPr id="29" name="wire-213">
            <a:extLst>
              <a:ext uri="{FF2B5EF4-FFF2-40B4-BE49-F238E27FC236}">
                <a16:creationId xmlns:a16="http://schemas.microsoft.com/office/drawing/2014/main" id="{F1098065-76C9-4A47-B049-5D273AE7C6D8}"/>
              </a:ext>
            </a:extLst>
          </p:cNvPr>
          <p:cNvCxnSpPr/>
          <p:nvPr/>
        </p:nvCxnSpPr>
        <p:spPr>
          <a:xfrm>
            <a:off x="3314700" y="5334000"/>
            <a:ext cx="8420100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28" name="wire-212">
            <a:extLst>
              <a:ext uri="{FF2B5EF4-FFF2-40B4-BE49-F238E27FC236}">
                <a16:creationId xmlns:a16="http://schemas.microsoft.com/office/drawing/2014/main" id="{917E0EF5-5C9B-4315-8589-869DA8D1F550}"/>
              </a:ext>
            </a:extLst>
          </p:cNvPr>
          <p:cNvCxnSpPr/>
          <p:nvPr/>
        </p:nvCxnSpPr>
        <p:spPr>
          <a:xfrm>
            <a:off x="3314700" y="3743325"/>
            <a:ext cx="0" cy="1590675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26" name="wire-210">
            <a:extLst>
              <a:ext uri="{FF2B5EF4-FFF2-40B4-BE49-F238E27FC236}">
                <a16:creationId xmlns:a16="http://schemas.microsoft.com/office/drawing/2014/main" id="{43378931-D34E-4B96-AE05-4DC8C9C9D29A}"/>
              </a:ext>
            </a:extLst>
          </p:cNvPr>
          <p:cNvCxnSpPr/>
          <p:nvPr/>
        </p:nvCxnSpPr>
        <p:spPr>
          <a:xfrm>
            <a:off x="6029325" y="1847850"/>
            <a:ext cx="0" cy="657225"/>
          </a:xfrm>
          <a:prstGeom prst="straightConnector1">
            <a:avLst/>
          </a:prstGeom>
          <a:ln w="23813">
            <a:solidFill>
              <a:srgbClr val="A76807"/>
            </a:solidFill>
            <a:prstDash val="solid"/>
            <a:tailEnd type="triangle" w="sm" len="sm"/>
          </a:ln>
        </p:spPr>
      </p:cxnSp>
      <p:cxnSp>
        <p:nvCxnSpPr>
          <p:cNvPr id="25" name="wire-209">
            <a:extLst>
              <a:ext uri="{FF2B5EF4-FFF2-40B4-BE49-F238E27FC236}">
                <a16:creationId xmlns:a16="http://schemas.microsoft.com/office/drawing/2014/main" id="{5661A07F-3CEF-431F-9E68-AFEEDDFB4745}"/>
              </a:ext>
            </a:extLst>
          </p:cNvPr>
          <p:cNvCxnSpPr/>
          <p:nvPr/>
        </p:nvCxnSpPr>
        <p:spPr>
          <a:xfrm>
            <a:off x="9801225" y="3143250"/>
            <a:ext cx="46672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24" name="wire-208">
            <a:extLst>
              <a:ext uri="{FF2B5EF4-FFF2-40B4-BE49-F238E27FC236}">
                <a16:creationId xmlns:a16="http://schemas.microsoft.com/office/drawing/2014/main" id="{672BFA69-F77A-4DA6-8D56-ECEDAF2B1EDD}"/>
              </a:ext>
            </a:extLst>
          </p:cNvPr>
          <p:cNvCxnSpPr/>
          <p:nvPr/>
        </p:nvCxnSpPr>
        <p:spPr>
          <a:xfrm>
            <a:off x="7191375" y="3143250"/>
            <a:ext cx="476250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23" name="wire-207">
            <a:extLst>
              <a:ext uri="{FF2B5EF4-FFF2-40B4-BE49-F238E27FC236}">
                <a16:creationId xmlns:a16="http://schemas.microsoft.com/office/drawing/2014/main" id="{98788DD6-651C-4CA4-97E4-A441F437CC0D}"/>
              </a:ext>
            </a:extLst>
          </p:cNvPr>
          <p:cNvCxnSpPr/>
          <p:nvPr/>
        </p:nvCxnSpPr>
        <p:spPr>
          <a:xfrm>
            <a:off x="4400550" y="3143250"/>
            <a:ext cx="50482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22" name="wire-206">
            <a:extLst>
              <a:ext uri="{FF2B5EF4-FFF2-40B4-BE49-F238E27FC236}">
                <a16:creationId xmlns:a16="http://schemas.microsoft.com/office/drawing/2014/main" id="{955BC473-18FF-4D91-ABD7-2FBCAA7FEA3D}"/>
              </a:ext>
            </a:extLst>
          </p:cNvPr>
          <p:cNvCxnSpPr/>
          <p:nvPr/>
        </p:nvCxnSpPr>
        <p:spPr>
          <a:xfrm>
            <a:off x="1733550" y="3143250"/>
            <a:ext cx="42862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3" name="wire-187">
            <a:extLst>
              <a:ext uri="{FF2B5EF4-FFF2-40B4-BE49-F238E27FC236}">
                <a16:creationId xmlns:a16="http://schemas.microsoft.com/office/drawing/2014/main" id="{33039718-CBB8-4564-893A-0755AC7DA739}"/>
              </a:ext>
            </a:extLst>
          </p:cNvPr>
          <p:cNvCxnSpPr/>
          <p:nvPr/>
        </p:nvCxnSpPr>
        <p:spPr>
          <a:xfrm>
            <a:off x="457200" y="1476375"/>
            <a:ext cx="11277600" cy="0"/>
          </a:xfrm>
          <a:prstGeom prst="straightConnector1">
            <a:avLst/>
          </a:prstGeom>
          <a:ln w="9525">
            <a:solidFill>
              <a:srgbClr val="CCD6E2"/>
            </a:solidFill>
            <a:prstDash val="solid"/>
            <a:tailEnd type="none" w="sm" len="sm"/>
          </a:ln>
        </p:spPr>
      </p:cxnSp>
      <p:sp>
        <p:nvSpPr>
          <p:cNvPr id="40" name="text-185">
            <a:extLst>
              <a:ext uri="{FF2B5EF4-FFF2-40B4-BE49-F238E27FC236}">
                <a16:creationId xmlns:a16="http://schemas.microsoft.com/office/drawing/2014/main" id="{A5AFDFF3-EFA6-4EEB-8356-5224BB1DB936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SBM Shift: tạo số hạng trên cùng lưới tích lũy</a:t>
            </a:r>
          </a:p>
        </p:txBody>
      </p:sp>
      <p:sp>
        <p:nvSpPr>
          <p:cNvPr id="2" name="text-186">
            <a:extLst>
              <a:ext uri="{FF2B5EF4-FFF2-40B4-BE49-F238E27FC236}">
                <a16:creationId xmlns:a16="http://schemas.microsoft.com/office/drawing/2014/main" id="{A85DDDBE-B24B-4FB4-A8D9-0780E5B4E1F9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Profile FLOOR: cắt từng term về12 bit fraction trước khi cộng</a:t>
            </a:r>
          </a:p>
        </p:txBody>
      </p:sp>
      <p:sp>
        <p:nvSpPr>
          <p:cNvPr id="4" name="text-188">
            <a:extLst>
              <a:ext uri="{FF2B5EF4-FFF2-40B4-BE49-F238E27FC236}">
                <a16:creationId xmlns:a16="http://schemas.microsoft.com/office/drawing/2014/main" id="{E17D8C97-96E5-4616-974A-AF6AF356C824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723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5" name="y_q-189">
            <a:extLst>
              <a:ext uri="{FF2B5EF4-FFF2-40B4-BE49-F238E27FC236}">
                <a16:creationId xmlns:a16="http://schemas.microsoft.com/office/drawing/2014/main" id="{A0ACE4FF-13B0-4216-A758-0925E8E9CB9C}"/>
              </a:ext>
            </a:extLst>
          </p:cNvPr>
          <p:cNvSpPr>
            <a:spLocks noGrp="1"/>
          </p:cNvSpPr>
          <p:nvPr/>
        </p:nvSpPr>
        <p:spPr>
          <a:xfrm>
            <a:off x="457200" y="2590800"/>
            <a:ext cx="1276350" cy="1133475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6" name="clock-190">
            <a:extLst>
              <a:ext uri="{FF2B5EF4-FFF2-40B4-BE49-F238E27FC236}">
                <a16:creationId xmlns:a16="http://schemas.microsoft.com/office/drawing/2014/main" id="{54FFD882-52DA-400D-8345-32A8C513BC91}"/>
              </a:ext>
            </a:extLst>
          </p:cNvPr>
          <p:cNvSpPr>
            <a:spLocks noGrp="1"/>
          </p:cNvSpPr>
          <p:nvPr/>
        </p:nvSpPr>
        <p:spPr>
          <a:xfrm>
            <a:off x="457200" y="3505200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7" name="text-191">
            <a:extLst>
              <a:ext uri="{FF2B5EF4-FFF2-40B4-BE49-F238E27FC236}">
                <a16:creationId xmlns:a16="http://schemas.microsoft.com/office/drawing/2014/main" id="{9A3F3492-BF00-4A79-9493-503B71F603E2}"/>
              </a:ext>
            </a:extLst>
          </p:cNvPr>
          <p:cNvSpPr>
            <a:spLocks noGrp="1"/>
          </p:cNvSpPr>
          <p:nvPr/>
        </p:nvSpPr>
        <p:spPr>
          <a:xfrm>
            <a:off x="495300" y="2733675"/>
            <a:ext cx="1200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y_q</a:t>
            </a:r>
          </a:p>
        </p:txBody>
      </p:sp>
      <p:sp>
        <p:nvSpPr>
          <p:cNvPr id="8" name="text-192">
            <a:extLst>
              <a:ext uri="{FF2B5EF4-FFF2-40B4-BE49-F238E27FC236}">
                <a16:creationId xmlns:a16="http://schemas.microsoft.com/office/drawing/2014/main" id="{0A8D3E39-0581-4FD7-B87E-B5F61EF3A33F}"/>
              </a:ext>
            </a:extLst>
          </p:cNvPr>
          <p:cNvSpPr>
            <a:spLocks noGrp="1"/>
          </p:cNvSpPr>
          <p:nvPr/>
        </p:nvSpPr>
        <p:spPr>
          <a:xfrm>
            <a:off x="533400" y="3086100"/>
            <a:ext cx="11239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27 bit</a:t>
            </a:r>
          </a:p>
        </p:txBody>
      </p:sp>
      <p:sp>
        <p:nvSpPr>
          <p:cNvPr id="9" name="Căn lưới-193">
            <a:extLst>
              <a:ext uri="{FF2B5EF4-FFF2-40B4-BE49-F238E27FC236}">
                <a16:creationId xmlns:a16="http://schemas.microsoft.com/office/drawing/2014/main" id="{01A1747E-7520-477B-BE34-F9600E4D9BED}"/>
              </a:ext>
            </a:extLst>
          </p:cNvPr>
          <p:cNvSpPr>
            <a:spLocks noGrp="1"/>
          </p:cNvSpPr>
          <p:nvPr/>
        </p:nvSpPr>
        <p:spPr>
          <a:xfrm>
            <a:off x="2162175" y="2505075"/>
            <a:ext cx="2238375" cy="1238250"/>
          </a:xfrm>
          <a:prstGeom prst="rect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10" name="text-194">
            <a:extLst>
              <a:ext uri="{FF2B5EF4-FFF2-40B4-BE49-F238E27FC236}">
                <a16:creationId xmlns:a16="http://schemas.microsoft.com/office/drawing/2014/main" id="{452A9BA3-BC03-435C-8663-5FC72DD55895}"/>
              </a:ext>
            </a:extLst>
          </p:cNvPr>
          <p:cNvSpPr>
            <a:spLocks noGrp="1"/>
          </p:cNvSpPr>
          <p:nvPr/>
        </p:nvSpPr>
        <p:spPr>
          <a:xfrm>
            <a:off x="2257425" y="2628900"/>
            <a:ext cx="20478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Căn lưới</a:t>
            </a:r>
          </a:p>
        </p:txBody>
      </p:sp>
      <p:sp>
        <p:nvSpPr>
          <p:cNvPr id="11" name="text-195">
            <a:extLst>
              <a:ext uri="{FF2B5EF4-FFF2-40B4-BE49-F238E27FC236}">
                <a16:creationId xmlns:a16="http://schemas.microsoft.com/office/drawing/2014/main" id="{9824DC27-994B-4104-8D6C-4B3C1F7AC48C}"/>
              </a:ext>
            </a:extLst>
          </p:cNvPr>
          <p:cNvSpPr>
            <a:spLocks noGrp="1"/>
          </p:cNvSpPr>
          <p:nvPr/>
        </p:nvSpPr>
        <p:spPr>
          <a:xfrm>
            <a:off x="2257425" y="3000375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Approx: &lt;&lt; 2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Exact: &lt;&lt; 26</a:t>
            </a:r>
          </a:p>
        </p:txBody>
      </p:sp>
      <p:sp>
        <p:nvSpPr>
          <p:cNvPr id="12" name="Dịch phải-196">
            <a:extLst>
              <a:ext uri="{FF2B5EF4-FFF2-40B4-BE49-F238E27FC236}">
                <a16:creationId xmlns:a16="http://schemas.microsoft.com/office/drawing/2014/main" id="{37E94A35-6817-4FDC-A444-4108C7D6B22E}"/>
              </a:ext>
            </a:extLst>
          </p:cNvPr>
          <p:cNvSpPr>
            <a:spLocks noGrp="1"/>
          </p:cNvSpPr>
          <p:nvPr/>
        </p:nvSpPr>
        <p:spPr>
          <a:xfrm>
            <a:off x="4905375" y="2505075"/>
            <a:ext cx="2286000" cy="1238250"/>
          </a:xfrm>
          <a:prstGeom prst="rect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13" name="text-197">
            <a:extLst>
              <a:ext uri="{FF2B5EF4-FFF2-40B4-BE49-F238E27FC236}">
                <a16:creationId xmlns:a16="http://schemas.microsoft.com/office/drawing/2014/main" id="{036C31EA-A18A-491A-9CFF-3D041DAB33D1}"/>
              </a:ext>
            </a:extLst>
          </p:cNvPr>
          <p:cNvSpPr>
            <a:spLocks noGrp="1"/>
          </p:cNvSpPr>
          <p:nvPr/>
        </p:nvSpPr>
        <p:spPr>
          <a:xfrm>
            <a:off x="5000625" y="2628900"/>
            <a:ext cx="2095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Dịch phải</a:t>
            </a:r>
          </a:p>
        </p:txBody>
      </p:sp>
      <p:sp>
        <p:nvSpPr>
          <p:cNvPr id="14" name="text-198">
            <a:extLst>
              <a:ext uri="{FF2B5EF4-FFF2-40B4-BE49-F238E27FC236}">
                <a16:creationId xmlns:a16="http://schemas.microsoft.com/office/drawing/2014/main" id="{65753D0C-D58B-45DE-B617-451EE0908EEE}"/>
              </a:ext>
            </a:extLst>
          </p:cNvPr>
          <p:cNvSpPr>
            <a:spLocks noGrp="1"/>
          </p:cNvSpPr>
          <p:nvPr/>
        </p:nvSpPr>
        <p:spPr>
          <a:xfrm>
            <a:off x="5000625" y="3000375"/>
            <a:ext cx="2095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y_base &gt;&gt; S</a:t>
            </a:r>
          </a:p>
        </p:txBody>
      </p:sp>
      <p:sp>
        <p:nvSpPr>
          <p:cNvPr id="15" name="FLOOR-199">
            <a:extLst>
              <a:ext uri="{FF2B5EF4-FFF2-40B4-BE49-F238E27FC236}">
                <a16:creationId xmlns:a16="http://schemas.microsoft.com/office/drawing/2014/main" id="{4B3BB934-D435-44A2-A2BA-BF63F3659C52}"/>
              </a:ext>
            </a:extLst>
          </p:cNvPr>
          <p:cNvSpPr>
            <a:spLocks noGrp="1"/>
          </p:cNvSpPr>
          <p:nvPr/>
        </p:nvSpPr>
        <p:spPr>
          <a:xfrm>
            <a:off x="7667625" y="2505075"/>
            <a:ext cx="2133600" cy="1238250"/>
          </a:xfrm>
          <a:prstGeom prst="rect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16" name="text-200">
            <a:extLst>
              <a:ext uri="{FF2B5EF4-FFF2-40B4-BE49-F238E27FC236}">
                <a16:creationId xmlns:a16="http://schemas.microsoft.com/office/drawing/2014/main" id="{BA7ECC8B-F829-48D4-A161-F3655B9F7B68}"/>
              </a:ext>
            </a:extLst>
          </p:cNvPr>
          <p:cNvSpPr>
            <a:spLocks noGrp="1"/>
          </p:cNvSpPr>
          <p:nvPr/>
        </p:nvSpPr>
        <p:spPr>
          <a:xfrm>
            <a:off x="7762875" y="2628900"/>
            <a:ext cx="19431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FLOOR</a:t>
            </a:r>
          </a:p>
        </p:txBody>
      </p:sp>
      <p:sp>
        <p:nvSpPr>
          <p:cNvPr id="17" name="text-201">
            <a:extLst>
              <a:ext uri="{FF2B5EF4-FFF2-40B4-BE49-F238E27FC236}">
                <a16:creationId xmlns:a16="http://schemas.microsoft.com/office/drawing/2014/main" id="{68070152-3D93-4207-AB20-8205F3891CED}"/>
              </a:ext>
            </a:extLst>
          </p:cNvPr>
          <p:cNvSpPr>
            <a:spLocks noGrp="1"/>
          </p:cNvSpPr>
          <p:nvPr/>
        </p:nvSpPr>
        <p:spPr>
          <a:xfrm>
            <a:off x="7762875" y="3000375"/>
            <a:ext cx="19431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term[1:0] = 0</a:t>
            </a:r>
          </a:p>
        </p:txBody>
      </p:sp>
      <p:sp>
        <p:nvSpPr>
          <p:cNvPr id="18" name="R2-202">
            <a:extLst>
              <a:ext uri="{FF2B5EF4-FFF2-40B4-BE49-F238E27FC236}">
                <a16:creationId xmlns:a16="http://schemas.microsoft.com/office/drawing/2014/main" id="{997FD504-F2D9-442B-9B80-8CC98D85D136}"/>
              </a:ext>
            </a:extLst>
          </p:cNvPr>
          <p:cNvSpPr>
            <a:spLocks noGrp="1"/>
          </p:cNvSpPr>
          <p:nvPr/>
        </p:nvSpPr>
        <p:spPr>
          <a:xfrm>
            <a:off x="10267950" y="2581275"/>
            <a:ext cx="1466850" cy="1133475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19" name="clock-203">
            <a:extLst>
              <a:ext uri="{FF2B5EF4-FFF2-40B4-BE49-F238E27FC236}">
                <a16:creationId xmlns:a16="http://schemas.microsoft.com/office/drawing/2014/main" id="{2F228D1D-0B2A-432E-9D92-D3E99541F7DF}"/>
              </a:ext>
            </a:extLst>
          </p:cNvPr>
          <p:cNvSpPr>
            <a:spLocks noGrp="1"/>
          </p:cNvSpPr>
          <p:nvPr/>
        </p:nvSpPr>
        <p:spPr>
          <a:xfrm>
            <a:off x="10267950" y="3495675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20" name="text-204">
            <a:extLst>
              <a:ext uri="{FF2B5EF4-FFF2-40B4-BE49-F238E27FC236}">
                <a16:creationId xmlns:a16="http://schemas.microsoft.com/office/drawing/2014/main" id="{07B9CD73-8723-4CCA-9126-5ABA36BF2C05}"/>
              </a:ext>
            </a:extLst>
          </p:cNvPr>
          <p:cNvSpPr>
            <a:spLocks noGrp="1"/>
          </p:cNvSpPr>
          <p:nvPr/>
        </p:nvSpPr>
        <p:spPr>
          <a:xfrm>
            <a:off x="10306050" y="2724150"/>
            <a:ext cx="1390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21" name="text-205">
            <a:extLst>
              <a:ext uri="{FF2B5EF4-FFF2-40B4-BE49-F238E27FC236}">
                <a16:creationId xmlns:a16="http://schemas.microsoft.com/office/drawing/2014/main" id="{1F9B75D3-AD5C-494C-B591-E1C572F1F228}"/>
              </a:ext>
            </a:extLst>
          </p:cNvPr>
          <p:cNvSpPr>
            <a:spLocks noGrp="1"/>
          </p:cNvSpPr>
          <p:nvPr/>
        </p:nvSpPr>
        <p:spPr>
          <a:xfrm>
            <a:off x="10344150" y="3076575"/>
            <a:ext cx="13144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term / tail</a:t>
            </a:r>
          </a:p>
        </p:txBody>
      </p:sp>
      <p:sp>
        <p:nvSpPr>
          <p:cNvPr id="27" name="text-211">
            <a:extLst>
              <a:ext uri="{FF2B5EF4-FFF2-40B4-BE49-F238E27FC236}">
                <a16:creationId xmlns:a16="http://schemas.microsoft.com/office/drawing/2014/main" id="{78694D76-E0EA-4E2D-9B1B-A670A8C41D7F}"/>
              </a:ext>
            </a:extLst>
          </p:cNvPr>
          <p:cNvSpPr>
            <a:spLocks noGrp="1"/>
          </p:cNvSpPr>
          <p:nvPr/>
        </p:nvSpPr>
        <p:spPr>
          <a:xfrm>
            <a:off x="5257800" y="1609725"/>
            <a:ext cx="158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6807"/>
                </a:solidFill>
                <a:latin typeface="Arial"/>
                <a:ea typeface="Arial"/>
                <a:cs typeface="Arial"/>
              </a:rPr>
              <a:t>S từ R1</a:t>
            </a:r>
          </a:p>
        </p:txBody>
      </p:sp>
      <p:sp>
        <p:nvSpPr>
          <p:cNvPr id="30" name="text-214">
            <a:extLst>
              <a:ext uri="{FF2B5EF4-FFF2-40B4-BE49-F238E27FC236}">
                <a16:creationId xmlns:a16="http://schemas.microsoft.com/office/drawing/2014/main" id="{FB760A3B-C6DA-4C7D-A85A-7157A8509172}"/>
              </a:ext>
            </a:extLst>
          </p:cNvPr>
          <p:cNvSpPr>
            <a:spLocks noGrp="1"/>
          </p:cNvSpPr>
          <p:nvPr/>
        </p:nvSpPr>
        <p:spPr>
          <a:xfrm>
            <a:off x="3333750" y="4981575"/>
            <a:ext cx="29813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y_base tới accumulator</a:t>
            </a:r>
          </a:p>
        </p:txBody>
      </p:sp>
      <p:sp>
        <p:nvSpPr>
          <p:cNvPr id="31" name="OR phần bỏ-215">
            <a:extLst>
              <a:ext uri="{FF2B5EF4-FFF2-40B4-BE49-F238E27FC236}">
                <a16:creationId xmlns:a16="http://schemas.microsoft.com/office/drawing/2014/main" id="{D4FF1256-7A9D-416A-A46D-DFED44C05417}"/>
              </a:ext>
            </a:extLst>
          </p:cNvPr>
          <p:cNvSpPr>
            <a:spLocks noGrp="1"/>
          </p:cNvSpPr>
          <p:nvPr/>
        </p:nvSpPr>
        <p:spPr>
          <a:xfrm>
            <a:off x="6448425" y="4191000"/>
            <a:ext cx="2466975" cy="952500"/>
          </a:xfrm>
          <a:prstGeom prst="rect">
            <a:avLst/>
          </a:prstGeom>
          <a:solidFill>
            <a:srgbClr val="FFF0EC"/>
          </a:solidFill>
          <a:ln w="19050">
            <a:solidFill>
              <a:srgbClr val="B44A3A"/>
            </a:solidFill>
          </a:ln>
        </p:spPr>
      </p:sp>
      <p:sp>
        <p:nvSpPr>
          <p:cNvPr id="32" name="text-216">
            <a:extLst>
              <a:ext uri="{FF2B5EF4-FFF2-40B4-BE49-F238E27FC236}">
                <a16:creationId xmlns:a16="http://schemas.microsoft.com/office/drawing/2014/main" id="{D0CCED72-EAC2-4928-B403-45BD22CCA48C}"/>
              </a:ext>
            </a:extLst>
          </p:cNvPr>
          <p:cNvSpPr>
            <a:spLocks noGrp="1"/>
          </p:cNvSpPr>
          <p:nvPr/>
        </p:nvSpPr>
        <p:spPr>
          <a:xfrm>
            <a:off x="6543675" y="4314825"/>
            <a:ext cx="22764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B44A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B44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44A3A"/>
                </a:solidFill>
                <a:latin typeface="Arial"/>
                <a:ea typeface="Arial"/>
                <a:cs typeface="Arial"/>
              </a:rPr>
              <a:t>OR phần bỏ</a:t>
            </a:r>
          </a:p>
        </p:txBody>
      </p:sp>
      <p:sp>
        <p:nvSpPr>
          <p:cNvPr id="33" name="text-217">
            <a:extLst>
              <a:ext uri="{FF2B5EF4-FFF2-40B4-BE49-F238E27FC236}">
                <a16:creationId xmlns:a16="http://schemas.microsoft.com/office/drawing/2014/main" id="{DEE48A5D-F3A3-406F-A237-851F8F42EB67}"/>
              </a:ext>
            </a:extLst>
          </p:cNvPr>
          <p:cNvSpPr>
            <a:spLocks noGrp="1"/>
          </p:cNvSpPr>
          <p:nvPr/>
        </p:nvSpPr>
        <p:spPr>
          <a:xfrm>
            <a:off x="6543675" y="4686300"/>
            <a:ext cx="22764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term_tail</a:t>
            </a:r>
          </a:p>
        </p:txBody>
      </p:sp>
      <p:sp>
        <p:nvSpPr>
          <p:cNvPr id="38" name="text-222">
            <a:extLst>
              <a:ext uri="{FF2B5EF4-FFF2-40B4-BE49-F238E27FC236}">
                <a16:creationId xmlns:a16="http://schemas.microsoft.com/office/drawing/2014/main" id="{1AF28F07-7B38-46C7-A7E4-CB30317D2239}"/>
              </a:ext>
            </a:extLst>
          </p:cNvPr>
          <p:cNvSpPr>
            <a:spLocks noGrp="1"/>
          </p:cNvSpPr>
          <p:nvPr/>
        </p:nvSpPr>
        <p:spPr>
          <a:xfrm>
            <a:off x="457200" y="546735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FLOOR: term_tail đi vào metadata mất thông tin. sticky_acc vẫn bằng0.</a:t>
            </a:r>
          </a:p>
        </p:txBody>
      </p:sp>
      <p:sp>
        <p:nvSpPr>
          <p:cNvPr id="39" name="text-223">
            <a:extLst>
              <a:ext uri="{FF2B5EF4-FFF2-40B4-BE49-F238E27FC236}">
                <a16:creationId xmlns:a16="http://schemas.microsoft.com/office/drawing/2014/main" id="{52AFF317-ABAF-41DD-9B1A-DEBF5D6B513F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156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ACC_W vật lý = 54 bit     Payload approx = 16 bit     P_hat hữu ích = Q12 / 14 bit</a:t>
            </a:r>
          </a:p>
        </p:txBody>
      </p:sp>
    </p:spTree>
    <p:extLst>
      <p:ext uri="{BB962C8B-B14F-4D97-AF65-F5344CB8AC3E}">
        <p14:creationId xmlns:p14="http://schemas.microsoft.com/office/powerpoint/2010/main" val="144023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wire-262">
            <a:extLst>
              <a:ext uri="{FF2B5EF4-FFF2-40B4-BE49-F238E27FC236}">
                <a16:creationId xmlns:a16="http://schemas.microsoft.com/office/drawing/2014/main" id="{D6B0F552-E37B-4FB3-A0FE-F272239B0C4B}"/>
              </a:ext>
            </a:extLst>
          </p:cNvPr>
          <p:cNvCxnSpPr/>
          <p:nvPr/>
        </p:nvCxnSpPr>
        <p:spPr>
          <a:xfrm>
            <a:off x="8696325" y="1685925"/>
            <a:ext cx="0" cy="457200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triangle" w="sm" len="sm"/>
          </a:ln>
        </p:spPr>
      </p:cxnSp>
      <p:cxnSp>
        <p:nvCxnSpPr>
          <p:cNvPr id="37" name="wire-260">
            <a:extLst>
              <a:ext uri="{FF2B5EF4-FFF2-40B4-BE49-F238E27FC236}">
                <a16:creationId xmlns:a16="http://schemas.microsoft.com/office/drawing/2014/main" id="{36806E26-EA53-497F-BD9C-84212AB7B50D}"/>
              </a:ext>
            </a:extLst>
          </p:cNvPr>
          <p:cNvCxnSpPr/>
          <p:nvPr/>
        </p:nvCxnSpPr>
        <p:spPr>
          <a:xfrm flipV="1">
            <a:off x="1609725" y="3705225"/>
            <a:ext cx="0" cy="1590675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36" name="wire-259">
            <a:extLst>
              <a:ext uri="{FF2B5EF4-FFF2-40B4-BE49-F238E27FC236}">
                <a16:creationId xmlns:a16="http://schemas.microsoft.com/office/drawing/2014/main" id="{F7FD9BEC-CD79-4111-B242-347C16746811}"/>
              </a:ext>
            </a:extLst>
          </p:cNvPr>
          <p:cNvCxnSpPr/>
          <p:nvPr/>
        </p:nvCxnSpPr>
        <p:spPr>
          <a:xfrm flipH="1">
            <a:off x="1609725" y="5295900"/>
            <a:ext cx="650557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35" name="wire-258">
            <a:extLst>
              <a:ext uri="{FF2B5EF4-FFF2-40B4-BE49-F238E27FC236}">
                <a16:creationId xmlns:a16="http://schemas.microsoft.com/office/drawing/2014/main" id="{834B2488-6517-43FF-AF32-98EDFBD1F1D2}"/>
              </a:ext>
            </a:extLst>
          </p:cNvPr>
          <p:cNvCxnSpPr/>
          <p:nvPr/>
        </p:nvCxnSpPr>
        <p:spPr>
          <a:xfrm>
            <a:off x="8115300" y="3381375"/>
            <a:ext cx="0" cy="1914525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34" name="wire-257">
            <a:extLst>
              <a:ext uri="{FF2B5EF4-FFF2-40B4-BE49-F238E27FC236}">
                <a16:creationId xmlns:a16="http://schemas.microsoft.com/office/drawing/2014/main" id="{1540183E-B980-4ABF-8769-92036CED3DCB}"/>
              </a:ext>
            </a:extLst>
          </p:cNvPr>
          <p:cNvCxnSpPr/>
          <p:nvPr/>
        </p:nvCxnSpPr>
        <p:spPr>
          <a:xfrm flipV="1">
            <a:off x="5324475" y="3076575"/>
            <a:ext cx="0" cy="600075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33" name="wire-256">
            <a:extLst>
              <a:ext uri="{FF2B5EF4-FFF2-40B4-BE49-F238E27FC236}">
                <a16:creationId xmlns:a16="http://schemas.microsoft.com/office/drawing/2014/main" id="{20F3829D-87A9-48AD-A9A5-9735C312AD35}"/>
              </a:ext>
            </a:extLst>
          </p:cNvPr>
          <p:cNvCxnSpPr/>
          <p:nvPr/>
        </p:nvCxnSpPr>
        <p:spPr>
          <a:xfrm flipH="1">
            <a:off x="5324475" y="3676650"/>
            <a:ext cx="704850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32" name="wire-255">
            <a:extLst>
              <a:ext uri="{FF2B5EF4-FFF2-40B4-BE49-F238E27FC236}">
                <a16:creationId xmlns:a16="http://schemas.microsoft.com/office/drawing/2014/main" id="{82DDF52C-0020-4402-8841-8038BE7CBB5D}"/>
              </a:ext>
            </a:extLst>
          </p:cNvPr>
          <p:cNvCxnSpPr/>
          <p:nvPr/>
        </p:nvCxnSpPr>
        <p:spPr>
          <a:xfrm flipV="1">
            <a:off x="6029325" y="3676650"/>
            <a:ext cx="0" cy="942975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31" name="wire-254">
            <a:extLst>
              <a:ext uri="{FF2B5EF4-FFF2-40B4-BE49-F238E27FC236}">
                <a16:creationId xmlns:a16="http://schemas.microsoft.com/office/drawing/2014/main" id="{4529ED59-D64E-42FE-8EC5-B2D27D648DC1}"/>
              </a:ext>
            </a:extLst>
          </p:cNvPr>
          <p:cNvCxnSpPr/>
          <p:nvPr/>
        </p:nvCxnSpPr>
        <p:spPr>
          <a:xfrm>
            <a:off x="5448300" y="4619625"/>
            <a:ext cx="58102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29" name="wire-252">
            <a:extLst>
              <a:ext uri="{FF2B5EF4-FFF2-40B4-BE49-F238E27FC236}">
                <a16:creationId xmlns:a16="http://schemas.microsoft.com/office/drawing/2014/main" id="{1E98FA7C-40D6-4F01-825B-4CC15E36FFBE}"/>
              </a:ext>
            </a:extLst>
          </p:cNvPr>
          <p:cNvCxnSpPr/>
          <p:nvPr/>
        </p:nvCxnSpPr>
        <p:spPr>
          <a:xfrm>
            <a:off x="619125" y="4619625"/>
            <a:ext cx="2914650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24" name="wire-247">
            <a:extLst>
              <a:ext uri="{FF2B5EF4-FFF2-40B4-BE49-F238E27FC236}">
                <a16:creationId xmlns:a16="http://schemas.microsoft.com/office/drawing/2014/main" id="{2805D192-D1D2-4F9A-9A14-6501AD905967}"/>
              </a:ext>
            </a:extLst>
          </p:cNvPr>
          <p:cNvCxnSpPr/>
          <p:nvPr/>
        </p:nvCxnSpPr>
        <p:spPr>
          <a:xfrm>
            <a:off x="9058275" y="2771775"/>
            <a:ext cx="267652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22" name="wire-245">
            <a:extLst>
              <a:ext uri="{FF2B5EF4-FFF2-40B4-BE49-F238E27FC236}">
                <a16:creationId xmlns:a16="http://schemas.microsoft.com/office/drawing/2014/main" id="{49075DCE-9523-4C51-8F9D-DE28FF6E120E}"/>
              </a:ext>
            </a:extLst>
          </p:cNvPr>
          <p:cNvCxnSpPr/>
          <p:nvPr/>
        </p:nvCxnSpPr>
        <p:spPr>
          <a:xfrm>
            <a:off x="5686425" y="2695575"/>
            <a:ext cx="162877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17" name="wire-240">
            <a:extLst>
              <a:ext uri="{FF2B5EF4-FFF2-40B4-BE49-F238E27FC236}">
                <a16:creationId xmlns:a16="http://schemas.microsoft.com/office/drawing/2014/main" id="{00EA3925-20C5-4BFD-9A1D-6A8D75EC0F20}"/>
              </a:ext>
            </a:extLst>
          </p:cNvPr>
          <p:cNvCxnSpPr/>
          <p:nvPr/>
        </p:nvCxnSpPr>
        <p:spPr>
          <a:xfrm>
            <a:off x="3324225" y="2695575"/>
            <a:ext cx="1638300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13" name="wire-236">
            <a:extLst>
              <a:ext uri="{FF2B5EF4-FFF2-40B4-BE49-F238E27FC236}">
                <a16:creationId xmlns:a16="http://schemas.microsoft.com/office/drawing/2014/main" id="{687EA7A7-839F-4D83-B79C-34B55C3CB3E0}"/>
              </a:ext>
            </a:extLst>
          </p:cNvPr>
          <p:cNvCxnSpPr/>
          <p:nvPr/>
        </p:nvCxnSpPr>
        <p:spPr>
          <a:xfrm>
            <a:off x="2847975" y="1714500"/>
            <a:ext cx="0" cy="371475"/>
          </a:xfrm>
          <a:prstGeom prst="straightConnector1">
            <a:avLst/>
          </a:prstGeom>
          <a:ln w="23813">
            <a:solidFill>
              <a:srgbClr val="425672"/>
            </a:solidFill>
            <a:prstDash val="dash"/>
            <a:tailEnd type="triangle" w="sm" len="sm"/>
          </a:ln>
        </p:spPr>
      </p:cxnSp>
      <p:cxnSp>
        <p:nvCxnSpPr>
          <p:cNvPr id="10" name="wire-233">
            <a:extLst>
              <a:ext uri="{FF2B5EF4-FFF2-40B4-BE49-F238E27FC236}">
                <a16:creationId xmlns:a16="http://schemas.microsoft.com/office/drawing/2014/main" id="{CF26CDA8-6303-486E-AEF7-23DBD0918ACA}"/>
              </a:ext>
            </a:extLst>
          </p:cNvPr>
          <p:cNvCxnSpPr/>
          <p:nvPr/>
        </p:nvCxnSpPr>
        <p:spPr>
          <a:xfrm>
            <a:off x="2133600" y="3009900"/>
            <a:ext cx="23812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9" name="wire-232">
            <a:extLst>
              <a:ext uri="{FF2B5EF4-FFF2-40B4-BE49-F238E27FC236}">
                <a16:creationId xmlns:a16="http://schemas.microsoft.com/office/drawing/2014/main" id="{035AA5DE-947E-482E-BFF7-7E98B04AA802}"/>
              </a:ext>
            </a:extLst>
          </p:cNvPr>
          <p:cNvCxnSpPr/>
          <p:nvPr/>
        </p:nvCxnSpPr>
        <p:spPr>
          <a:xfrm flipV="1">
            <a:off x="2133600" y="3009900"/>
            <a:ext cx="0" cy="695325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8" name="wire-231">
            <a:extLst>
              <a:ext uri="{FF2B5EF4-FFF2-40B4-BE49-F238E27FC236}">
                <a16:creationId xmlns:a16="http://schemas.microsoft.com/office/drawing/2014/main" id="{E915315D-04A0-437D-9CBD-0D6003C30017}"/>
              </a:ext>
            </a:extLst>
          </p:cNvPr>
          <p:cNvCxnSpPr/>
          <p:nvPr/>
        </p:nvCxnSpPr>
        <p:spPr>
          <a:xfrm>
            <a:off x="609600" y="3705225"/>
            <a:ext cx="1524000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none" w="sm" len="sm"/>
          </a:ln>
        </p:spPr>
      </p:cxnSp>
      <p:cxnSp>
        <p:nvCxnSpPr>
          <p:cNvPr id="7" name="wire-230">
            <a:extLst>
              <a:ext uri="{FF2B5EF4-FFF2-40B4-BE49-F238E27FC236}">
                <a16:creationId xmlns:a16="http://schemas.microsoft.com/office/drawing/2014/main" id="{56B92AEC-993B-4D31-A588-1206F1A5CA75}"/>
              </a:ext>
            </a:extLst>
          </p:cNvPr>
          <p:cNvCxnSpPr/>
          <p:nvPr/>
        </p:nvCxnSpPr>
        <p:spPr>
          <a:xfrm>
            <a:off x="609600" y="2352675"/>
            <a:ext cx="1762125" cy="0"/>
          </a:xfrm>
          <a:prstGeom prst="straightConnector1">
            <a:avLst/>
          </a:prstGeom>
          <a:ln w="23813">
            <a:solidFill>
              <a:srgbClr val="6943B9"/>
            </a:solidFill>
            <a:prstDash val="solid"/>
            <a:tailEnd type="triangle" w="sm" len="sm"/>
          </a:ln>
        </p:spPr>
      </p:cxnSp>
      <p:cxnSp>
        <p:nvCxnSpPr>
          <p:cNvPr id="3" name="wire-226">
            <a:extLst>
              <a:ext uri="{FF2B5EF4-FFF2-40B4-BE49-F238E27FC236}">
                <a16:creationId xmlns:a16="http://schemas.microsoft.com/office/drawing/2014/main" id="{913FA599-F42F-4995-B143-EEF27CC4192D}"/>
              </a:ext>
            </a:extLst>
          </p:cNvPr>
          <p:cNvCxnSpPr/>
          <p:nvPr/>
        </p:nvCxnSpPr>
        <p:spPr>
          <a:xfrm>
            <a:off x="457200" y="1476375"/>
            <a:ext cx="11277600" cy="0"/>
          </a:xfrm>
          <a:prstGeom prst="straightConnector1">
            <a:avLst/>
          </a:prstGeom>
          <a:ln w="9525">
            <a:solidFill>
              <a:srgbClr val="CCD6E2"/>
            </a:solidFill>
            <a:prstDash val="solid"/>
            <a:tailEnd type="none" w="sm" len="sm"/>
          </a:ln>
        </p:spPr>
      </p:cxnSp>
      <p:sp>
        <p:nvSpPr>
          <p:cNvPr id="46" name="text-224">
            <a:extLst>
              <a:ext uri="{FF2B5EF4-FFF2-40B4-BE49-F238E27FC236}">
                <a16:creationId xmlns:a16="http://schemas.microsoft.com/office/drawing/2014/main" id="{C3C47ADA-A72A-40D2-9BF1-3714009B7AFA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SBM Accumulator: commit term và giữ tổng</a:t>
            </a:r>
          </a:p>
        </p:txBody>
      </p:sp>
      <p:sp>
        <p:nvSpPr>
          <p:cNvPr id="2" name="text-225">
            <a:extLst>
              <a:ext uri="{FF2B5EF4-FFF2-40B4-BE49-F238E27FC236}">
                <a16:creationId xmlns:a16="http://schemas.microsoft.com/office/drawing/2014/main" id="{19828900-7009-4C0C-9FC6-067DB0EBD3F2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first chọn hidden term. init_only chỉ nạp Y. commit_valid cho phép cập nhật</a:t>
            </a:r>
          </a:p>
        </p:txBody>
      </p:sp>
      <p:sp>
        <p:nvSpPr>
          <p:cNvPr id="4" name="text-227">
            <a:extLst>
              <a:ext uri="{FF2B5EF4-FFF2-40B4-BE49-F238E27FC236}">
                <a16:creationId xmlns:a16="http://schemas.microsoft.com/office/drawing/2014/main" id="{E12208A8-38A6-4198-8717-C45D96193194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723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5" name="text-228">
            <a:extLst>
              <a:ext uri="{FF2B5EF4-FFF2-40B4-BE49-F238E27FC236}">
                <a16:creationId xmlns:a16="http://schemas.microsoft.com/office/drawing/2014/main" id="{1A452573-E175-4F7A-B750-6997FFBB9D00}"/>
              </a:ext>
            </a:extLst>
          </p:cNvPr>
          <p:cNvSpPr>
            <a:spLocks noGrp="1"/>
          </p:cNvSpPr>
          <p:nvPr/>
        </p:nvSpPr>
        <p:spPr>
          <a:xfrm>
            <a:off x="457200" y="1924050"/>
            <a:ext cx="158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y_base</a:t>
            </a:r>
          </a:p>
        </p:txBody>
      </p:sp>
      <p:sp>
        <p:nvSpPr>
          <p:cNvPr id="6" name="text-229">
            <a:extLst>
              <a:ext uri="{FF2B5EF4-FFF2-40B4-BE49-F238E27FC236}">
                <a16:creationId xmlns:a16="http://schemas.microsoft.com/office/drawing/2014/main" id="{F6243762-3610-4112-8CC4-DEEACA3ACA61}"/>
              </a:ext>
            </a:extLst>
          </p:cNvPr>
          <p:cNvSpPr>
            <a:spLocks noGrp="1"/>
          </p:cNvSpPr>
          <p:nvPr/>
        </p:nvSpPr>
        <p:spPr>
          <a:xfrm>
            <a:off x="457200" y="3276600"/>
            <a:ext cx="158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acc_q</a:t>
            </a:r>
          </a:p>
        </p:txBody>
      </p:sp>
      <p:sp>
        <p:nvSpPr>
          <p:cNvPr id="11" name="mux-234">
            <a:extLst>
              <a:ext uri="{FF2B5EF4-FFF2-40B4-BE49-F238E27FC236}">
                <a16:creationId xmlns:a16="http://schemas.microsoft.com/office/drawing/2014/main" id="{FABC60C3-94AA-4EB7-96EA-8C38F1436329}"/>
              </a:ext>
            </a:extLst>
          </p:cNvPr>
          <p:cNvSpPr>
            <a:spLocks noGrp="1"/>
          </p:cNvSpPr>
          <p:nvPr/>
        </p:nvSpPr>
        <p:spPr>
          <a:xfrm>
            <a:off x="2371725" y="2085975"/>
            <a:ext cx="952500" cy="1219200"/>
          </a:xfrm>
          <a:custGeom>
            <a:avLst/>
            <a:gdLst/>
            <a:ahLst/>
            <a:cxnLst/>
            <a:rect l="0" t="0" r="0" b="0"/>
            <a:pathLst>
              <a:path w="952500" h="1219200">
                <a:moveTo>
                  <a:pt x="0" y="0"/>
                </a:moveTo>
                <a:lnTo>
                  <a:pt x="952500" y="243840"/>
                </a:lnTo>
                <a:lnTo>
                  <a:pt x="952500" y="975360"/>
                </a:lnTo>
                <a:lnTo>
                  <a:pt x="0" y="1219200"/>
                </a:lnTo>
                <a:close/>
              </a:path>
            </a:pathLst>
          </a:cu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12" name="text-235">
            <a:extLst>
              <a:ext uri="{FF2B5EF4-FFF2-40B4-BE49-F238E27FC236}">
                <a16:creationId xmlns:a16="http://schemas.microsoft.com/office/drawing/2014/main" id="{E9C419DA-D9D8-4D00-BDC0-1395C8D0D1C1}"/>
              </a:ext>
            </a:extLst>
          </p:cNvPr>
          <p:cNvSpPr>
            <a:spLocks noGrp="1"/>
          </p:cNvSpPr>
          <p:nvPr/>
        </p:nvSpPr>
        <p:spPr>
          <a:xfrm>
            <a:off x="2400300" y="2524125"/>
            <a:ext cx="857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MUX</a:t>
            </a:r>
          </a:p>
        </p:txBody>
      </p:sp>
      <p:sp>
        <p:nvSpPr>
          <p:cNvPr id="14" name="text-237">
            <a:extLst>
              <a:ext uri="{FF2B5EF4-FFF2-40B4-BE49-F238E27FC236}">
                <a16:creationId xmlns:a16="http://schemas.microsoft.com/office/drawing/2014/main" id="{7D6CD7D3-13DE-40F3-9999-71E7B2EA56DF}"/>
              </a:ext>
            </a:extLst>
          </p:cNvPr>
          <p:cNvSpPr>
            <a:spLocks noGrp="1"/>
          </p:cNvSpPr>
          <p:nvPr/>
        </p:nvSpPr>
        <p:spPr>
          <a:xfrm>
            <a:off x="3276600" y="1590675"/>
            <a:ext cx="12477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5" name="operator-238">
            <a:extLst>
              <a:ext uri="{FF2B5EF4-FFF2-40B4-BE49-F238E27FC236}">
                <a16:creationId xmlns:a16="http://schemas.microsoft.com/office/drawing/2014/main" id="{557A4A2B-050D-490A-80F6-AF87D6D077FD}"/>
              </a:ext>
            </a:extLst>
          </p:cNvPr>
          <p:cNvSpPr>
            <a:spLocks noGrp="1"/>
          </p:cNvSpPr>
          <p:nvPr/>
        </p:nvSpPr>
        <p:spPr>
          <a:xfrm>
            <a:off x="4962525" y="2352675"/>
            <a:ext cx="723900" cy="723900"/>
          </a:xfrm>
          <a:prstGeom prst="ellipse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16" name="text-239">
            <a:extLst>
              <a:ext uri="{FF2B5EF4-FFF2-40B4-BE49-F238E27FC236}">
                <a16:creationId xmlns:a16="http://schemas.microsoft.com/office/drawing/2014/main" id="{25809C0F-8331-4447-B287-89AC9076A5C2}"/>
              </a:ext>
            </a:extLst>
          </p:cNvPr>
          <p:cNvSpPr>
            <a:spLocks noGrp="1"/>
          </p:cNvSpPr>
          <p:nvPr/>
        </p:nvSpPr>
        <p:spPr>
          <a:xfrm>
            <a:off x="4962525" y="2352675"/>
            <a:ext cx="7239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225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225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acc_q-241">
            <a:extLst>
              <a:ext uri="{FF2B5EF4-FFF2-40B4-BE49-F238E27FC236}">
                <a16:creationId xmlns:a16="http://schemas.microsoft.com/office/drawing/2014/main" id="{72425FD5-A631-4D4A-A642-48A238CFBBBB}"/>
              </a:ext>
            </a:extLst>
          </p:cNvPr>
          <p:cNvSpPr>
            <a:spLocks noGrp="1"/>
          </p:cNvSpPr>
          <p:nvPr/>
        </p:nvSpPr>
        <p:spPr>
          <a:xfrm>
            <a:off x="7315200" y="2143125"/>
            <a:ext cx="1743075" cy="1238250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19" name="clock-242">
            <a:extLst>
              <a:ext uri="{FF2B5EF4-FFF2-40B4-BE49-F238E27FC236}">
                <a16:creationId xmlns:a16="http://schemas.microsoft.com/office/drawing/2014/main" id="{F71D7304-9F7B-42DE-AA96-9ACEA6FCC8FE}"/>
              </a:ext>
            </a:extLst>
          </p:cNvPr>
          <p:cNvSpPr>
            <a:spLocks noGrp="1"/>
          </p:cNvSpPr>
          <p:nvPr/>
        </p:nvSpPr>
        <p:spPr>
          <a:xfrm>
            <a:off x="7315200" y="3162300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20" name="text-243">
            <a:extLst>
              <a:ext uri="{FF2B5EF4-FFF2-40B4-BE49-F238E27FC236}">
                <a16:creationId xmlns:a16="http://schemas.microsoft.com/office/drawing/2014/main" id="{2A605027-5EFC-452F-A996-A54031477F99}"/>
              </a:ext>
            </a:extLst>
          </p:cNvPr>
          <p:cNvSpPr>
            <a:spLocks noGrp="1"/>
          </p:cNvSpPr>
          <p:nvPr/>
        </p:nvSpPr>
        <p:spPr>
          <a:xfrm>
            <a:off x="7353300" y="2286000"/>
            <a:ext cx="1666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acc_q</a:t>
            </a:r>
          </a:p>
        </p:txBody>
      </p:sp>
      <p:sp>
        <p:nvSpPr>
          <p:cNvPr id="21" name="text-244">
            <a:extLst>
              <a:ext uri="{FF2B5EF4-FFF2-40B4-BE49-F238E27FC236}">
                <a16:creationId xmlns:a16="http://schemas.microsoft.com/office/drawing/2014/main" id="{1F8A901A-6AF2-4C34-984A-1431CFA61C02}"/>
              </a:ext>
            </a:extLst>
          </p:cNvPr>
          <p:cNvSpPr>
            <a:spLocks noGrp="1"/>
          </p:cNvSpPr>
          <p:nvPr/>
        </p:nvSpPr>
        <p:spPr>
          <a:xfrm>
            <a:off x="7391400" y="2638425"/>
            <a:ext cx="15906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54 bit</a:t>
            </a:r>
          </a:p>
        </p:txBody>
      </p:sp>
      <p:sp>
        <p:nvSpPr>
          <p:cNvPr id="23" name="text-246">
            <a:extLst>
              <a:ext uri="{FF2B5EF4-FFF2-40B4-BE49-F238E27FC236}">
                <a16:creationId xmlns:a16="http://schemas.microsoft.com/office/drawing/2014/main" id="{CD80A3A0-759E-4306-8402-F75BF7BB4974}"/>
              </a:ext>
            </a:extLst>
          </p:cNvPr>
          <p:cNvSpPr>
            <a:spLocks noGrp="1"/>
          </p:cNvSpPr>
          <p:nvPr/>
        </p:nvSpPr>
        <p:spPr>
          <a:xfrm>
            <a:off x="5667375" y="2124075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sum[53:0]</a:t>
            </a:r>
          </a:p>
        </p:txBody>
      </p:sp>
      <p:sp>
        <p:nvSpPr>
          <p:cNvPr id="25" name="text-248">
            <a:extLst>
              <a:ext uri="{FF2B5EF4-FFF2-40B4-BE49-F238E27FC236}">
                <a16:creationId xmlns:a16="http://schemas.microsoft.com/office/drawing/2014/main" id="{4BD52D3A-8635-4550-8DE7-8A731AA6BCBA}"/>
              </a:ext>
            </a:extLst>
          </p:cNvPr>
          <p:cNvSpPr>
            <a:spLocks noGrp="1"/>
          </p:cNvSpPr>
          <p:nvPr/>
        </p:nvSpPr>
        <p:spPr>
          <a:xfrm>
            <a:off x="9477375" y="2238375"/>
            <a:ext cx="21812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acc / P_hat</a:t>
            </a:r>
          </a:p>
        </p:txBody>
      </p:sp>
      <p:sp>
        <p:nvSpPr>
          <p:cNvPr id="26" name="Term / 0-249">
            <a:extLst>
              <a:ext uri="{FF2B5EF4-FFF2-40B4-BE49-F238E27FC236}">
                <a16:creationId xmlns:a16="http://schemas.microsoft.com/office/drawing/2014/main" id="{756D8BC3-CF17-467B-8357-762EBD7B0300}"/>
              </a:ext>
            </a:extLst>
          </p:cNvPr>
          <p:cNvSpPr>
            <a:spLocks noGrp="1"/>
          </p:cNvSpPr>
          <p:nvPr/>
        </p:nvSpPr>
        <p:spPr>
          <a:xfrm>
            <a:off x="3533775" y="4124325"/>
            <a:ext cx="1914525" cy="1000125"/>
          </a:xfrm>
          <a:prstGeom prst="rect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27" name="text-250">
            <a:extLst>
              <a:ext uri="{FF2B5EF4-FFF2-40B4-BE49-F238E27FC236}">
                <a16:creationId xmlns:a16="http://schemas.microsoft.com/office/drawing/2014/main" id="{5C3F14E9-945D-4C86-90EC-0AA92D5D72DA}"/>
              </a:ext>
            </a:extLst>
          </p:cNvPr>
          <p:cNvSpPr>
            <a:spLocks noGrp="1"/>
          </p:cNvSpPr>
          <p:nvPr/>
        </p:nvSpPr>
        <p:spPr>
          <a:xfrm>
            <a:off x="3629025" y="4248150"/>
            <a:ext cx="17240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Term / 0</a:t>
            </a:r>
          </a:p>
        </p:txBody>
      </p:sp>
      <p:sp>
        <p:nvSpPr>
          <p:cNvPr id="28" name="text-251">
            <a:extLst>
              <a:ext uri="{FF2B5EF4-FFF2-40B4-BE49-F238E27FC236}">
                <a16:creationId xmlns:a16="http://schemas.microsoft.com/office/drawing/2014/main" id="{59CD5C6B-D5EF-4923-A361-8D70E68FB483}"/>
              </a:ext>
            </a:extLst>
          </p:cNvPr>
          <p:cNvSpPr>
            <a:spLocks noGrp="1"/>
          </p:cNvSpPr>
          <p:nvPr/>
        </p:nvSpPr>
        <p:spPr>
          <a:xfrm>
            <a:off x="3629025" y="4619625"/>
            <a:ext cx="1724025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init_only</a:t>
            </a:r>
          </a:p>
        </p:txBody>
      </p:sp>
      <p:sp>
        <p:nvSpPr>
          <p:cNvPr id="30" name="text-253">
            <a:extLst>
              <a:ext uri="{FF2B5EF4-FFF2-40B4-BE49-F238E27FC236}">
                <a16:creationId xmlns:a16="http://schemas.microsoft.com/office/drawing/2014/main" id="{E92A20A3-7905-47C1-8BB5-40CBE1B16D9D}"/>
              </a:ext>
            </a:extLst>
          </p:cNvPr>
          <p:cNvSpPr>
            <a:spLocks noGrp="1"/>
          </p:cNvSpPr>
          <p:nvPr/>
        </p:nvSpPr>
        <p:spPr>
          <a:xfrm>
            <a:off x="1762125" y="4171950"/>
            <a:ext cx="1695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term từ R2</a:t>
            </a:r>
          </a:p>
        </p:txBody>
      </p:sp>
      <p:sp>
        <p:nvSpPr>
          <p:cNvPr id="38" name="text-261">
            <a:extLst>
              <a:ext uri="{FF2B5EF4-FFF2-40B4-BE49-F238E27FC236}">
                <a16:creationId xmlns:a16="http://schemas.microsoft.com/office/drawing/2014/main" id="{78B876CA-2BED-42EA-842F-6A6D0A97EC29}"/>
              </a:ext>
            </a:extLst>
          </p:cNvPr>
          <p:cNvSpPr>
            <a:spLocks noGrp="1"/>
          </p:cNvSpPr>
          <p:nvPr/>
        </p:nvSpPr>
        <p:spPr>
          <a:xfrm>
            <a:off x="6296025" y="5400675"/>
            <a:ext cx="5191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43B9"/>
                </a:solidFill>
                <a:latin typeface="Arial"/>
                <a:ea typeface="Arial"/>
                <a:cs typeface="Arial"/>
              </a:rPr>
              <a:t>Feedback tổng cũ cho commit kế tiếp</a:t>
            </a:r>
          </a:p>
        </p:txBody>
      </p:sp>
      <p:sp>
        <p:nvSpPr>
          <p:cNvPr id="40" name="text-263">
            <a:extLst>
              <a:ext uri="{FF2B5EF4-FFF2-40B4-BE49-F238E27FC236}">
                <a16:creationId xmlns:a16="http://schemas.microsoft.com/office/drawing/2014/main" id="{F648280F-DB4F-4980-BE60-799B5643CF27}"/>
              </a:ext>
            </a:extLst>
          </p:cNvPr>
          <p:cNvSpPr>
            <a:spLocks noGrp="1"/>
          </p:cNvSpPr>
          <p:nvPr/>
        </p:nvSpPr>
        <p:spPr>
          <a:xfrm>
            <a:off x="8039100" y="1428750"/>
            <a:ext cx="20669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commit_valid</a:t>
            </a:r>
          </a:p>
        </p:txBody>
      </p:sp>
      <p:sp>
        <p:nvSpPr>
          <p:cNvPr id="41" name="Done-264">
            <a:extLst>
              <a:ext uri="{FF2B5EF4-FFF2-40B4-BE49-F238E27FC236}">
                <a16:creationId xmlns:a16="http://schemas.microsoft.com/office/drawing/2014/main" id="{6CEEA28E-FF07-4C2F-9CD5-02B4702B4848}"/>
              </a:ext>
            </a:extLst>
          </p:cNvPr>
          <p:cNvSpPr>
            <a:spLocks noGrp="1"/>
          </p:cNvSpPr>
          <p:nvPr/>
        </p:nvSpPr>
        <p:spPr>
          <a:xfrm>
            <a:off x="9648825" y="4000500"/>
            <a:ext cx="2085975" cy="1143000"/>
          </a:xfrm>
          <a:prstGeom prst="rect">
            <a:avLst/>
          </a:prstGeom>
          <a:solidFill>
            <a:srgbClr val="EAF1FA"/>
          </a:solidFill>
          <a:ln w="19050">
            <a:solidFill>
              <a:srgbClr val="244B83"/>
            </a:solidFill>
          </a:ln>
        </p:spPr>
      </p:sp>
      <p:sp>
        <p:nvSpPr>
          <p:cNvPr id="42" name="text-265">
            <a:extLst>
              <a:ext uri="{FF2B5EF4-FFF2-40B4-BE49-F238E27FC236}">
                <a16:creationId xmlns:a16="http://schemas.microsoft.com/office/drawing/2014/main" id="{3FF26E96-EEF9-488E-A383-1CA2A1299DB5}"/>
              </a:ext>
            </a:extLst>
          </p:cNvPr>
          <p:cNvSpPr>
            <a:spLocks noGrp="1"/>
          </p:cNvSpPr>
          <p:nvPr/>
        </p:nvSpPr>
        <p:spPr>
          <a:xfrm>
            <a:off x="9744075" y="4124325"/>
            <a:ext cx="18954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244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4B83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43" name="text-266">
            <a:extLst>
              <a:ext uri="{FF2B5EF4-FFF2-40B4-BE49-F238E27FC236}">
                <a16:creationId xmlns:a16="http://schemas.microsoft.com/office/drawing/2014/main" id="{2391C173-2B49-4E46-8E3E-5155D6E09677}"/>
              </a:ext>
            </a:extLst>
          </p:cNvPr>
          <p:cNvSpPr>
            <a:spLocks noGrp="1"/>
          </p:cNvSpPr>
          <p:nvPr/>
        </p:nvSpPr>
        <p:spPr>
          <a:xfrm>
            <a:off x="9744075" y="4495800"/>
            <a:ext cx="18954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commit_valid</a:t>
            </a:r>
          </a:p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&amp;&amp; last</a:t>
            </a:r>
          </a:p>
        </p:txBody>
      </p:sp>
      <p:sp>
        <p:nvSpPr>
          <p:cNvPr id="44" name="clock-done-267">
            <a:extLst>
              <a:ext uri="{FF2B5EF4-FFF2-40B4-BE49-F238E27FC236}">
                <a16:creationId xmlns:a16="http://schemas.microsoft.com/office/drawing/2014/main" id="{F2441D7C-2325-4960-8B72-ADC33E996D7A}"/>
              </a:ext>
            </a:extLst>
          </p:cNvPr>
          <p:cNvSpPr>
            <a:spLocks noGrp="1"/>
          </p:cNvSpPr>
          <p:nvPr/>
        </p:nvSpPr>
        <p:spPr>
          <a:xfrm>
            <a:off x="9648825" y="4895850"/>
            <a:ext cx="95250" cy="133350"/>
          </a:xfrm>
          <a:custGeom>
            <a:avLst/>
            <a:gdLst/>
            <a:ahLst/>
            <a:cxnLst/>
            <a:rect l="0" t="0" r="0" b="0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244B83"/>
            </a:solidFill>
          </a:ln>
        </p:spPr>
      </p:sp>
      <p:sp>
        <p:nvSpPr>
          <p:cNvPr id="45" name="text-268">
            <a:extLst>
              <a:ext uri="{FF2B5EF4-FFF2-40B4-BE49-F238E27FC236}">
                <a16:creationId xmlns:a16="http://schemas.microsoft.com/office/drawing/2014/main" id="{15E4F512-772E-44B1-AD2D-6E5018943214}"/>
              </a:ext>
            </a:extLst>
          </p:cNvPr>
          <p:cNvSpPr>
            <a:spLocks noGrp="1"/>
          </p:cNvSpPr>
          <p:nvPr/>
        </p:nvSpPr>
        <p:spPr>
          <a:xfrm>
            <a:off x="457200" y="5810250"/>
            <a:ext cx="8572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first=1: acc_next = y_base + term</a:t>
            </a:r>
          </a:p>
          <a:p>
            <a:pPr algn="l">
              <a:defRPr sz="19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init_only=1: acc_next = y_base</a:t>
            </a:r>
          </a:p>
        </p:txBody>
      </p:sp>
    </p:spTree>
    <p:extLst>
      <p:ext uri="{BB962C8B-B14F-4D97-AF65-F5344CB8AC3E}">
        <p14:creationId xmlns:p14="http://schemas.microsoft.com/office/powerpoint/2010/main" val="183926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wire-283">
            <a:extLst>
              <a:ext uri="{FF2B5EF4-FFF2-40B4-BE49-F238E27FC236}">
                <a16:creationId xmlns:a16="http://schemas.microsoft.com/office/drawing/2014/main" id="{7D36A678-5362-48FD-9F66-06094219679F}"/>
              </a:ext>
            </a:extLst>
          </p:cNvPr>
          <p:cNvCxnSpPr/>
          <p:nvPr/>
        </p:nvCxnSpPr>
        <p:spPr>
          <a:xfrm>
            <a:off x="7353300" y="2209800"/>
            <a:ext cx="1266825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14" name="wire-282">
            <a:extLst>
              <a:ext uri="{FF2B5EF4-FFF2-40B4-BE49-F238E27FC236}">
                <a16:creationId xmlns:a16="http://schemas.microsoft.com/office/drawing/2014/main" id="{EDF8F2F3-EE2A-4054-BB60-AED5FC1F9946}"/>
              </a:ext>
            </a:extLst>
          </p:cNvPr>
          <p:cNvCxnSpPr/>
          <p:nvPr/>
        </p:nvCxnSpPr>
        <p:spPr>
          <a:xfrm>
            <a:off x="3581400" y="2209800"/>
            <a:ext cx="1238250" cy="0"/>
          </a:xfrm>
          <a:prstGeom prst="straightConnector1">
            <a:avLst/>
          </a:prstGeom>
          <a:ln w="23813">
            <a:solidFill>
              <a:srgbClr val="425672"/>
            </a:solidFill>
            <a:prstDash val="solid"/>
            <a:tailEnd type="triangle" w="sm" len="sm"/>
          </a:ln>
        </p:spPr>
      </p:cxnSp>
      <p:cxnSp>
        <p:nvCxnSpPr>
          <p:cNvPr id="3" name="wire-271">
            <a:extLst>
              <a:ext uri="{FF2B5EF4-FFF2-40B4-BE49-F238E27FC236}">
                <a16:creationId xmlns:a16="http://schemas.microsoft.com/office/drawing/2014/main" id="{C83B1334-E666-4AF7-8F55-54C2D02943AB}"/>
              </a:ext>
            </a:extLst>
          </p:cNvPr>
          <p:cNvCxnSpPr/>
          <p:nvPr/>
        </p:nvCxnSpPr>
        <p:spPr>
          <a:xfrm>
            <a:off x="457200" y="1476375"/>
            <a:ext cx="11277600" cy="0"/>
          </a:xfrm>
          <a:prstGeom prst="straightConnector1">
            <a:avLst/>
          </a:prstGeom>
          <a:ln w="9525">
            <a:solidFill>
              <a:srgbClr val="CCD6E2"/>
            </a:solidFill>
            <a:prstDash val="solid"/>
            <a:tailEnd type="none" w="sm" len="sm"/>
          </a:ln>
        </p:spPr>
      </p:cxnSp>
      <p:sp>
        <p:nvSpPr>
          <p:cNvPr id="19" name="text-269">
            <a:extLst>
              <a:ext uri="{FF2B5EF4-FFF2-40B4-BE49-F238E27FC236}">
                <a16:creationId xmlns:a16="http://schemas.microsoft.com/office/drawing/2014/main" id="{6918787C-FBBB-46AE-A403-5F8C46C5D62D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Pipeline core: token đi cùng số hạng</a:t>
            </a:r>
          </a:p>
        </p:txBody>
      </p:sp>
      <p:sp>
        <p:nvSpPr>
          <p:cNvPr id="2" name="text-270">
            <a:extLst>
              <a:ext uri="{FF2B5EF4-FFF2-40B4-BE49-F238E27FC236}">
                <a16:creationId xmlns:a16="http://schemas.microsoft.com/office/drawing/2014/main" id="{26034BAB-28B4-4BB1-BDDB-421A89A52EEB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Ví dụ hai vòng fraction. L0 là cạnh launch được core chấp nhận</a:t>
            </a:r>
          </a:p>
        </p:txBody>
      </p:sp>
      <p:sp>
        <p:nvSpPr>
          <p:cNvPr id="4" name="text-272">
            <a:extLst>
              <a:ext uri="{FF2B5EF4-FFF2-40B4-BE49-F238E27FC236}">
                <a16:creationId xmlns:a16="http://schemas.microsoft.com/office/drawing/2014/main" id="{2102D16A-8E78-4FAD-BFCB-5D017D5DE304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723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5" name="L1: SAC-273">
            <a:extLst>
              <a:ext uri="{FF2B5EF4-FFF2-40B4-BE49-F238E27FC236}">
                <a16:creationId xmlns:a16="http://schemas.microsoft.com/office/drawing/2014/main" id="{A0D18BAF-6DAF-47B3-8D5D-223934FE78BF}"/>
              </a:ext>
            </a:extLst>
          </p:cNvPr>
          <p:cNvSpPr>
            <a:spLocks noGrp="1"/>
          </p:cNvSpPr>
          <p:nvPr/>
        </p:nvSpPr>
        <p:spPr>
          <a:xfrm>
            <a:off x="1047750" y="1752600"/>
            <a:ext cx="2533650" cy="895350"/>
          </a:xfrm>
          <a:prstGeom prst="rect">
            <a:avLst/>
          </a:prstGeom>
          <a:solidFill>
            <a:srgbClr val="FFF4DD"/>
          </a:solidFill>
          <a:ln w="19050">
            <a:solidFill>
              <a:srgbClr val="A76807"/>
            </a:solidFill>
          </a:ln>
        </p:spPr>
      </p:sp>
      <p:sp>
        <p:nvSpPr>
          <p:cNvPr id="6" name="text-274">
            <a:extLst>
              <a:ext uri="{FF2B5EF4-FFF2-40B4-BE49-F238E27FC236}">
                <a16:creationId xmlns:a16="http://schemas.microsoft.com/office/drawing/2014/main" id="{7A45E393-DA85-49BA-BF1C-23DC175A45D8}"/>
              </a:ext>
            </a:extLst>
          </p:cNvPr>
          <p:cNvSpPr>
            <a:spLocks noGrp="1"/>
          </p:cNvSpPr>
          <p:nvPr/>
        </p:nvSpPr>
        <p:spPr>
          <a:xfrm>
            <a:off x="1143000" y="1876425"/>
            <a:ext cx="2343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A7680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6807"/>
                </a:solidFill>
                <a:latin typeface="Arial"/>
                <a:ea typeface="Arial"/>
                <a:cs typeface="Arial"/>
              </a:rPr>
              <a:t>L1: SAC</a:t>
            </a:r>
          </a:p>
        </p:txBody>
      </p:sp>
      <p:sp>
        <p:nvSpPr>
          <p:cNvPr id="7" name="text-275">
            <a:extLst>
              <a:ext uri="{FF2B5EF4-FFF2-40B4-BE49-F238E27FC236}">
                <a16:creationId xmlns:a16="http://schemas.microsoft.com/office/drawing/2014/main" id="{9F0F2B77-62FA-49DB-9D26-D65582989CA4}"/>
              </a:ext>
            </a:extLst>
          </p:cNvPr>
          <p:cNvSpPr>
            <a:spLocks noGrp="1"/>
          </p:cNvSpPr>
          <p:nvPr/>
        </p:nvSpPr>
        <p:spPr>
          <a:xfrm>
            <a:off x="1143000" y="224790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scale / first / last</a:t>
            </a:r>
          </a:p>
        </p:txBody>
      </p:sp>
      <p:sp>
        <p:nvSpPr>
          <p:cNvPr id="8" name="L2: Shift-276">
            <a:extLst>
              <a:ext uri="{FF2B5EF4-FFF2-40B4-BE49-F238E27FC236}">
                <a16:creationId xmlns:a16="http://schemas.microsoft.com/office/drawing/2014/main" id="{50D8A5FE-0728-4DC6-B9CE-24642200E6BB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533650" cy="895350"/>
          </a:xfrm>
          <a:prstGeom prst="rect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9" name="text-277">
            <a:extLst>
              <a:ext uri="{FF2B5EF4-FFF2-40B4-BE49-F238E27FC236}">
                <a16:creationId xmlns:a16="http://schemas.microsoft.com/office/drawing/2014/main" id="{E1FA277E-7149-434B-A74A-00CF00B0B108}"/>
              </a:ext>
            </a:extLst>
          </p:cNvPr>
          <p:cNvSpPr>
            <a:spLocks noGrp="1"/>
          </p:cNvSpPr>
          <p:nvPr/>
        </p:nvSpPr>
        <p:spPr>
          <a:xfrm>
            <a:off x="4914900" y="1876425"/>
            <a:ext cx="2343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L2: Shift</a:t>
            </a:r>
          </a:p>
        </p:txBody>
      </p:sp>
      <p:sp>
        <p:nvSpPr>
          <p:cNvPr id="10" name="text-278">
            <a:extLst>
              <a:ext uri="{FF2B5EF4-FFF2-40B4-BE49-F238E27FC236}">
                <a16:creationId xmlns:a16="http://schemas.microsoft.com/office/drawing/2014/main" id="{66C28468-838F-4E7B-BDA0-635C4328A9D4}"/>
              </a:ext>
            </a:extLst>
          </p:cNvPr>
          <p:cNvSpPr>
            <a:spLocks noGrp="1"/>
          </p:cNvSpPr>
          <p:nvPr/>
        </p:nvSpPr>
        <p:spPr>
          <a:xfrm>
            <a:off x="4914900" y="224790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term / tail / token</a:t>
            </a:r>
          </a:p>
        </p:txBody>
      </p:sp>
      <p:sp>
        <p:nvSpPr>
          <p:cNvPr id="11" name="L3: Acc-279">
            <a:extLst>
              <a:ext uri="{FF2B5EF4-FFF2-40B4-BE49-F238E27FC236}">
                <a16:creationId xmlns:a16="http://schemas.microsoft.com/office/drawing/2014/main" id="{C453F51F-38ED-458F-AD0C-76B99D07D2CA}"/>
              </a:ext>
            </a:extLst>
          </p:cNvPr>
          <p:cNvSpPr>
            <a:spLocks noGrp="1"/>
          </p:cNvSpPr>
          <p:nvPr/>
        </p:nvSpPr>
        <p:spPr>
          <a:xfrm>
            <a:off x="8620125" y="1752600"/>
            <a:ext cx="2533650" cy="895350"/>
          </a:xfrm>
          <a:prstGeom prst="rect">
            <a:avLst/>
          </a:prstGeom>
          <a:solidFill>
            <a:srgbClr val="F2ECFC"/>
          </a:solidFill>
          <a:ln w="19050">
            <a:solidFill>
              <a:srgbClr val="6943B9"/>
            </a:solidFill>
          </a:ln>
        </p:spPr>
      </p:sp>
      <p:sp>
        <p:nvSpPr>
          <p:cNvPr id="12" name="text-280">
            <a:extLst>
              <a:ext uri="{FF2B5EF4-FFF2-40B4-BE49-F238E27FC236}">
                <a16:creationId xmlns:a16="http://schemas.microsoft.com/office/drawing/2014/main" id="{77967B25-C7A7-4BF7-BDC0-046910677087}"/>
              </a:ext>
            </a:extLst>
          </p:cNvPr>
          <p:cNvSpPr>
            <a:spLocks noGrp="1"/>
          </p:cNvSpPr>
          <p:nvPr/>
        </p:nvSpPr>
        <p:spPr>
          <a:xfrm>
            <a:off x="8715375" y="1876425"/>
            <a:ext cx="2343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L3: Acc</a:t>
            </a:r>
          </a:p>
        </p:txBody>
      </p:sp>
      <p:sp>
        <p:nvSpPr>
          <p:cNvPr id="13" name="text-281">
            <a:extLst>
              <a:ext uri="{FF2B5EF4-FFF2-40B4-BE49-F238E27FC236}">
                <a16:creationId xmlns:a16="http://schemas.microsoft.com/office/drawing/2014/main" id="{22F545E5-A631-46FF-9E85-26F08B20371A}"/>
              </a:ext>
            </a:extLst>
          </p:cNvPr>
          <p:cNvSpPr>
            <a:spLocks noGrp="1"/>
          </p:cNvSpPr>
          <p:nvPr/>
        </p:nvSpPr>
        <p:spPr>
          <a:xfrm>
            <a:off x="8715375" y="2247900"/>
            <a:ext cx="2343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commit / done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244FB34-E8E2-4590-B79A-16A969D901A5}"/>
              </a:ext>
            </a:extLst>
          </p:cNvPr>
          <p:cNvGraphicFramePr/>
          <p:nvPr/>
        </p:nvGraphicFramePr>
        <p:xfrm>
          <a:off x="457200" y="3009900"/>
          <a:ext cx="11277600" cy="2682240"/>
        </p:xfrm>
        <a:graphic>
          <a:graphicData uri="http://schemas.openxmlformats.org/drawingml/2006/table">
            <a:tbl>
              <a:tblPr/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Khối / cạnh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Context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Chốt X,Y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Giữ 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Giữ 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Giữ 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Giữ 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SAC / R1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Nạp state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Token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Token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Dừng phát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Shift / R2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Term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Term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Accumulator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Y + term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+ term 2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done=1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-284">
            <a:extLst>
              <a:ext uri="{FF2B5EF4-FFF2-40B4-BE49-F238E27FC236}">
                <a16:creationId xmlns:a16="http://schemas.microsoft.com/office/drawing/2014/main" id="{A3453A04-FBCF-4A8D-9EFD-75EB8FE56849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core_done sau q + 2 cạnh từ launch, với q = max(1, số vòng thực tế)</a:t>
            </a:r>
          </a:p>
        </p:txBody>
      </p:sp>
      <p:sp>
        <p:nvSpPr>
          <p:cNvPr id="18" name="text-285">
            <a:extLst>
              <a:ext uri="{FF2B5EF4-FFF2-40B4-BE49-F238E27FC236}">
                <a16:creationId xmlns:a16="http://schemas.microsoft.com/office/drawing/2014/main" id="{93892C33-4824-498C-961E-087C53A9EC22}"/>
              </a:ext>
            </a:extLst>
          </p:cNvPr>
          <p:cNvSpPr>
            <a:spLocks noGrp="1"/>
          </p:cNvSpPr>
          <p:nvPr/>
        </p:nvSpPr>
        <p:spPr>
          <a:xfrm>
            <a:off x="457200" y="6191250"/>
            <a:ext cx="10496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n=0 vẫn đi qua token init_only. early-stop giảm số vòng. release_result nhả slot của core.</a:t>
            </a:r>
          </a:p>
        </p:txBody>
      </p:sp>
    </p:spTree>
    <p:extLst>
      <p:ext uri="{BB962C8B-B14F-4D97-AF65-F5344CB8AC3E}">
        <p14:creationId xmlns:p14="http://schemas.microsoft.com/office/powerpoint/2010/main" val="68731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wire-288">
            <a:extLst>
              <a:ext uri="{FF2B5EF4-FFF2-40B4-BE49-F238E27FC236}">
                <a16:creationId xmlns:a16="http://schemas.microsoft.com/office/drawing/2014/main" id="{7A9FE133-BE78-4707-BB2B-2E9A51FFF432}"/>
              </a:ext>
            </a:extLst>
          </p:cNvPr>
          <p:cNvCxnSpPr/>
          <p:nvPr/>
        </p:nvCxnSpPr>
        <p:spPr>
          <a:xfrm>
            <a:off x="457200" y="1476375"/>
            <a:ext cx="11277600" cy="0"/>
          </a:xfrm>
          <a:prstGeom prst="straightConnector1">
            <a:avLst/>
          </a:prstGeom>
          <a:ln w="9525">
            <a:solidFill>
              <a:srgbClr val="CCD6E2"/>
            </a:solidFill>
            <a:prstDash val="solid"/>
            <a:tailEnd type="none" w="sm" len="sm"/>
          </a:ln>
        </p:spPr>
      </p:cxnSp>
      <p:sp>
        <p:nvSpPr>
          <p:cNvPr id="10" name="text-286">
            <a:extLst>
              <a:ext uri="{FF2B5EF4-FFF2-40B4-BE49-F238E27FC236}">
                <a16:creationId xmlns:a16="http://schemas.microsoft.com/office/drawing/2014/main" id="{8874A553-F148-4F34-B757-62165FDBE441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Ví dụ 12 bit: hai vòng fraction</a:t>
            </a:r>
          </a:p>
        </p:txBody>
      </p:sp>
      <p:sp>
        <p:nvSpPr>
          <p:cNvPr id="2" name="text-287">
            <a:extLst>
              <a:ext uri="{FF2B5EF4-FFF2-40B4-BE49-F238E27FC236}">
                <a16:creationId xmlns:a16="http://schemas.microsoft.com/office/drawing/2014/main" id="{C6B1F91B-EA14-4E22-916A-2EC6712DB583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X = 1.010010000000₂        Y = 1.001000001000₂        n = 2</a:t>
            </a:r>
          </a:p>
        </p:txBody>
      </p:sp>
      <p:sp>
        <p:nvSpPr>
          <p:cNvPr id="4" name="text-289">
            <a:extLst>
              <a:ext uri="{FF2B5EF4-FFF2-40B4-BE49-F238E27FC236}">
                <a16:creationId xmlns:a16="http://schemas.microsoft.com/office/drawing/2014/main" id="{44548C47-77F9-4E27-9D27-9AF34CF5F3FB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7239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5" name="text-290">
            <a:extLst>
              <a:ext uri="{FF2B5EF4-FFF2-40B4-BE49-F238E27FC236}">
                <a16:creationId xmlns:a16="http://schemas.microsoft.com/office/drawing/2014/main" id="{73289D93-6EF3-4C8C-A442-C1D3D99F8059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47D9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7D92"/>
                </a:solidFill>
                <a:latin typeface="Arial"/>
                <a:ea typeface="Arial"/>
                <a:cs typeface="Arial"/>
              </a:rPr>
              <a:t>Popcount X = 2, popcount Y = 2. OPS hòa nên giữ A làm X.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F79DB7-3C4A-4114-B6EC-E6CBDF9F6578}"/>
              </a:ext>
            </a:extLst>
          </p:cNvPr>
          <p:cNvGraphicFramePr/>
          <p:nvPr/>
        </p:nvGraphicFramePr>
        <p:xfrm>
          <a:off x="457200" y="2438400"/>
          <a:ext cx="11277600" cy="233362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Bước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fx trước bước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term Q12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acc Q12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>
                      <a:solidFill>
                        <a:srgbClr val="CCD6E2"/>
                      </a:solidFill>
                      <a:prstDash val="soli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4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Y_base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010010000000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4616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Vòng 1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010010000000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1154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5770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Vòng 2</a:t>
                      </a:r>
                    </a:p>
                  </a:txBody>
                  <a:tcPr anchor="ctr">
                    <a:lnL w="9525">
                      <a:solidFill>
                        <a:srgbClr val="CCD6E2"/>
                      </a:solidFill>
                      <a:prstDash val="soli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001000000000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144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5672"/>
                          </a:solidFill>
                          <a:latin typeface="Arial"/>
                          <a:ea typeface="Arial"/>
                          <a:cs typeface="Arial"/>
                        </a:rPr>
                        <a:t>5914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D6E2"/>
                      </a:solidFill>
                      <a:prstDash val="solid"/>
                    </a:lnR>
                    <a:lnT w="9525" cap="flat" cmpd="sng" algn="ctr">
                      <a:solidFill>
                        <a:srgbClr val="CC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D6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-291">
            <a:extLst>
              <a:ext uri="{FF2B5EF4-FFF2-40B4-BE49-F238E27FC236}">
                <a16:creationId xmlns:a16="http://schemas.microsoft.com/office/drawing/2014/main" id="{5CBA9D7B-79B9-4295-B5BA-5C4DA5840663}"/>
              </a:ext>
            </a:extLst>
          </p:cNvPr>
          <p:cNvSpPr>
            <a:spLocks noGrp="1"/>
          </p:cNvSpPr>
          <p:nvPr/>
        </p:nvSpPr>
        <p:spPr>
          <a:xfrm>
            <a:off x="457200" y="501967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6943B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943B9"/>
                </a:solidFill>
                <a:latin typeface="Arial"/>
                <a:ea typeface="Arial"/>
                <a:cs typeface="Arial"/>
              </a:rPr>
              <a:t>Vòng 2: 4616 / 32 = 144,25. FLOOR giữ 144 và báo term_tail=1.</a:t>
            </a:r>
          </a:p>
        </p:txBody>
      </p:sp>
      <p:sp>
        <p:nvSpPr>
          <p:cNvPr id="8" name="text-292">
            <a:extLst>
              <a:ext uri="{FF2B5EF4-FFF2-40B4-BE49-F238E27FC236}">
                <a16:creationId xmlns:a16="http://schemas.microsoft.com/office/drawing/2014/main" id="{17F1AEB3-61A1-4C2C-AE5D-15C7E4564A91}"/>
              </a:ext>
            </a:extLst>
          </p:cNvPr>
          <p:cNvSpPr>
            <a:spLocks noGrp="1"/>
          </p:cNvSpPr>
          <p:nvPr/>
        </p:nvSpPr>
        <p:spPr>
          <a:xfrm>
            <a:off x="457200" y="55435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P_hat = 5914 / 4096 = 1,44384765625</a:t>
            </a:r>
          </a:p>
        </p:txBody>
      </p:sp>
      <p:sp>
        <p:nvSpPr>
          <p:cNvPr id="9" name="text-293">
            <a:extLst>
              <a:ext uri="{FF2B5EF4-FFF2-40B4-BE49-F238E27FC236}">
                <a16:creationId xmlns:a16="http://schemas.microsoft.com/office/drawing/2014/main" id="{E3B82DAB-CD15-4C43-BB53-F2DFC5B0CCB8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07251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fx_next = 0: kết thúc quét fraction. Normalize và RNE tích tiếp tục sau core_done.</a:t>
            </a:r>
          </a:p>
        </p:txBody>
      </p:sp>
    </p:spTree>
    <p:extLst>
      <p:ext uri="{BB962C8B-B14F-4D97-AF65-F5344CB8AC3E}">
        <p14:creationId xmlns:p14="http://schemas.microsoft.com/office/powerpoint/2010/main" val="1397497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</Words>
  <Application>Microsoft Office PowerPoint</Application>
  <DocSecurity>0</DocSecurity>
  <PresentationFormat>Widescreen</PresentationFormat>
  <Paragraphs>248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Việt Ngô Văn</cp:lastModifiedBy>
  <cp:revision>1</cp:revision>
  <dcterms:created xsi:type="dcterms:W3CDTF">2026-10-14T07:48:31Z</dcterms:created>
  <dcterms:modified xsi:type="dcterms:W3CDTF">2026-10-14T10:23:21Z</dcterms:modified>
</cp:coreProperties>
</file>