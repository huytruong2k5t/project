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a8d1eb449451c" /><Relationship Type="http://schemas.openxmlformats.org/officeDocument/2006/relationships/extended-properties" Target="/docProps/app.xml" Id="R0e8f7762b4e64604" /><Relationship Type="http://schemas.openxmlformats.org/officeDocument/2006/relationships/officeDocument" Target="/ppt/presentation.xml" Id="Rfc356ca4df7d43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265598f544a4f"/>
  </p:sldMasterIdLst>
  <p:notesMasterIdLst>
    <p:notesMasterId xmlns:r="http://schemas.openxmlformats.org/officeDocument/2006/relationships" r:id="R33329494d56e4aaf"/>
  </p:notesMasterIdLst>
  <p:sldIdLst>
    <p:sldId xmlns:r="http://schemas.openxmlformats.org/officeDocument/2006/relationships" id="256" r:id="Ra63fdd0da1dc415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6b273aa7b49ff" /><Relationship Type="http://schemas.openxmlformats.org/officeDocument/2006/relationships/slideMaster" Target="/ppt/slideMasters/slideMaster1.xml" Id="R0c0265598f544a4f" /><Relationship Type="http://schemas.openxmlformats.org/officeDocument/2006/relationships/notesMaster" Target="/ppt/notesMasters/notesMaster1.xml" Id="R33329494d56e4aaf" /><Relationship Type="http://schemas.openxmlformats.org/officeDocument/2006/relationships/presProps" Target="/ppt/presProps.xml" Id="R917fbf7cff4649bd" /><Relationship Type="http://schemas.openxmlformats.org/officeDocument/2006/relationships/tableStyles" Target="/ppt/tableStyles.xml" Id="R9f6b915f2b6c40de" /><Relationship Type="http://schemas.openxmlformats.org/officeDocument/2006/relationships/slide" Target="/ppt/slides/slide1.xml" Id="Ra63fdd0da1dc41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bdfd5d1f8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8d4e45b314768" /><Relationship Type="http://schemas.openxmlformats.org/officeDocument/2006/relationships/notesMaster" Target="/ppt/notesMasters/notesMaster1.xml" Id="R921088dee61d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RTL production tại ngày 28/10/2026 trong dự án Posit_MAC.</a:t>
            </a:r>
          </a:p>
          <a:p xmlns:a="http://schemas.openxmlformats.org/drawingml/2006/main">
            <a:r>
              <a:t>rtl/mac_nf/posit_mac_nf.sv; rtl/mac_nf/mac_nf_wrapper.sv;</a:t>
            </a:r>
          </a:p>
          <a:p xmlns:a="http://schemas.openxmlformats.org/drawingml/2006/main">
            <a:r>
              <a:t>rtl/mac_f/posit_mac_f.sv; rtl/mac_f/mac_f_wrapper.sv;</a:t>
            </a:r>
          </a:p>
          <a:p xmlns:a="http://schemas.openxmlformats.org/drawingml/2006/main">
            <a:r>
              <a:t>rtl/multiplier/ops_sel_comb.sv; SPEC_Posit_MAC_IP.md mục 4.1/4.2, 5.1, 5.12.</a:t>
            </a:r>
          </a:p>
          <a:p xmlns:a="http://schemas.openxmlformats.org/drawingml/2006/main">
            <a:r>
              <a:t>Hai hàng là hai top độc lập, không phải một top chia sẻ bộ nhân hay có tín hiệu chọn NF/F.</a:t>
            </a:r>
          </a:p>
          <a:p xmlns:a="http://schemas.openxmlformats.org/drawingml/2006/main">
            <a:r>
              <a:t>Các khối xanh có cùng vai trò chức năng nhưng không cam kết cùng width hoặc cùng instance.</a:t>
            </a:r>
          </a:p>
          <a:p xmlns:a="http://schemas.openxmlformats.org/drawingml/2006/main">
            <a:r>
              <a:t>Khối Parser A và B gom hai parser song song. Parser C_eff nhận toán hạng cộng đã chọn.</a:t>
            </a:r>
          </a:p>
          <a:p xmlns:a="http://schemas.openxmlformats.org/drawingml/2006/main">
            <a:r>
              <a:t>NF: chuẩn hóa bảo toàn tích, posit_product_pack RNE, posit_magnitude_parse, posit_add, posit_pack.</a:t>
            </a:r>
          </a:p>
          <a:p xmlns:a="http://schemas.openxmlformats.org/drawingml/2006/main">
            <a:r>
              <a:t>F: p_magnitude=acc[15:2] và core_sf đưa vào fused_add_pipe rồi posit_pack, không có product RNE.</a:t>
            </a:r>
          </a:p>
          <a:p xmlns:a="http://schemas.openxmlformats.org/drawingml/2006/main">
            <a:r>
              <a:t>Không vẽ thanh ghi, dây metadata hoặc mọi cổng handshake trong phác thảo tổng thể này.</a:t>
            </a:r>
          </a:p>
          <a:p xmlns:a="http://schemas.openxmlformats.org/drawingml/2006/main">
            <a:r>
              <a:t>cfg_mode=0 exact chỉ NF nhận; F chỉ nhận cfg_mode=1. Approx n=0..8, cfg_ops=0/1.</a:t>
            </a:r>
          </a:p>
          <a:p xmlns:a="http://schemas.openxmlformats.org/drawingml/2006/main">
            <a:r>
              <a:t>NF và F phản hồi d đã làm tròn, không phải quire tích lũy không làm tròn cả chuỗi.</a:t>
            </a:r>
          </a:p>
          <a:p xmlns:a="http://schemas.openxmlformats.org/drawingml/2006/main">
            <a:r>
              <a:t>Cắt FLOOR bên trong bộ nhân gần đúng vẫn gây mất thông tin trước RNE cuối.</a:t>
            </a:r>
          </a:p>
          <a:p xmlns:a="http://schemas.openxmlformats.org/drawingml/2006/main">
            <a:r>
              <a:t>Accumulator cập nhật một lần khi kết quả được ghi vào bộ đệm đầu ra, không lặp lại khi stalled.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99bab2dea44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cc70eca9d48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a373d93044a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848646aae45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3edddffdb47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8a7f52ceb4d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9F093F-C469-4C22-9BB8-53FA41AE7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09C613-EB24-4C11-B045-3BA3C85CDB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C89429-ABB6-477D-876B-DBD7CBEF3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F8588C-09A7-4D4C-9150-2BB9F86CCD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8008EE-A748-496A-8E52-D5D6D4268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6FAF9-1AEB-48E3-BCC4-C7EA32919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7E8E45-B972-4202-BCC6-4C7F4743A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5B6163-E477-4954-8945-8DB40337A4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BFE986-19C0-4F01-B5C9-C37F88277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517DD-9F9A-470B-9F45-BA463E6EFB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bc5a7090b456a" /><Relationship Type="http://schemas.openxmlformats.org/officeDocument/2006/relationships/slideLayout" Target="/ppt/slideLayouts/slideLayout1.xml" Id="R29810a5a269a46e2" /><Relationship Type="http://schemas.openxmlformats.org/officeDocument/2006/relationships/slideLayout" Target="/ppt/slideLayouts/slideLayout2.xml" Id="R7e79150b8b8f426b" /><Relationship Type="http://schemas.openxmlformats.org/officeDocument/2006/relationships/slideLayout" Target="/ppt/slideLayouts/slideLayout3.xml" Id="Ra4d4e6e3c1334328" /><Relationship Type="http://schemas.openxmlformats.org/officeDocument/2006/relationships/slideLayout" Target="/ppt/slideLayouts/slideLayout4.xml" Id="R4f2691f8e8e54acc" /><Relationship Type="http://schemas.openxmlformats.org/officeDocument/2006/relationships/slideLayout" Target="/ppt/slideLayouts/slideLayout5.xml" Id="Rd5e3cd2f634a491a" /><Relationship Type="http://schemas.openxmlformats.org/officeDocument/2006/relationships/slideLayout" Target="/ppt/slideLayouts/slideLayout6.xml" Id="R4fa8edf2a431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10a5a269a46e2"/>
    <p:sldLayoutId xmlns:r="http://schemas.openxmlformats.org/officeDocument/2006/relationships" id="2147483650" r:id="R7e79150b8b8f426b"/>
    <p:sldLayoutId xmlns:r="http://schemas.openxmlformats.org/officeDocument/2006/relationships" id="2147483651" r:id="Ra4d4e6e3c1334328"/>
    <p:sldLayoutId xmlns:r="http://schemas.openxmlformats.org/officeDocument/2006/relationships" id="2147483652" r:id="R4f2691f8e8e54acc"/>
    <p:sldLayoutId xmlns:r="http://schemas.openxmlformats.org/officeDocument/2006/relationships" id="2147483653" r:id="Rd5e3cd2f634a491a"/>
    <p:sldLayoutId xmlns:r="http://schemas.openxmlformats.org/officeDocument/2006/relationships" id="2147483654" r:id="R4fa8edf2a431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8d16f85154c93" /><Relationship Type="http://schemas.openxmlformats.org/officeDocument/2006/relationships/notesSlide" Target="/ppt/notesSlides/notesSlide1.xml" Id="R4956b8dc7777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113F8C-F01D-4771-BAE9-0DB5446711F8}"/>
              </a:ext>
            </a:extLst>
          </p:cNvPr>
          <p:cNvCxnSpPr>
            <a:stCxn xmlns:a="http://schemas.openxmlformats.org/drawingml/2006/main" id="47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9929813" y="61722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66ACA2-F853-456B-BAC7-7CEB0F6B55F8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553450" y="6781800"/>
            <a:ext cx="3048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D3963A-8904-472C-88E5-2C510163EDDC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3858875" y="5676900"/>
            <a:ext cx="3524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F075BB-EF20-4F17-A20A-75EF00A749BB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906250" y="5705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A6A7D8-E185-4A71-86C7-77656EE3E393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572375" y="5705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D7F96-8BC5-4B07-B34C-83AB0B14AFB4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381625" y="5705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8DFDAA-007F-4179-B924-76F68B54ED5B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000375" y="5705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A613EB-C273-48AB-9B2E-C1F4EF4AFE1E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276350" y="5676900"/>
            <a:ext cx="2476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DCE12-08BA-4538-A4B5-C14820B3C025}"/>
              </a:ext>
            </a:extLst>
          </p:cNvPr>
          <p:cNvCxnSpPr>
            <a:stCxn xmlns:a="http://schemas.openxmlformats.org/drawingml/2006/main" id="27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0834688" y="34099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ED034-5695-4F32-ACD5-CD6591920F8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382125" y="4038600"/>
            <a:ext cx="381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31390-3280-4296-A4F2-3CEDE292B15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3858875" y="2914650"/>
            <a:ext cx="3524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43EF8-E301-4CB2-BB97-6046BEA99BC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906250" y="2943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E9D27-6980-4854-9F9E-ADD56FA4304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382125" y="2943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23E17-95AF-46DC-9C99-F8E36764965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72375" y="2943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C2574-8219-49B4-9822-92444EACFBA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381625" y="2943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4F451-245C-4BEE-A6F8-4D3FC7F2696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00375" y="2943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13163-E593-4A21-84B0-0256F9B7840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76350" y="2914650"/>
            <a:ext cx="2476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3485D"/>
            </a:solidFill>
            <a:tailEnd type="triangle" w="med" len="med"/>
          </a:ln>
        </p:spPr>
      </p:cxnSp>
      <p:sp>
        <p:nvSpPr>
          <p:cNvPr id="54" name="title">
            <a:extLst xmlns:a="http://schemas.openxmlformats.org/drawingml/2006/main">
              <a:ext uri="{FF2B5EF4-FFF2-40B4-BE49-F238E27FC236}">
                <a16:creationId xmlns:a16="http://schemas.microsoft.com/office/drawing/2014/main" id="{03901607-729E-43DB-B1BB-E19BAD9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424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3.2. Kiến trúc tổng thể MAC Posit(32,3)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008E5E-2AEF-4B4A-B01D-412FC91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424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F72"/>
                </a:solidFill>
                <a:latin typeface="Arial"/>
                <a:ea typeface="Arial"/>
                <a:cs typeface="Arial"/>
              </a:rPr>
              <a:t>Hai phương án RTL riêng: posit_mac_nf và posit_mac_f</a:t>
            </a:r>
          </a:p>
        </p:txBody>
      </p:sp>
      <p:sp>
        <p:nvSpPr>
          <p:cNvPr id="3" name="legend-blue">
            <a:extLst xmlns:a="http://schemas.openxmlformats.org/drawingml/2006/main">
              <a:ext uri="{FF2B5EF4-FFF2-40B4-BE49-F238E27FC236}">
                <a16:creationId xmlns:a16="http://schemas.microsoft.com/office/drawing/2014/main" id="{3D090151-0176-4D5E-86ED-4A3734B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</p:sp>
      <p:sp>
        <p:nvSpPr>
          <p:cNvPr id="4" name="legend-text-blue">
            <a:extLst xmlns:a="http://schemas.openxmlformats.org/drawingml/2006/main">
              <a:ext uri="{FF2B5EF4-FFF2-40B4-BE49-F238E27FC236}">
                <a16:creationId xmlns:a16="http://schemas.microsoft.com/office/drawing/2014/main" id="{7270762B-25A9-4E46-9867-B3B3E772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Cùng chức năng trong hai top</a:t>
            </a:r>
          </a:p>
        </p:txBody>
      </p:sp>
      <p:sp>
        <p:nvSpPr>
          <p:cNvPr id="5" name="legend-amber">
            <a:extLst xmlns:a="http://schemas.openxmlformats.org/drawingml/2006/main">
              <a:ext uri="{FF2B5EF4-FFF2-40B4-BE49-F238E27FC236}">
                <a16:creationId xmlns:a16="http://schemas.microsoft.com/office/drawing/2014/main" id="{448D55E8-B83C-429D-9FAE-0859FDEB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A95A00"/>
            </a:solidFill>
          </a:ln>
        </p:spPr>
      </p:sp>
      <p:sp>
        <p:nvSpPr>
          <p:cNvPr id="6" name="legend-text-amber">
            <a:extLst xmlns:a="http://schemas.openxmlformats.org/drawingml/2006/main">
              <a:ext uri="{FF2B5EF4-FFF2-40B4-BE49-F238E27FC236}">
                <a16:creationId xmlns:a16="http://schemas.microsoft.com/office/drawing/2014/main" id="{BE872AC8-EBEA-4385-92A9-4B8772E6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573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Xử lý riêng của NF</a:t>
            </a:r>
          </a:p>
        </p:txBody>
      </p:sp>
      <p:sp>
        <p:nvSpPr>
          <p:cNvPr id="7" name="legend-violet">
            <a:extLst xmlns:a="http://schemas.openxmlformats.org/drawingml/2006/main">
              <a:ext uri="{FF2B5EF4-FFF2-40B4-BE49-F238E27FC236}">
                <a16:creationId xmlns:a16="http://schemas.microsoft.com/office/drawing/2014/main" id="{3980F4B6-1B57-4849-873C-08F5FE5B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19050">
            <a:solidFill>
              <a:srgbClr val="7251AC"/>
            </a:solidFill>
          </a:ln>
        </p:spPr>
      </p:sp>
      <p:sp>
        <p:nvSpPr>
          <p:cNvPr id="8" name="legend-text-violet">
            <a:extLst xmlns:a="http://schemas.openxmlformats.org/drawingml/2006/main">
              <a:ext uri="{FF2B5EF4-FFF2-40B4-BE49-F238E27FC236}">
                <a16:creationId xmlns:a16="http://schemas.microsoft.com/office/drawing/2014/main" id="{0FF72599-EA9A-4240-A2C5-2E7AA54B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573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Xử lý riêng của F</a:t>
            </a:r>
          </a:p>
        </p:txBody>
      </p:sp>
      <p:sp>
        <p:nvSpPr>
          <p:cNvPr id="9" name="nf-label">
            <a:extLst xmlns:a="http://schemas.openxmlformats.org/drawingml/2006/main">
              <a:ext uri="{FF2B5EF4-FFF2-40B4-BE49-F238E27FC236}">
                <a16:creationId xmlns:a16="http://schemas.microsoft.com/office/drawing/2014/main" id="{F3404B51-85BA-4442-9F52-C77B593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95A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95A00"/>
                </a:solidFill>
                <a:latin typeface="Arial"/>
                <a:ea typeface="Arial"/>
                <a:cs typeface="Arial"/>
              </a:rPr>
              <a:t>NON-FUSED (NF)</a:t>
            </a:r>
          </a:p>
        </p:txBody>
      </p:sp>
      <p:sp>
        <p:nvSpPr>
          <p:cNvPr id="10" name="nf-rule">
            <a:extLst xmlns:a="http://schemas.openxmlformats.org/drawingml/2006/main">
              <a:ext uri="{FF2B5EF4-FFF2-40B4-BE49-F238E27FC236}">
                <a16:creationId xmlns:a16="http://schemas.microsoft.com/office/drawing/2014/main" id="{AE7AEB68-876C-4649-8DC9-23578D1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71675"/>
            <a:ext cx="931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95A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5A00"/>
                </a:solidFill>
                <a:latin typeface="Arial"/>
                <a:ea typeface="Arial"/>
                <a:cs typeface="Arial"/>
              </a:rPr>
              <a:t>Làm tròn tích trước cộng, làm tròn tổng ở đầu ra</a:t>
            </a:r>
          </a:p>
        </p:txBody>
      </p:sp>
      <p:sp>
        <p:nvSpPr>
          <p:cNvPr id="11" name="nf-input-ab">
            <a:extLst xmlns:a="http://schemas.openxmlformats.org/drawingml/2006/main">
              <a:ext uri="{FF2B5EF4-FFF2-40B4-BE49-F238E27FC236}">
                <a16:creationId xmlns:a16="http://schemas.microsoft.com/office/drawing/2014/main" id="{8E600F61-A5C9-4707-B1D1-0B6FA2F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43175"/>
            <a:ext cx="78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A, B</a:t>
            </a:r>
          </a:p>
          <a:p xmlns:a="http://schemas.openxmlformats.org/drawingml/2006/main">
            <a: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12" name="nf-parser-ab">
            <a:extLst xmlns:a="http://schemas.openxmlformats.org/drawingml/2006/main">
              <a:ext uri="{FF2B5EF4-FFF2-40B4-BE49-F238E27FC236}">
                <a16:creationId xmlns:a16="http://schemas.microsoft.com/office/drawing/2014/main" id="{6A4C2353-1FF5-41FF-B70F-25D65D0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147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Parser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A và B</a:t>
            </a:r>
          </a:p>
        </p:txBody>
      </p:sp>
      <p:sp>
        <p:nvSpPr>
          <p:cNvPr id="13" name="nf-multiplier">
            <a:extLst xmlns:a="http://schemas.openxmlformats.org/drawingml/2006/main">
              <a:ext uri="{FF2B5EF4-FFF2-40B4-BE49-F238E27FC236}">
                <a16:creationId xmlns:a16="http://schemas.microsoft.com/office/drawing/2014/main" id="{7004DEDC-417C-44B9-88C4-53C5827C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OPS + bộ nhân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lặp SAC/SBM</a:t>
            </a:r>
          </a:p>
        </p:txBody>
      </p:sp>
      <p:sp>
        <p:nvSpPr>
          <p:cNvPr id="14" name="nf-product-pack">
            <a:extLst xmlns:a="http://schemas.openxmlformats.org/drawingml/2006/main">
              <a:ext uri="{FF2B5EF4-FFF2-40B4-BE49-F238E27FC236}">
                <a16:creationId xmlns:a16="http://schemas.microsoft.com/office/drawing/2014/main" id="{ABB66D0B-7F4E-4606-BF18-ED1B43E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765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A95A0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Chuẩn hóa</a:t>
            </a:r>
          </a:p>
          <a:p xmlns:a="http://schemas.openxmlformats.org/drawingml/2006/main">
            <a: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Pack tích (RNE)</a:t>
            </a:r>
          </a:p>
        </p:txBody>
      </p:sp>
      <p:sp>
        <p:nvSpPr>
          <p:cNvPr id="15" name="nf-product-decode">
            <a:extLst xmlns:a="http://schemas.openxmlformats.org/drawingml/2006/main">
              <a:ext uri="{FF2B5EF4-FFF2-40B4-BE49-F238E27FC236}">
                <a16:creationId xmlns:a16="http://schemas.microsoft.com/office/drawing/2014/main" id="{0B56D497-7FE8-4FDA-A2E8-1E455FEC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142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A95A0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Giải mã</a:t>
            </a:r>
          </a:p>
          <a:p xmlns:a="http://schemas.openxmlformats.org/drawingml/2006/main">
            <a:pPr algn="ctr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tích đã RNE</a:t>
            </a:r>
          </a:p>
        </p:txBody>
      </p:sp>
      <p:sp>
        <p:nvSpPr>
          <p:cNvPr id="16" name="nf-adder">
            <a:extLst xmlns:a="http://schemas.openxmlformats.org/drawingml/2006/main">
              <a:ext uri="{FF2B5EF4-FFF2-40B4-BE49-F238E27FC236}">
                <a16:creationId xmlns:a16="http://schemas.microsoft.com/office/drawing/2014/main" id="{73DCD8EE-D136-46B7-954A-B046AA9F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2143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A95A0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Cộng / trừ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17" name="nf-final-pack">
            <a:extLst xmlns:a="http://schemas.openxmlformats.org/drawingml/2006/main">
              <a:ext uri="{FF2B5EF4-FFF2-40B4-BE49-F238E27FC236}">
                <a16:creationId xmlns:a16="http://schemas.microsoft.com/office/drawing/2014/main" id="{F417174F-9A68-4788-BF3B-8B00D95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0"/>
            <a:ext cx="1571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Packer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RNE cuối</a:t>
            </a:r>
          </a:p>
        </p:txBody>
      </p:sp>
      <p:sp>
        <p:nvSpPr>
          <p:cNvPr id="18" name="nf-output">
            <a:extLst xmlns:a="http://schemas.openxmlformats.org/drawingml/2006/main">
              <a:ext uri="{FF2B5EF4-FFF2-40B4-BE49-F238E27FC236}">
                <a16:creationId xmlns:a16="http://schemas.microsoft.com/office/drawing/2014/main" id="{0671B257-69CE-4725-9059-26DB3550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2543175"/>
            <a:ext cx="97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D_NF</a:t>
            </a:r>
          </a:p>
          <a:p xmlns:a="http://schemas.openxmlformats.org/drawingml/2006/main">
            <a: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26" name="nf-c-effective">
            <a:extLst xmlns:a="http://schemas.openxmlformats.org/drawingml/2006/main">
              <a:ext uri="{FF2B5EF4-FFF2-40B4-BE49-F238E27FC236}">
                <a16:creationId xmlns:a16="http://schemas.microsoft.com/office/drawing/2014/main" id="{14E44E3E-6E13-4344-8AEA-F2BA93C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C_eff</a:t>
            </a:r>
          </a:p>
          <a:p xmlns:a="http://schemas.openxmlformats.org/drawingml/2006/main">
            <a: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27" name="nf-parser-c">
            <a:extLst xmlns:a="http://schemas.openxmlformats.org/drawingml/2006/main">
              <a:ext uri="{FF2B5EF4-FFF2-40B4-BE49-F238E27FC236}">
                <a16:creationId xmlns:a16="http://schemas.microsoft.com/office/drawing/2014/main" id="{13A8F557-FA7F-4677-971B-E6C26C05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33800"/>
            <a:ext cx="2143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Parser C_eff</a:t>
            </a:r>
          </a:p>
        </p:txBody>
      </p:sp>
      <p:sp>
        <p:nvSpPr>
          <p:cNvPr id="30" name="nf-flags">
            <a:extLst xmlns:a="http://schemas.openxmlformats.org/drawingml/2006/main">
              <a:ext uri="{FF2B5EF4-FFF2-40B4-BE49-F238E27FC236}">
                <a16:creationId xmlns:a16="http://schemas.microsoft.com/office/drawing/2014/main" id="{09525584-B399-4679-B703-41188F7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3813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F72"/>
                </a:solidFill>
                <a:latin typeface="Arial"/>
                <a:ea typeface="Arial"/>
                <a:cs typeface="Arial"/>
              </a:rPr>
              <a:t>flags[4:0]</a:t>
            </a:r>
          </a:p>
        </p:txBody>
      </p:sp>
      <p:sp>
        <p:nvSpPr>
          <p:cNvPr id="31" name="f-label">
            <a:extLst xmlns:a="http://schemas.openxmlformats.org/drawingml/2006/main">
              <a:ext uri="{FF2B5EF4-FFF2-40B4-BE49-F238E27FC236}">
                <a16:creationId xmlns:a16="http://schemas.microsoft.com/office/drawing/2014/main" id="{57BDAB4A-394E-4CA1-89F6-A1864BE5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251A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251AC"/>
                </a:solidFill>
                <a:latin typeface="Arial"/>
                <a:ea typeface="Arial"/>
                <a:cs typeface="Arial"/>
              </a:rPr>
              <a:t>FUSED (F)</a:t>
            </a:r>
          </a:p>
        </p:txBody>
      </p:sp>
      <p:sp>
        <p:nvSpPr>
          <p:cNvPr id="32" name="f-rule">
            <a:extLst xmlns:a="http://schemas.openxmlformats.org/drawingml/2006/main">
              <a:ext uri="{FF2B5EF4-FFF2-40B4-BE49-F238E27FC236}">
                <a16:creationId xmlns:a16="http://schemas.microsoft.com/office/drawing/2014/main" id="{AC73172D-1C34-4B2A-984E-D87C7030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33925"/>
            <a:ext cx="931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251A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251AC"/>
                </a:solidFill>
                <a:latin typeface="Arial"/>
                <a:ea typeface="Arial"/>
                <a:cs typeface="Arial"/>
              </a:rPr>
              <a:t>Tích trước pack đi thẳng vào cộng, RNE tại đầu ra</a:t>
            </a:r>
          </a:p>
        </p:txBody>
      </p:sp>
      <p:sp>
        <p:nvSpPr>
          <p:cNvPr id="33" name="f-input-ab">
            <a:extLst xmlns:a="http://schemas.openxmlformats.org/drawingml/2006/main">
              <a:ext uri="{FF2B5EF4-FFF2-40B4-BE49-F238E27FC236}">
                <a16:creationId xmlns:a16="http://schemas.microsoft.com/office/drawing/2014/main" id="{75B70FF6-4EF0-4F24-9A1F-9E7D7B6C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78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A, B</a:t>
            </a:r>
          </a:p>
          <a:p xmlns:a="http://schemas.openxmlformats.org/drawingml/2006/main">
            <a:pPr algn="l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34" name="f-parser-ab">
            <a:extLst xmlns:a="http://schemas.openxmlformats.org/drawingml/2006/main">
              <a:ext uri="{FF2B5EF4-FFF2-40B4-BE49-F238E27FC236}">
                <a16:creationId xmlns:a16="http://schemas.microsoft.com/office/drawing/2014/main" id="{CA43192F-ABE2-4A00-B199-45C05E8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147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Parser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A và B</a:t>
            </a:r>
          </a:p>
        </p:txBody>
      </p:sp>
      <p:sp>
        <p:nvSpPr>
          <p:cNvPr id="35" name="f-multiplier">
            <a:extLst xmlns:a="http://schemas.openxmlformats.org/drawingml/2006/main">
              <a:ext uri="{FF2B5EF4-FFF2-40B4-BE49-F238E27FC236}">
                <a16:creationId xmlns:a16="http://schemas.microsoft.com/office/drawing/2014/main" id="{89A1764E-6B76-45A6-AB5F-CCF7DBE0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387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OPS + bộ nhân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lặp SAC/SBM</a:t>
            </a:r>
          </a:p>
        </p:txBody>
      </p:sp>
      <p:sp>
        <p:nvSpPr>
          <p:cNvPr id="36" name="f-prepack">
            <a:extLst xmlns:a="http://schemas.openxmlformats.org/drawingml/2006/main">
              <a:ext uri="{FF2B5EF4-FFF2-40B4-BE49-F238E27FC236}">
                <a16:creationId xmlns:a16="http://schemas.microsoft.com/office/drawing/2014/main" id="{B490668C-26BC-447D-9016-009027B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19050">
            <a:solidFill>
              <a:srgbClr val="7251AC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Tích trước pack</a:t>
            </a:r>
          </a:p>
          <a:p xmlns:a="http://schemas.openxmlformats.org/drawingml/2006/main">
            <a:pPr algn="ctr">
              <a:defRPr sz="16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Độ lớn và scale</a:t>
            </a:r>
          </a:p>
        </p:txBody>
      </p:sp>
      <p:sp>
        <p:nvSpPr>
          <p:cNvPr id="37" name="f-add-normalize">
            <a:extLst xmlns:a="http://schemas.openxmlformats.org/drawingml/2006/main">
              <a:ext uri="{FF2B5EF4-FFF2-40B4-BE49-F238E27FC236}">
                <a16:creationId xmlns:a16="http://schemas.microsoft.com/office/drawing/2014/main" id="{8B76E9C3-D36B-4F05-8B6E-FB380BEB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38750"/>
            <a:ext cx="3952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19050">
            <a:solidFill>
              <a:srgbClr val="7251AC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Căn chỉnh tích với C_eff</a:t>
            </a:r>
          </a:p>
          <a:p xmlns:a="http://schemas.openxmlformats.org/drawingml/2006/main">
            <a:pPr algn="ctr">
              <a:defRPr sz="18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Cộng / trừ và chuẩn hóa</a:t>
            </a:r>
          </a:p>
        </p:txBody>
      </p:sp>
      <p:sp>
        <p:nvSpPr>
          <p:cNvPr id="38" name="f-final-pack">
            <a:extLst xmlns:a="http://schemas.openxmlformats.org/drawingml/2006/main">
              <a:ext uri="{FF2B5EF4-FFF2-40B4-BE49-F238E27FC236}">
                <a16:creationId xmlns:a16="http://schemas.microsoft.com/office/drawing/2014/main" id="{AAC522C1-D0D1-495D-9322-E39BD4B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38750"/>
            <a:ext cx="1571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Packer</a:t>
            </a:r>
          </a:p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RNE cuối</a:t>
            </a:r>
          </a:p>
        </p:txBody>
      </p:sp>
      <p:sp>
        <p:nvSpPr>
          <p:cNvPr id="39" name="f-output">
            <a:extLst xmlns:a="http://schemas.openxmlformats.org/drawingml/2006/main">
              <a:ext uri="{FF2B5EF4-FFF2-40B4-BE49-F238E27FC236}">
                <a16:creationId xmlns:a16="http://schemas.microsoft.com/office/drawing/2014/main" id="{61E2E5AC-D85C-4C6E-9BD0-DFA93A21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305425"/>
            <a:ext cx="97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D_F</a:t>
            </a:r>
          </a:p>
          <a:p xmlns:a="http://schemas.openxmlformats.org/drawingml/2006/main">
            <a:pPr algn="l">
              <a:defRPr sz="17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46" name="f-c-effective">
            <a:extLst xmlns:a="http://schemas.openxmlformats.org/drawingml/2006/main">
              <a:ext uri="{FF2B5EF4-FFF2-40B4-BE49-F238E27FC236}">
                <a16:creationId xmlns:a16="http://schemas.microsoft.com/office/drawing/2014/main" id="{FB678624-F5CD-4447-8057-9DF8E9B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4770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C_eff</a:t>
            </a:r>
          </a:p>
          <a:p xmlns:a="http://schemas.openxmlformats.org/drawingml/2006/main">
            <a:pPr algn="l">
              <a:defRPr sz="17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32 bit</a:t>
            </a:r>
          </a:p>
        </p:txBody>
      </p:sp>
      <p:sp>
        <p:nvSpPr>
          <p:cNvPr id="47" name="f-parser-c">
            <a:extLst xmlns:a="http://schemas.openxmlformats.org/drawingml/2006/main">
              <a:ext uri="{FF2B5EF4-FFF2-40B4-BE49-F238E27FC236}">
                <a16:creationId xmlns:a16="http://schemas.microsoft.com/office/drawing/2014/main" id="{1B53C4C0-6753-4F7E-B687-16E0B463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143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9050">
            <a:solidFill>
              <a:srgbClr val="1565B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Parser C_eff</a:t>
            </a:r>
          </a:p>
        </p:txBody>
      </p:sp>
      <p:sp>
        <p:nvSpPr>
          <p:cNvPr id="50" name="f-flags">
            <a:extLst xmlns:a="http://schemas.openxmlformats.org/drawingml/2006/main">
              <a:ext uri="{FF2B5EF4-FFF2-40B4-BE49-F238E27FC236}">
                <a16:creationId xmlns:a16="http://schemas.microsoft.com/office/drawing/2014/main" id="{16CCFE7C-D88D-40CF-BEDC-0F5042D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614362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F72"/>
                </a:solidFill>
                <a:latin typeface="Arial"/>
                <a:ea typeface="Arial"/>
                <a:cs typeface="Arial"/>
              </a:rPr>
              <a:t>flags[4:0]</a:t>
            </a:r>
          </a:p>
        </p:txBody>
      </p:sp>
      <p:sp>
        <p:nvSpPr>
          <p:cNvPr id="51" name="c-effective-rule">
            <a:extLst xmlns:a="http://schemas.openxmlformats.org/drawingml/2006/main">
              <a:ext uri="{FF2B5EF4-FFF2-40B4-BE49-F238E27FC236}">
                <a16:creationId xmlns:a16="http://schemas.microsoft.com/office/drawing/2014/main" id="{E6AF2C8B-E4F7-4160-843E-58869144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334250"/>
            <a:ext cx="1424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C_eff = C khi tính độc lập; C_eff = S_k khi tích lũy; C_eff = 0 khi acc_clr = 1 hợp lệ</a:t>
            </a:r>
          </a:p>
        </p:txBody>
      </p:sp>
      <p:sp>
        <p:nvSpPr>
          <p:cNvPr id="52" name="interface">
            <a:extLst xmlns:a="http://schemas.openxmlformats.org/drawingml/2006/main">
              <a:ext uri="{FF2B5EF4-FFF2-40B4-BE49-F238E27FC236}">
                <a16:creationId xmlns:a16="http://schemas.microsoft.com/office/drawing/2014/main" id="{122B7484-9788-431C-A95D-2C98A98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53350"/>
            <a:ext cx="1424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F72"/>
                </a:solidFill>
                <a:latin typeface="Arial"/>
                <a:ea typeface="Arial"/>
                <a:cs typeface="Arial"/>
              </a:rPr>
              <a:t>Điều khiển: clk, rst_n, valid/ready, acc_mode, acc_clr, cfg_mode, cfg_n, cfg_ops</a:t>
            </a:r>
          </a:p>
        </p:txBody>
      </p:sp>
      <p:sp>
        <p:nvSpPr>
          <p:cNvPr id="53" name="scope-note">
            <a:extLst xmlns:a="http://schemas.openxmlformats.org/drawingml/2006/main">
              <a:ext uri="{FF2B5EF4-FFF2-40B4-BE49-F238E27FC236}">
                <a16:creationId xmlns:a16="http://schemas.microsoft.com/office/drawing/2014/main" id="{6B92EC32-9773-457A-AAA1-FE1868D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72450"/>
            <a:ext cx="1424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B5F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F72"/>
                </a:solidFill>
                <a:latin typeface="Arial"/>
                <a:ea typeface="Arial"/>
                <a:cs typeface="Arial"/>
              </a:rPr>
              <a:t>S_k là kết quả Posit đã làm tròn của giao dịch tích lũy trước. Màu xanh không hàm ý chia sẻ phần cứng vật lý.</a:t>
            </a:r>
          </a:p>
        </p:txBody>
      </p:sp>
    </p:spTree>
    <p:extLst>
      <p:ext uri="{BB962C8B-B14F-4D97-AF65-F5344CB8AC3E}">
        <p14:creationId xmlns:p14="http://schemas.microsoft.com/office/powerpoint/2010/main" val="871321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2026-10-28T07:12:45.2030000Z</dcterms:created>
  <dcterms:modified xsi:type="dcterms:W3CDTF">2026-10-28T07:12:45.2030000Z</dcterms:modified>
</coreProperties>
</file>